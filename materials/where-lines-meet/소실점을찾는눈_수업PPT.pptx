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0c80df2-3378-09b2-0554-529b73fd3e54}">
          <p14:sldIdLst>
            <p14:sldId id="256"/>
            <p14:sldId id="257"/>
            <p14:sldId id="258"/>
          </p14:sldIdLst>
        </p14:section>
        <p14:section name="낱말 알기" id="{dbf0f1df-9f02-7648-2b27-3ec4fbeaa3e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함께 해 보기" id="{4e13a813-bae0-60e4-1af6-e24bf3cdbb17}">
          <p14:sldIdLst>
            <p14:sldId id="267"/>
            <p14:sldId id="268"/>
            <p14:sldId id="269"/>
            <p14:sldId id="270"/>
          </p14:sldIdLst>
        </p14:section>
        <p14:section name="명화와 게임" id="{6336b678-c13f-55e7-f2b5-300cd17c50a9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게임에 들어가기 전에 원근법의 기본 낱말을 익히고, 활동지 빈칸을 함께 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게임 이야기로 동기를 열어 줍니다. 질문: 소실점이 없어지면 왜 세상이 납작해질까?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소실점은 멀어지는 선들이 모이는 점입니다. 이 점이 있어야 그림 속에서 멀고 가까움이 생깁니다.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답을 말하기 전에 손가락으로 가장 먼 나무를 가리켜 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게임 1단계(깊이)와 같은 장면입니다. 가장 멀리 있는 나무를 손으로 가리켜 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손을 가로로 펴서 지평선 높이를 맞춰 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바다에서는 수평선, 땅에서는 지평선. 학생이 일어섰다 앉았다 하며 눈높이가 바뀌는 것을 느끼게 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손가락으로 길 양쪽 선을 따라가 만나는 곳을 찾게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빨간 선이 지평선, 노란 점이 소실점입니다. 소실점이 지평선 위에 딱 맞닿아 있음을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작품 모두 게임 1부에 종이 모형으로 다시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알레비 거리는 6층에서 내려다본 장면이라 지평선이 그림 맨 위에 있어요. 세로선(창틀, 건물 모서리)이 아래로 좁아지는 것을 보여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학생들이 먼저 활동지에 해 보게 한 뒤 다음 장으로 넘겨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꼭짓점에서 소실점으로 선을 긋고, 같은 길이에서 끊어 뒷면을 그립니다. 깊이는 학생마다 달라도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게임에서는 이 그림의 천장 들보를 늘려 소실점을 직접 찾게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배운 깊이, 지평선, 소실점, 1·2·3점 투시를 게임에서 직접 찾아 소실점을 되찾습니다.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74320"/>
            <a:ext cx="8686800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331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s_v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887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914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51B"/>
                </a:solidFill>
              </a:rPr>
              <a:t>소실점을 찾는 눈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49808" y="28346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3A6"/>
                </a:solidFill>
              </a:rPr>
              <a:t>Where Lines Meet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6177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6177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2.png"/><Relationship Id="rId5" Type="http://schemas.openxmlformats.org/officeDocument/2006/relationships/image" Target="../media/image-1-2.png"/><Relationship Id="rId6" Type="http://schemas.openxmlformats.org/officeDocument/2006/relationships/image" Target="../media/image-1-2.png"/><Relationship Id="rId7" Type="http://schemas.openxmlformats.org/officeDocument/2006/relationships/image" Target="../media/image-1-2.png"/><Relationship Id="rId8" Type="http://schemas.openxmlformats.org/officeDocument/2006/relationships/image" Target="../media/image-1-2.png"/><Relationship Id="rId9" Type="http://schemas.openxmlformats.org/officeDocument/2006/relationships/image" Target="../media/image-1-2.png"/><Relationship Id="rId10" Type="http://schemas.openxmlformats.org/officeDocument/2006/relationships/image" Target="../media/image-1-2.png"/><Relationship Id="rId11" Type="http://schemas.openxmlformats.org/officeDocument/2006/relationships/image" Target="../media/image-1-2.png"/><Relationship Id="rId12" Type="http://schemas.openxmlformats.org/officeDocument/2006/relationships/image" Target="../media/image-1-2.png"/><Relationship Id="rId13" Type="http://schemas.openxmlformats.org/officeDocument/2006/relationships/image" Target="../media/image-1-2.png"/><Relationship Id="rId14" Type="http://schemas.openxmlformats.org/officeDocument/2006/relationships/image" Target="../media/image-1-2.png"/><Relationship Id="rId15" Type="http://schemas.openxmlformats.org/officeDocument/2006/relationships/image" Target="../media/image-1-2.png"/><Relationship Id="rId16" Type="http://schemas.openxmlformats.org/officeDocument/2006/relationships/image" Target="../media/image-1-2.png"/><Relationship Id="rId17" Type="http://schemas.openxmlformats.org/officeDocument/2006/relationships/image" Target="../media/image-1-17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036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424">
              <a:alpha val="40000"/>
            </a:srgbClr>
          </a:solidFill>
          <a:ln w="12700">
            <a:solidFill>
              <a:srgbClr val="0E1424"/>
            </a:solidFill>
            <a:prstDash val="solid"/>
          </a:ln>
        </p:spPr>
      </p:sp>
      <p:pic>
        <p:nvPicPr>
          <p:cNvPr id="4" name="Image 1" descr="star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310896" y="128016"/>
            <a:ext cx="384048" cy="384048"/>
          </a:xfrm>
          <a:prstGeom prst="rect">
            <a:avLst/>
          </a:prstGeom>
        </p:spPr>
      </p:pic>
      <p:pic>
        <p:nvPicPr>
          <p:cNvPr id="5" name="Image 2" descr="star.png">    </p:cNvPr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069848" y="841248"/>
            <a:ext cx="237744" cy="237744"/>
          </a:xfrm>
          <a:prstGeom prst="rect">
            <a:avLst/>
          </a:prstGeom>
        </p:spPr>
      </p:pic>
      <p:pic>
        <p:nvPicPr>
          <p:cNvPr id="6" name="Image 3" descr="star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82880" y="1463040"/>
            <a:ext cx="274320" cy="274320"/>
          </a:xfrm>
          <a:prstGeom prst="rect">
            <a:avLst/>
          </a:prstGeom>
        </p:spPr>
      </p:pic>
      <p:pic>
        <p:nvPicPr>
          <p:cNvPr id="7" name="Image 4" descr="star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911096" y="128016"/>
            <a:ext cx="201168" cy="201168"/>
          </a:xfrm>
          <a:prstGeom prst="rect">
            <a:avLst/>
          </a:prstGeom>
        </p:spPr>
      </p:pic>
      <p:pic>
        <p:nvPicPr>
          <p:cNvPr id="8" name="Image 5" descr="star.png">    </p:cNvPr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1645920" y="1965960"/>
            <a:ext cx="182880" cy="182880"/>
          </a:xfrm>
          <a:prstGeom prst="rect">
            <a:avLst/>
          </a:prstGeom>
        </p:spPr>
      </p:pic>
      <p:pic>
        <p:nvPicPr>
          <p:cNvPr id="9" name="Image 6" descr="star.png">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7932420" y="160020"/>
            <a:ext cx="411480" cy="411480"/>
          </a:xfrm>
          <a:prstGeom prst="rect">
            <a:avLst/>
          </a:prstGeom>
        </p:spPr>
      </p:pic>
      <p:pic>
        <p:nvPicPr>
          <p:cNvPr id="10" name="Image 7" descr="star.png">    </p:cNvPr>
          <p:cNvPicPr>
            <a:picLocks noChangeAspect="1"/>
          </p:cNvPicPr>
          <p:nvPr/>
        </p:nvPicPr>
        <p:blipFill>
          <a:blip r:embed="rId8">
            <a:alphaModFix amt="55000"/>
          </a:blip>
          <a:stretch>
            <a:fillRect/>
          </a:stretch>
        </p:blipFill>
        <p:spPr>
          <a:xfrm>
            <a:off x="7388352" y="941832"/>
            <a:ext cx="219456" cy="219456"/>
          </a:xfrm>
          <a:prstGeom prst="rect">
            <a:avLst/>
          </a:prstGeom>
        </p:spPr>
      </p:pic>
      <p:pic>
        <p:nvPicPr>
          <p:cNvPr id="11" name="Image 8" descr="star.png">    </p:cNvPr>
          <p:cNvPicPr>
            <a:picLocks noChangeAspect="1"/>
          </p:cNvPicPr>
          <p:nvPr/>
        </p:nvPicPr>
        <p:blipFill>
          <a:blip r:embed="rId9">
            <a:alphaModFix amt="60000"/>
          </a:blip>
          <a:stretch>
            <a:fillRect/>
          </a:stretch>
        </p:blipFill>
        <p:spPr>
          <a:xfrm>
            <a:off x="8503920" y="1325880"/>
            <a:ext cx="274320" cy="274320"/>
          </a:xfrm>
          <a:prstGeom prst="rect">
            <a:avLst/>
          </a:prstGeom>
        </p:spPr>
      </p:pic>
      <p:pic>
        <p:nvPicPr>
          <p:cNvPr id="12" name="Image 9" descr="star.png">    </p:cNvPr>
          <p:cNvPicPr>
            <a:picLocks noChangeAspect="1"/>
          </p:cNvPicPr>
          <p:nvPr/>
        </p:nvPicPr>
        <p:blipFill>
          <a:blip r:embed="rId10">
            <a:alphaModFix amt="45000"/>
          </a:blip>
          <a:stretch>
            <a:fillRect/>
          </a:stretch>
        </p:blipFill>
        <p:spPr>
          <a:xfrm>
            <a:off x="6858000" y="73152"/>
            <a:ext cx="182880" cy="182880"/>
          </a:xfrm>
          <a:prstGeom prst="rect">
            <a:avLst/>
          </a:prstGeom>
        </p:spPr>
      </p:pic>
      <p:pic>
        <p:nvPicPr>
          <p:cNvPr id="13" name="Image 10" descr="star.png">    </p:cNvPr>
          <p:cNvPicPr>
            <a:picLocks noChangeAspect="1"/>
          </p:cNvPicPr>
          <p:nvPr/>
        </p:nvPicPr>
        <p:blipFill>
          <a:blip r:embed="rId11">
            <a:alphaModFix amt="50000"/>
          </a:blip>
          <a:stretch>
            <a:fillRect/>
          </a:stretch>
        </p:blipFill>
        <p:spPr>
          <a:xfrm>
            <a:off x="7900416" y="2002536"/>
            <a:ext cx="201168" cy="201168"/>
          </a:xfrm>
          <a:prstGeom prst="rect">
            <a:avLst/>
          </a:prstGeom>
        </p:spPr>
      </p:pic>
      <p:pic>
        <p:nvPicPr>
          <p:cNvPr id="14" name="Image 11" descr="star.png">    </p:cNvPr>
          <p:cNvPicPr>
            <a:picLocks noChangeAspect="1"/>
          </p:cNvPicPr>
          <p:nvPr/>
        </p:nvPicPr>
        <p:blipFill>
          <a:blip r:embed="rId12">
            <a:alphaModFix amt="45000"/>
          </a:blip>
          <a:stretch>
            <a:fillRect/>
          </a:stretch>
        </p:blipFill>
        <p:spPr>
          <a:xfrm>
            <a:off x="4123944" y="-9144"/>
            <a:ext cx="164592" cy="164592"/>
          </a:xfrm>
          <a:prstGeom prst="rect">
            <a:avLst/>
          </a:prstGeom>
        </p:spPr>
      </p:pic>
      <p:pic>
        <p:nvPicPr>
          <p:cNvPr id="15" name="Image 12" descr="star.png">    </p:cNvPr>
          <p:cNvPicPr>
            <a:picLocks noChangeAspect="1"/>
          </p:cNvPicPr>
          <p:nvPr/>
        </p:nvPicPr>
        <p:blipFill>
          <a:blip r:embed="rId13">
            <a:alphaModFix amt="50000"/>
          </a:blip>
          <a:stretch>
            <a:fillRect/>
          </a:stretch>
        </p:blipFill>
        <p:spPr>
          <a:xfrm>
            <a:off x="5294376" y="-9144"/>
            <a:ext cx="201168" cy="201168"/>
          </a:xfrm>
          <a:prstGeom prst="rect">
            <a:avLst/>
          </a:prstGeom>
        </p:spPr>
      </p:pic>
      <p:pic>
        <p:nvPicPr>
          <p:cNvPr id="16" name="Image 13" descr="star.png">    </p:cNvPr>
          <p:cNvPicPr>
            <a:picLocks noChangeAspect="1"/>
          </p:cNvPicPr>
          <p:nvPr/>
        </p:nvPicPr>
        <p:blipFill>
          <a:blip r:embed="rId14">
            <a:alphaModFix amt="45000"/>
          </a:blip>
          <a:stretch>
            <a:fillRect/>
          </a:stretch>
        </p:blipFill>
        <p:spPr>
          <a:xfrm>
            <a:off x="2670048" y="2624328"/>
            <a:ext cx="146304" cy="146304"/>
          </a:xfrm>
          <a:prstGeom prst="rect">
            <a:avLst/>
          </a:prstGeom>
        </p:spPr>
      </p:pic>
      <p:pic>
        <p:nvPicPr>
          <p:cNvPr id="17" name="Image 14" descr="star.png">    </p:cNvPr>
          <p:cNvPicPr>
            <a:picLocks noChangeAspect="1"/>
          </p:cNvPicPr>
          <p:nvPr/>
        </p:nvPicPr>
        <p:blipFill>
          <a:blip r:embed="rId15">
            <a:alphaModFix amt="50000"/>
          </a:blip>
          <a:stretch>
            <a:fillRect/>
          </a:stretch>
        </p:blipFill>
        <p:spPr>
          <a:xfrm>
            <a:off x="6272784" y="2615184"/>
            <a:ext cx="164592" cy="164592"/>
          </a:xfrm>
          <a:prstGeom prst="rect">
            <a:avLst/>
          </a:prstGeom>
        </p:spPr>
      </p:pic>
      <p:pic>
        <p:nvPicPr>
          <p:cNvPr id="18" name="Image 15" descr="star.png">    </p:cNvPr>
          <p:cNvPicPr>
            <a:picLocks noChangeAspect="1"/>
          </p:cNvPicPr>
          <p:nvPr/>
        </p:nvPicPr>
        <p:blipFill>
          <a:blip r:embed="rId16">
            <a:alphaModFix amt="55000"/>
          </a:blip>
          <a:stretch>
            <a:fillRect/>
          </a:stretch>
        </p:blipFill>
        <p:spPr>
          <a:xfrm>
            <a:off x="758952" y="2404872"/>
            <a:ext cx="219456" cy="219456"/>
          </a:xfrm>
          <a:prstGeom prst="rect">
            <a:avLst/>
          </a:prstGeom>
        </p:spPr>
      </p:pic>
      <p:pic>
        <p:nvPicPr>
          <p:cNvPr id="19" name="Image 16" descr="logo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73936" y="182880"/>
            <a:ext cx="5596128" cy="2249809"/>
          </a:xfrm>
          <a:prstGeom prst="rect">
            <a:avLst/>
          </a:prstGeom>
        </p:spPr>
      </p:pic>
      <p:sp>
        <p:nvSpPr>
          <p:cNvPr id="20" name="Text 1"/>
          <p:cNvSpPr txBox="1"/>
          <p:nvPr/>
        </p:nvSpPr>
        <p:spPr>
          <a:xfrm>
            <a:off x="3474720" y="1517904"/>
            <a:ext cx="2194560" cy="566928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2700" dir="5400000">
              <a:srgbClr val="000000">
                <a:alpha val="7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D27A"/>
                </a:solidFill>
              </a:rPr>
              <a:t>원근법 기초</a:t>
            </a:r>
            <a:endParaRPr lang="en-US" sz="12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소실점을 찾는 눈</a:t>
            </a:r>
            <a:endParaRPr lang="en-US" sz="1200" dirty="0"/>
          </a:p>
        </p:txBody>
      </p:sp>
      <p:sp>
        <p:nvSpPr>
          <p:cNvPr id="21" name="Text 2"/>
          <p:cNvSpPr txBox="1"/>
          <p:nvPr/>
        </p:nvSpPr>
        <p:spPr>
          <a:xfrm>
            <a:off x="3977640" y="2377440"/>
            <a:ext cx="1188720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12700" dir="5400000">
              <a:srgbClr val="000000">
                <a:alpha val="8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D27A"/>
                </a:solidFill>
              </a:rPr>
              <a:t>준비물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활동지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자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연필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소실점을 도둑맞은 세상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</a:rPr>
              <a:t>소실점 사냥꾼이 소실점을 훔쳐 가자, 세상이 종이처럼 납작해졌어요</a:t>
            </a:r>
            <a:endParaRPr lang="en-US" sz="1300" dirty="0"/>
          </a:p>
        </p:txBody>
      </p:sp>
      <p:pic>
        <p:nvPicPr>
          <p:cNvPr id="4" name="Image 0" descr="bg_f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754880" cy="2653887"/>
          </a:xfrm>
          <a:prstGeom prst="rect">
            <a:avLst/>
          </a:prstGeom>
        </p:spPr>
      </p:pic>
      <p:pic>
        <p:nvPicPr>
          <p:cNvPr id="5" name="Image 1" descr="s_hun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08760"/>
            <a:ext cx="1234440" cy="135423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23560" y="1874520"/>
            <a:ext cx="457200" cy="45720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6235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?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1828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E"/>
                </a:solidFill>
              </a:rPr>
              <a:t>소실점이 뭐길래 세상이 납작해질까요?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623560" y="2971800"/>
            <a:ext cx="457200" cy="45720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2356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217920" y="29260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E"/>
                </a:solidFill>
              </a:rPr>
              <a:t>오늘 배운 눈으로 소실점을 되찾으러 가요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6177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소실점이 있어야 깊이가 생겨요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</a:rPr>
              <a:t>Q. 소실점이 뭐길래 세상이 납작해질까요?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406640" y="62179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5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06640" y="621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51B"/>
                </a:solidFill>
              </a:rPr>
              <a:t>정답</a:t>
            </a:r>
            <a:endParaRPr lang="en-US" sz="1000" dirty="0"/>
          </a:p>
        </p:txBody>
      </p:sp>
      <p:pic>
        <p:nvPicPr>
          <p:cNvPr id="6" name="Image 0" descr="bg_f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886200" cy="21690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74181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93A6"/>
                </a:solidFill>
              </a:rPr>
              <a:t>소실점이 없으면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07099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E"/>
                </a:solidFill>
              </a:rPr>
              <a:t>모든 것이 같은 크기, 종이처럼 납작해요</a:t>
            </a:r>
            <a:endParaRPr lang="en-US" sz="1250" dirty="0"/>
          </a:p>
        </p:txBody>
      </p:sp>
      <p:pic>
        <p:nvPicPr>
          <p:cNvPr id="9" name="Image 1" descr="oil_depth_plai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63040"/>
            <a:ext cx="3886200" cy="21690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709160" y="374181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51B"/>
                </a:solidFill>
              </a:rPr>
              <a:t>소실점이 있으면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709160" y="407099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E"/>
                </a:solidFill>
              </a:rPr>
              <a:t>먼 것은 작게, 가까운 것은 크게. 깊이가 생겨요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6177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어느 나무가 가장 멀리 있을까요?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</a:rPr>
              <a:t>나무의 크기와 길의 폭을 잘 살펴봐요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406640" y="62179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5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06640" y="621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51B"/>
                </a:solidFill>
              </a:rPr>
              <a:t>찾아봐요</a:t>
            </a:r>
            <a:endParaRPr lang="en-US" sz="1000" dirty="0"/>
          </a:p>
        </p:txBody>
      </p:sp>
      <p:pic>
        <p:nvPicPr>
          <p:cNvPr id="6" name="Image 0" descr="oil_depth_pl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417320"/>
            <a:ext cx="6126480" cy="341943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6177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멀리 있을수록 작게 보여요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</a:rPr>
              <a:t>모두 같은 크기의 나무인데, 크기가 달라 보이지요?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406640" y="62179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5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06640" y="621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51B"/>
                </a:solidFill>
              </a:rPr>
              <a:t>활동지 01-1</a:t>
            </a:r>
            <a:endParaRPr lang="en-US" sz="1000" dirty="0"/>
          </a:p>
        </p:txBody>
      </p:sp>
      <p:pic>
        <p:nvPicPr>
          <p:cNvPr id="6" name="Image 0" descr="oil_dept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120640" cy="2858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60020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172200" y="17830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E"/>
                </a:solidFill>
              </a:rPr>
              <a:t>나무 꼭대기와 밑동을 이은 선이</a:t>
            </a:r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E"/>
                </a:solidFill>
              </a:rPr>
              <a:t>멀어질수록 </a:t>
            </a:r>
            <a:pPr indent="0" marL="0">
              <a:spcAft>
                <a:spcPts val="400"/>
              </a:spcAft>
              <a:buNone/>
            </a:pPr>
            <a:r>
              <a:rPr lang="en-US" sz="1400" b="1" u="sng" dirty="0">
                <a:solidFill>
                  <a:srgbClr val="C9951B"/>
                </a:solidFill>
                <a:uFill>
                  <a:solidFill>
                    <a:srgbClr val="C9951B"/>
                  </a:solidFill>
                </a:uFill>
              </a:rPr>
              <a:t>한 점으로 모여요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E"/>
                </a:solidFill>
              </a:rPr>
              <a:t>.</a:t>
            </a:r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E"/>
                </a:solidFill>
              </a:rPr>
              <a:t>이렇게 멀리 있는 것이 작게 보이는 것이 </a:t>
            </a:r>
            <a:pPr indent="0" marL="0">
              <a:spcAft>
                <a:spcPts val="400"/>
              </a:spcAft>
              <a:buNone/>
            </a:pPr>
            <a:r>
              <a:rPr lang="en-US" sz="1400" b="1" u="sng" dirty="0">
                <a:solidFill>
                  <a:srgbClr val="C9951B"/>
                </a:solidFill>
                <a:uFill>
                  <a:solidFill>
                    <a:srgbClr val="C9951B"/>
                  </a:solidFill>
                </a:uFill>
              </a:rPr>
              <a:t>깊이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E"/>
                </a:solidFill>
              </a:rPr>
              <a:t>예요.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6177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땅과 하늘이 만나는 선은 어디일까요?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</a:rPr>
              <a:t>그림 위에 가로선을 그어 본다면 어디쯤일까요?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406640" y="62179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5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06640" y="621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51B"/>
                </a:solidFill>
              </a:rPr>
              <a:t>찾아봐요</a:t>
            </a:r>
            <a:endParaRPr lang="en-US" sz="1000" dirty="0"/>
          </a:p>
        </p:txBody>
      </p:sp>
      <p:pic>
        <p:nvPicPr>
          <p:cNvPr id="6" name="Image 0" descr="oil_rails2_pl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417320"/>
            <a:ext cx="6126480" cy="341943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6177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지평선은 내 눈높이에 있어요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406640" y="62179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5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0" y="621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51B"/>
                </a:solidFill>
              </a:rPr>
              <a:t>활동지 01-2</a:t>
            </a:r>
            <a:endParaRPr lang="en-US" sz="1000" dirty="0"/>
          </a:p>
        </p:txBody>
      </p:sp>
      <p:pic>
        <p:nvPicPr>
          <p:cNvPr id="5" name="Image 0" descr="oil_rai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754880" cy="26538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577840" y="14630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E"/>
                </a:solidFill>
              </a:rPr>
              <a:t>땅과 하늘이 만나 보이는 가로선을 </a:t>
            </a:r>
            <a:pPr indent="0" marL="0">
              <a:buNone/>
            </a:pPr>
            <a:r>
              <a:rPr lang="en-US" sz="1600" b="1" u="sng" dirty="0">
                <a:solidFill>
                  <a:srgbClr val="C9951B"/>
                </a:solidFill>
                <a:uFill>
                  <a:solidFill>
                    <a:srgbClr val="C9951B"/>
                  </a:solidFill>
                </a:uFill>
              </a:rPr>
              <a:t>지평선</a:t>
            </a:r>
            <a:pPr indent="0" marL="0">
              <a:buNone/>
            </a:pPr>
            <a:r>
              <a:rPr lang="en-US" sz="1600" dirty="0">
                <a:solidFill>
                  <a:srgbClr val="26262E"/>
                </a:solidFill>
              </a:rPr>
              <a:t>이라고 해요.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262E"/>
                </a:solidFill>
              </a:rPr>
              <a:t>이 선은 언제나 내 </a:t>
            </a:r>
            <a:pPr indent="0" marL="0">
              <a:buNone/>
            </a:pPr>
            <a:r>
              <a:rPr lang="en-US" sz="1600" b="1" u="sng" dirty="0">
                <a:solidFill>
                  <a:srgbClr val="C9951B"/>
                </a:solidFill>
                <a:uFill>
                  <a:solidFill>
                    <a:srgbClr val="C9951B"/>
                  </a:solidFill>
                </a:uFill>
              </a:rPr>
              <a:t>눈높이</a:t>
            </a:r>
            <a:pPr indent="0" marL="0">
              <a:buNone/>
            </a:pPr>
            <a:r>
              <a:rPr lang="en-US" sz="1600" dirty="0">
                <a:solidFill>
                  <a:srgbClr val="26262E"/>
                </a:solidFill>
              </a:rPr>
              <a:t>에 있어요.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77840" y="306324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15000" y="3127248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</a:rPr>
              <a:t>사다리를 오르면 지평선도 함께 올라가요. 앉으면 지평선도 내려가요.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6177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선들이 모이는 한 점을 찾아봐요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</a:rPr>
              <a:t>길 가장자리와 건물 지붕선을 쭉 늘려 보면?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406640" y="62179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5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06640" y="621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51B"/>
                </a:solidFill>
              </a:rPr>
              <a:t>찾아봐요</a:t>
            </a:r>
            <a:endParaRPr lang="en-US" sz="1000" dirty="0"/>
          </a:p>
        </p:txBody>
      </p:sp>
      <p:pic>
        <p:nvPicPr>
          <p:cNvPr id="6" name="Image 0" descr="oil_street_pl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417320"/>
            <a:ext cx="6126480" cy="341943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6177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선들이 모이는 한 점, 소실점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406640" y="62179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5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0" y="621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51B"/>
                </a:solidFill>
              </a:rPr>
              <a:t>활동지 01-3</a:t>
            </a:r>
            <a:endParaRPr lang="en-US" sz="1000" dirty="0"/>
          </a:p>
        </p:txBody>
      </p:sp>
      <p:pic>
        <p:nvPicPr>
          <p:cNvPr id="5" name="Image 0" descr="oil_stre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754880" cy="26538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577840" y="1463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6262E"/>
                </a:solidFill>
              </a:rPr>
              <a:t>앞으로 뻗은 나란한 선들이 멀어지며 모이는 한 점을 </a:t>
            </a:r>
            <a:pPr indent="0" marL="0">
              <a:buNone/>
            </a:pPr>
            <a:r>
              <a:rPr lang="en-US" sz="1600" b="1" u="sng" dirty="0">
                <a:solidFill>
                  <a:srgbClr val="C9951B"/>
                </a:solidFill>
                <a:uFill>
                  <a:solidFill>
                    <a:srgbClr val="C9951B"/>
                  </a:solidFill>
                </a:uFill>
              </a:rPr>
              <a:t>소실점</a:t>
            </a:r>
            <a:pPr indent="0" marL="0">
              <a:buNone/>
            </a:pPr>
            <a:r>
              <a:rPr lang="en-US" sz="1600" dirty="0">
                <a:solidFill>
                  <a:srgbClr val="26262E"/>
                </a:solidFill>
              </a:rPr>
              <a:t>이라고 해요.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77840" y="2889504"/>
            <a:ext cx="201168" cy="201168"/>
          </a:xfrm>
          <a:prstGeom prst="ellipse">
            <a:avLst/>
          </a:prstGeom>
          <a:solidFill>
            <a:srgbClr val="C9951B"/>
          </a:solidFill>
          <a:ln w="12700">
            <a:solidFill>
              <a:srgbClr val="C9951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97880" y="2834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E"/>
                </a:solidFill>
              </a:rPr>
              <a:t>길 가장자리 → 모두 소실점으로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577840" y="3300984"/>
            <a:ext cx="201168" cy="201168"/>
          </a:xfrm>
          <a:prstGeom prst="ellipse">
            <a:avLst/>
          </a:prstGeom>
          <a:solidFill>
            <a:srgbClr val="C9951B"/>
          </a:solidFill>
          <a:ln w="12700">
            <a:solidFill>
              <a:srgbClr val="C9951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97880" y="32461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E"/>
                </a:solidFill>
              </a:rPr>
              <a:t>건물 지붕선 → 모두 소실점으로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577840" y="3712464"/>
            <a:ext cx="201168" cy="201168"/>
          </a:xfrm>
          <a:prstGeom prst="ellipse">
            <a:avLst/>
          </a:prstGeom>
          <a:solidFill>
            <a:srgbClr val="C9951B"/>
          </a:solidFill>
          <a:ln w="12700">
            <a:solidFill>
              <a:srgbClr val="C9951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97880" y="36576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E"/>
                </a:solidFill>
              </a:rPr>
              <a:t>창문 줄 → 모두 소실점으로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069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523B"/>
                </a:solidFill>
              </a:rPr>
              <a:t>소실점은 언제나 지평선 위에 있어요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6177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소실점의 개수로 이름이 달라져요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406640" y="62179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5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0" y="621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51B"/>
                </a:solidFill>
              </a:rPr>
              <a:t>활동지 01-4</a:t>
            </a:r>
            <a:endParaRPr lang="en-US" sz="1000" dirty="0"/>
          </a:p>
        </p:txBody>
      </p:sp>
      <p:pic>
        <p:nvPicPr>
          <p:cNvPr id="5" name="Image 0" descr="p_hobbem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2560320" cy="14290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529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u="sng" dirty="0">
                <a:solidFill>
                  <a:srgbClr val="C9951B"/>
                </a:solidFill>
                <a:uFill>
                  <a:solidFill>
                    <a:srgbClr val="C9951B"/>
                  </a:solidFill>
                </a:uFill>
              </a:rPr>
              <a:t>1점 투시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E"/>
                </a:solidFill>
              </a:rPr>
              <a:t>길을 정면으로 보면 소실점 1개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93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</a:rPr>
              <a:t>호베마, 〈미델하르니스의 가로수길〉, 1689</a:t>
            </a:r>
            <a:endParaRPr lang="en-US" sz="1000" dirty="0"/>
          </a:p>
        </p:txBody>
      </p:sp>
      <p:pic>
        <p:nvPicPr>
          <p:cNvPr id="9" name="Image 1" descr="p_rain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325880"/>
            <a:ext cx="2560320" cy="14290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91840" y="28529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u="sng" dirty="0">
                <a:solidFill>
                  <a:srgbClr val="C9951B"/>
                </a:solidFill>
                <a:uFill>
                  <a:solidFill>
                    <a:srgbClr val="C9951B"/>
                  </a:solidFill>
                </a:uFill>
              </a:rPr>
              <a:t>2점 투시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329184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E"/>
                </a:solidFill>
              </a:rPr>
              <a:t>건물 모서리를 보면 소실점 2개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291840" y="3493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</a:rPr>
              <a:t>카유보트, 〈파리의 거리, 비 오는 날〉, 1877</a:t>
            </a:r>
            <a:endParaRPr lang="en-US" sz="1000" dirty="0"/>
          </a:p>
        </p:txBody>
      </p:sp>
      <p:pic>
        <p:nvPicPr>
          <p:cNvPr id="13" name="Image 2" descr="p_halev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25880"/>
            <a:ext cx="2560320" cy="14290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035040" y="28529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u="sng" dirty="0">
                <a:solidFill>
                  <a:srgbClr val="C9951B"/>
                </a:solidFill>
                <a:uFill>
                  <a:solidFill>
                    <a:srgbClr val="C9951B"/>
                  </a:solidFill>
                </a:uFill>
              </a:rPr>
              <a:t>3점 투시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03504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E"/>
                </a:solidFill>
              </a:rPr>
              <a:t>높이 내려다보면 세로선도 모여 3개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035040" y="3493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</a:rPr>
              <a:t>카유보트, 〈6층에서 내려다본 알레비 거리〉, 1878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4069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</a:rPr>
              <a:t>세로선은 보통 똑바로 서 있지만, 높이 올려다보거나 내려다보면 세로선도 한 점으로 모여요.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6177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그림 속 소실점 찾기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</a:rPr>
              <a:t>선을 늘려 보면 소실점이 보여요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406640" y="62179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5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06640" y="621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51B"/>
                </a:solidFill>
              </a:rPr>
              <a:t>활동지 01-4</a:t>
            </a:r>
            <a:endParaRPr lang="en-US" sz="1000" dirty="0"/>
          </a:p>
        </p:txBody>
      </p:sp>
      <p:pic>
        <p:nvPicPr>
          <p:cNvPr id="6" name="Image 0" descr="l_hobbem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2560320" cy="18962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401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u="sng" dirty="0">
                <a:solidFill>
                  <a:srgbClr val="C9951B"/>
                </a:solidFill>
                <a:uFill>
                  <a:solidFill>
                    <a:srgbClr val="C9951B"/>
                  </a:solidFill>
                </a:uFill>
              </a:rPr>
              <a:t>1점 투시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307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262E"/>
                </a:solidFill>
              </a:rPr>
              <a:t>길과 나무 밑동 → 소실점 1개</a:t>
            </a:r>
            <a:endParaRPr lang="en-US" sz="1150" dirty="0"/>
          </a:p>
        </p:txBody>
      </p:sp>
      <p:pic>
        <p:nvPicPr>
          <p:cNvPr id="9" name="Image 1" descr="l_rain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325880"/>
            <a:ext cx="2560320" cy="198691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91840" y="3401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u="sng" dirty="0">
                <a:solidFill>
                  <a:srgbClr val="C9951B"/>
                </a:solidFill>
                <a:uFill>
                  <a:solidFill>
                    <a:srgbClr val="C9951B"/>
                  </a:solidFill>
                </a:uFill>
              </a:rPr>
              <a:t>2점 투시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3291840" y="37307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262E"/>
                </a:solidFill>
              </a:rPr>
              <a:t>건물 두 벽 → 소실점 2개</a:t>
            </a:r>
            <a:endParaRPr lang="en-US" sz="1150" dirty="0"/>
          </a:p>
        </p:txBody>
      </p:sp>
      <p:pic>
        <p:nvPicPr>
          <p:cNvPr id="12" name="Image 2" descr="l_halev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25880"/>
            <a:ext cx="2560320" cy="197510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035040" y="34015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u="sng" dirty="0">
                <a:solidFill>
                  <a:srgbClr val="C9951B"/>
                </a:solidFill>
                <a:uFill>
                  <a:solidFill>
                    <a:srgbClr val="C9951B"/>
                  </a:solidFill>
                </a:uFill>
              </a:rPr>
              <a:t>3점 투시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035040" y="37307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6262E"/>
                </a:solidFill>
              </a:rPr>
              <a:t>길은 위쪽 소실점으로, 세로선은 아래로 모여요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4206240"/>
            <a:ext cx="164592" cy="164592"/>
          </a:xfrm>
          <a:prstGeom prst="ellipse">
            <a:avLst/>
          </a:prstGeom>
          <a:solidFill>
            <a:srgbClr val="F2BE28"/>
          </a:solidFill>
          <a:ln w="9525">
            <a:solidFill>
              <a:srgbClr val="1E1E1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77240" y="41422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</a:rPr>
              <a:t>소실점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103120" y="4206240"/>
            <a:ext cx="164592" cy="164592"/>
          </a:xfrm>
          <a:prstGeom prst="ellipse">
            <a:avLst/>
          </a:prstGeom>
          <a:solidFill>
            <a:srgbClr val="C83C32"/>
          </a:solidFill>
          <a:ln w="9525">
            <a:solidFill>
              <a:srgbClr val="1E1E1E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331720" y="41422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</a:rPr>
              <a:t>지평선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657600" y="4206240"/>
            <a:ext cx="164592" cy="164592"/>
          </a:xfrm>
          <a:prstGeom prst="ellipse">
            <a:avLst/>
          </a:prstGeom>
          <a:solidFill>
            <a:srgbClr val="78C8FF"/>
          </a:solidFill>
          <a:ln w="9525">
            <a:solidFill>
              <a:srgbClr val="1E1E1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886200" y="41422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</a:rPr>
              <a:t>세로선이 모이는 방향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6177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소실점 찾기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</a:rPr>
              <a:t>자로 선을 늘려 소실점과 지평선을 찾아요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406640" y="62179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5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06640" y="621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51B"/>
                </a:solidFill>
              </a:rPr>
              <a:t>활동지 02</a:t>
            </a:r>
            <a:endParaRPr lang="en-US" sz="1000" dirty="0"/>
          </a:p>
        </p:txBody>
      </p:sp>
      <p:pic>
        <p:nvPicPr>
          <p:cNvPr id="6" name="Image 0" descr="A_r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937760" cy="25306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508760"/>
            <a:ext cx="384048" cy="384048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14721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E"/>
                </a:solidFill>
              </a:rPr>
              <a:t>길 가장자리를 자로 쭉 늘려요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760720" y="2167128"/>
            <a:ext cx="384048" cy="384048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21305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E"/>
                </a:solidFill>
              </a:rPr>
              <a:t>건물 지붕선·아랫선도 늘려요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760720" y="2825496"/>
            <a:ext cx="384048" cy="384048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2788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E"/>
                </a:solidFill>
              </a:rPr>
              <a:t>선이 만나는 곳에 ● 찍기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760720" y="3483864"/>
            <a:ext cx="384048" cy="384048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6072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34472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E"/>
                </a:solidFill>
              </a:rPr>
              <a:t>● 를 지나는 가로선 = 지평선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6177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소실점 찾기 · 확인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</a:rPr>
              <a:t>모든 선이 한 점에서 만나요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406640" y="62179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5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06640" y="621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51B"/>
                </a:solidFill>
              </a:rPr>
              <a:t>활동지 02</a:t>
            </a:r>
            <a:endParaRPr lang="en-US" sz="1000" dirty="0"/>
          </a:p>
        </p:txBody>
      </p:sp>
      <p:pic>
        <p:nvPicPr>
          <p:cNvPr id="6" name="Image 0" descr="A_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937760" cy="25306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60720" y="1645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262E"/>
                </a:solidFill>
              </a:rPr>
              <a:t>소실점은 지평선 </a:t>
            </a:r>
            <a:pPr indent="0" marL="0">
              <a:buNone/>
            </a:pPr>
            <a:r>
              <a:rPr lang="en-US" sz="1600" b="1" u="sng" dirty="0">
                <a:solidFill>
                  <a:srgbClr val="C9951B"/>
                </a:solidFill>
                <a:uFill>
                  <a:solidFill>
                    <a:srgbClr val="C9951B"/>
                  </a:solidFill>
                </a:uFill>
              </a:rPr>
              <a:t>위에 딱 맞닿아</a:t>
            </a:r>
            <a:pPr indent="0" marL="0">
              <a:buNone/>
            </a:pPr>
            <a:r>
              <a:rPr lang="en-US" sz="1600" dirty="0">
                <a:solidFill>
                  <a:srgbClr val="26262E"/>
                </a:solidFill>
              </a:rPr>
              <a:t> 있어요.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</a:rPr>
              <a:t>선이 조금 어긋나도 괜찮아요. 여러 선이 가장 많이 모이는 곳을 찾아요.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6177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눈높이와 보이는 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</a:rPr>
              <a:t>상자가 지평선 위에 있나요, 아래에 있나요?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406640" y="62179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5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06640" y="621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51B"/>
                </a:solidFill>
              </a:rPr>
              <a:t>활동지 03</a:t>
            </a:r>
            <a:endParaRPr lang="en-US" sz="1000" dirty="0"/>
          </a:p>
        </p:txBody>
      </p:sp>
      <p:pic>
        <p:nvPicPr>
          <p:cNvPr id="6" name="Image 0" descr="B_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937760" cy="23454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50876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97880" y="15636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C"/>
                </a:solidFill>
              </a:rPr>
              <a:t>지평선 위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183794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C9951B"/>
                </a:solidFill>
                <a:uFill>
                  <a:solidFill>
                    <a:srgbClr val="C9951B"/>
                  </a:solidFill>
                </a:uFill>
              </a:rPr>
              <a:t>아랫면이 보여요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760720" y="233172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97880" y="23865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C"/>
                </a:solidFill>
              </a:rPr>
              <a:t>지평선에 걸침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897880" y="26609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C9951B"/>
                </a:solidFill>
                <a:uFill>
                  <a:solidFill>
                    <a:srgbClr val="C9951B"/>
                  </a:solidFill>
                </a:uFill>
              </a:rPr>
              <a:t>윗면·아랫면 둘 다 안 보여요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60720" y="3154680"/>
            <a:ext cx="2926080" cy="685800"/>
          </a:xfrm>
          <a:prstGeom prst="roundRect">
            <a:avLst>
              <a:gd name="adj" fmla="val 13333"/>
            </a:avLst>
          </a:prstGeom>
          <a:solidFill>
            <a:srgbClr val="F3F4F7"/>
          </a:solidFill>
          <a:ln w="12700">
            <a:solidFill>
              <a:srgbClr val="F3F4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97880" y="32095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C"/>
                </a:solidFill>
              </a:rPr>
              <a:t>지평선 아래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897880" y="34838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C9951B"/>
                </a:solidFill>
                <a:uFill>
                  <a:solidFill>
                    <a:srgbClr val="C9951B"/>
                  </a:solidFill>
                </a:uFill>
              </a:rPr>
              <a:t>윗면이 보여요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6177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2점 투시 상자 그리기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</a:rPr>
              <a:t>소실점 두 개를 이용해 상자를 완성해요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406640" y="62179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5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06640" y="621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51B"/>
                </a:solidFill>
              </a:rPr>
              <a:t>활동지 04</a:t>
            </a:r>
            <a:endParaRPr lang="en-US" sz="1000" dirty="0"/>
          </a:p>
        </p:txBody>
      </p:sp>
      <p:pic>
        <p:nvPicPr>
          <p:cNvPr id="6" name="Image 0" descr="C_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4937760" cy="23454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508760"/>
            <a:ext cx="384048" cy="384048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14721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E"/>
                </a:solidFill>
              </a:rPr>
              <a:t>앞 모서리 위·아래 끝 → 소실점 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760720" y="2167128"/>
            <a:ext cx="384048" cy="384048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21305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E"/>
                </a:solidFill>
              </a:rPr>
              <a:t>앞 모서리 위·아래 끝 → 소실점 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760720" y="2825496"/>
            <a:ext cx="384048" cy="384048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2788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E"/>
                </a:solidFill>
              </a:rPr>
              <a:t>양쪽에 세로선을 똑바로 그어요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760720" y="3483864"/>
            <a:ext cx="384048" cy="384048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6072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34472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E"/>
                </a:solidFill>
              </a:rPr>
              <a:t>윗면 뒤 모서리는 반대쪽 소실점으로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6177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화가는 소실점을 어디에 두었을까요?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406640" y="62179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5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06640" y="621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51B"/>
                </a:solidFill>
              </a:rPr>
              <a:t>생각해 보기</a:t>
            </a:r>
            <a:endParaRPr lang="en-US" sz="1000" dirty="0"/>
          </a:p>
        </p:txBody>
      </p:sp>
      <p:pic>
        <p:nvPicPr>
          <p:cNvPr id="5" name="Image 0" descr="p_supp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120640" cy="2667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06603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</a:rPr>
              <a:t>레오나르도 다 빈치, 〈최후의 만찬〉, 1495–1498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011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C9951B"/>
                </a:solidFill>
                <a:uFill>
                  <a:solidFill>
                    <a:srgbClr val="C9951B"/>
                  </a:solidFill>
                </a:uFill>
              </a:rPr>
              <a:t>눈길이 주인공에게 가도록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6177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3A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g_f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036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424">
              <a:alpha val="60000"/>
            </a:srgbClr>
          </a:solidFill>
          <a:ln w="12700">
            <a:solidFill>
              <a:srgbClr val="0E1424"/>
            </a:solidFill>
            <a:prstDash val="solid"/>
          </a:ln>
        </p:spPr>
      </p:sp>
      <p:pic>
        <p:nvPicPr>
          <p:cNvPr id="4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320040"/>
            <a:ext cx="3474720" cy="139694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D27A"/>
                </a:solidFill>
              </a:rPr>
              <a:t>이 내용을 게임으로 연결해 봅시다!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소실점 헌터가 소실점을 훔쳐 간 마을로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3383280" y="3017520"/>
            <a:ext cx="2377440" cy="603504"/>
          </a:xfrm>
          <a:prstGeom prst="roundRect">
            <a:avLst>
              <a:gd name="adj" fmla="val 50000"/>
            </a:avLst>
          </a:prstGeom>
          <a:solidFill>
            <a:srgbClr val="F2BE28"/>
          </a:solidFill>
          <a:ln w="25400">
            <a:solidFill>
              <a:srgbClr val="FFF3C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3383280" y="30175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GO GO! ▶▶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9F0"/>
                </a:solidFill>
              </a:rPr>
              <a:t>태블릿에서 게임에 들어가 학년 · 반 · 번호 · 이름을 쓰고 시작하기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ere Lines Meet">
  <a:themeElements>
    <a:clrScheme name="Where Lines Meet">
      <a:dk1>
        <a:srgbClr val="26262E"/>
      </a:dk1>
      <a:lt1>
        <a:srgbClr val="FFFFFF"/>
      </a:lt1>
      <a:dk2>
        <a:srgbClr val="1E2A44"/>
      </a:dk2>
      <a:lt2>
        <a:srgbClr val="F3F4F7"/>
      </a:lt2>
      <a:accent1>
        <a:srgbClr val="C9951B"/>
      </a:accent1>
      <a:accent2>
        <a:srgbClr val="1E2A44"/>
      </a:accent2>
      <a:accent3>
        <a:srgbClr val="B5523B"/>
      </a:accent3>
      <a:accent4>
        <a:srgbClr val="8A93A6"/>
      </a:accent4>
      <a:accent5>
        <a:srgbClr val="D9DDE5"/>
      </a:accent5>
      <a:accent6>
        <a:srgbClr val="5B7A3A"/>
      </a:accent6>
      <a:hlink>
        <a:srgbClr val="1E2A44"/>
      </a:hlink>
      <a:folHlink>
        <a:srgbClr val="5B6B8C"/>
      </a:folHlink>
    </a:clrScheme>
    <a:fontScheme name="Where Lines Mee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소실점을 찾는 눈 · 원근법 기초</dc:title>
  <dc:subject>PptxGenJS Presentation</dc:subject>
  <dc:creator>PptxGenJS</dc:creator>
  <cp:lastModifiedBy>PptxGenJS</cp:lastModifiedBy>
  <cp:revision>1</cp:revision>
  <dcterms:created xsi:type="dcterms:W3CDTF">2026-10-24T12:56:38Z</dcterms:created>
  <dcterms:modified xsi:type="dcterms:W3CDTF">2026-10-24T12:56:38Z</dcterms:modified>
</cp:coreProperties>
</file>