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색의 3속성과 물감을 섞을 때 색이 어떻게 변하는지 배우고, 게임으로 직접 물감을 만들어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게임은 1단계부터 시작합니다. 학년·반·번호·이름을 입력해야 시작돼요.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색상은 이름, 명도는 밝기, 채도는 선명함. 학생들이 명도는 쉽게 이해하지만 채도를 어려워하니 오른쪽 띠를 보며 "색이 점점 회색빛으로 흐려진다"는 느낌을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스텝 3(흰색)과 스텝 4·5(검정, 탁한 색)에서 직접 만들어 보게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스텝 2에서 주황·초록·보라를 만들어 봅니다. 물감은 섞을수록 조금씩 어둡고 탁해진다는 점(감산 혼합)도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게임에서 스승님이 빨강·노랑·파랑 1:1:1로 검정을 만드는 시범을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안쪽 굵은 주황 선은 난색, 파란 선은 한색, 가는 회색 선은 중성색 영역입니다. 다음 장에서 자세히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보색 대비: 나란히 두면 더 선명해 보인다는 점을 창 칠하기와 연결해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① 높아진다, 낮아진다 ② 검정, 무채색 ③ 파랑, 보라. ④⑤는 자유 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343400"/>
            <a:ext cx="12191695" cy="2514600"/>
          </a:xfrm>
          <a:prstGeom prst="rect">
            <a:avLst/>
          </a:prstGeom>
          <a:solidFill>
            <a:srgbClr val="2B1D14">
              <a:alpha val="85000"/>
            </a:srgbClr>
          </a:solidFill>
          <a:ln w="12700">
            <a:solidFill>
              <a:srgbClr val="2B1D14">
                <a:alpha val="85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4572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색의 3속성과 색의 섞임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D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「색채의 연금술사」와 함께하는 색채 수업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D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중학교 2학년 미술 · 명지중 미술과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수업 흐름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배우고 → 게임으로 직접 섞어 보고 → 활동지로 확인해요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8A4A0E"/>
          </a:solidFill>
          <a:ln w="12700">
            <a:solidFill>
              <a:srgbClr val="8A4A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익히기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색의 3속성, 혼색, 20색상환과 색의 느낌을 알아봐요.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240280"/>
            <a:ext cx="685800" cy="685800"/>
          </a:xfrm>
          <a:prstGeom prst="ellipse">
            <a:avLst/>
          </a:prstGeom>
          <a:solidFill>
            <a:srgbClr val="8A4A0E"/>
          </a:solidFill>
          <a:ln w="12700">
            <a:solidFill>
              <a:srgbClr val="8A4A0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「색채의 연금술사」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원료를 갈아 물감을 만들고, 섞어서 스테인드글라스 창을 칠해요.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25분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046720" y="19202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240280"/>
            <a:ext cx="685800" cy="685800"/>
          </a:xfrm>
          <a:prstGeom prst="ellipse">
            <a:avLst/>
          </a:prstGeom>
          <a:solidFill>
            <a:srgbClr val="8A4A0E"/>
          </a:solidFill>
          <a:ln w="12700">
            <a:solidFill>
              <a:srgbClr val="8A4A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활동지로 확인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게임에서 만든 색을 떠올리며 형성평가 문제를 풀어요.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45분 수업 기준이에요. 반 상황에 맞게 시간을 조절하세요.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색의 3속성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색은 색상 · 명도 · 채도, 세 가지 성질로 나타낼 수 있어요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pPr indent="0" marL="0">
              <a:buNone/>
            </a:pPr>
            <a:r>
              <a:rPr lang="en-US" sz="15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Hue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빨강·노랑·파랑처럼 다른 색과 구별되는 색의 이름(종류)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43400"/>
            <a:ext cx="404949" cy="502920"/>
          </a:xfrm>
          <a:prstGeom prst="rect">
            <a:avLst/>
          </a:prstGeom>
          <a:solidFill>
            <a:srgbClr val="E0242E"/>
          </a:solidFill>
          <a:ln w="12700">
            <a:solidFill>
              <a:srgbClr val="E024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3629" y="4343400"/>
            <a:ext cx="404949" cy="502920"/>
          </a:xfrm>
          <a:prstGeom prst="rect">
            <a:avLst/>
          </a:prstGeom>
          <a:solidFill>
            <a:srgbClr val="F07D1F"/>
          </a:solidFill>
          <a:ln w="12700">
            <a:solidFill>
              <a:srgbClr val="F07D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8577" y="4343400"/>
            <a:ext cx="404949" cy="502920"/>
          </a:xfrm>
          <a:prstGeom prst="rect">
            <a:avLst/>
          </a:prstGeom>
          <a:solidFill>
            <a:srgbClr val="F8D71B"/>
          </a:solidFill>
          <a:ln w="12700">
            <a:solidFill>
              <a:srgbClr val="F8D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3526" y="4343400"/>
            <a:ext cx="404949" cy="502920"/>
          </a:xfrm>
          <a:prstGeom prst="rect">
            <a:avLst/>
          </a:prstGeom>
          <a:solidFill>
            <a:srgbClr val="5BAF45"/>
          </a:solidFill>
          <a:ln w="12700">
            <a:solidFill>
              <a:srgbClr val="5BA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8474" y="4343400"/>
            <a:ext cx="404949" cy="502920"/>
          </a:xfrm>
          <a:prstGeom prst="rect">
            <a:avLst/>
          </a:prstGeom>
          <a:solidFill>
            <a:srgbClr val="1386B0"/>
          </a:solidFill>
          <a:ln w="12700">
            <a:solidFill>
              <a:srgbClr val="1386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3423" y="4343400"/>
            <a:ext cx="404949" cy="502920"/>
          </a:xfrm>
          <a:prstGeom prst="rect">
            <a:avLst/>
          </a:prstGeom>
          <a:solidFill>
            <a:srgbClr val="2E3C99"/>
          </a:solidFill>
          <a:ln w="12700">
            <a:solidFill>
              <a:srgbClr val="2E3C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8371" y="4343400"/>
            <a:ext cx="404949" cy="502920"/>
          </a:xfrm>
          <a:prstGeom prst="rect">
            <a:avLst/>
          </a:prstGeom>
          <a:solidFill>
            <a:srgbClr val="6B3C9C"/>
          </a:solidFill>
          <a:ln w="12700">
            <a:solidFill>
              <a:srgbClr val="6B3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343400"/>
            <a:ext cx="2834640" cy="502920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7830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명도</a:t>
            </a:r>
            <a:pPr indent="0" marL="0">
              <a:buNone/>
            </a:pPr>
            <a:r>
              <a:rPr lang="en-US" sz="15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Value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743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색의 밝고 어두운 정도. 흰색에 가까울수록 높고, 검정에 가까울수록 낮아요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4343400"/>
            <a:ext cx="40494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2669" y="4343400"/>
            <a:ext cx="404949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27617" y="4343400"/>
            <a:ext cx="404949" cy="5029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32566" y="4343400"/>
            <a:ext cx="404949" cy="5029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7514" y="4343400"/>
            <a:ext cx="404949" cy="5029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2463" y="4343400"/>
            <a:ext cx="404949" cy="50292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7411" y="4343400"/>
            <a:ext cx="404949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4343400"/>
            <a:ext cx="2834640" cy="502920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높다 (밝다)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낮다 (어둡다)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17830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채도</a:t>
            </a:r>
            <a:pPr indent="0" marL="0">
              <a:buNone/>
            </a:pPr>
            <a:r>
              <a:rPr lang="en-US" sz="15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Chroma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2743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색의 맑고 선명한 정도. 다른 색이 섞일수록 낮아져요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66760" y="4343400"/>
            <a:ext cx="404949" cy="502920"/>
          </a:xfrm>
          <a:prstGeom prst="rect">
            <a:avLst/>
          </a:prstGeom>
          <a:solidFill>
            <a:srgbClr val="E0242E"/>
          </a:solidFill>
          <a:ln w="12700">
            <a:solidFill>
              <a:srgbClr val="E024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1709" y="4343400"/>
            <a:ext cx="404949" cy="502920"/>
          </a:xfrm>
          <a:prstGeom prst="rect">
            <a:avLst/>
          </a:prstGeom>
          <a:solidFill>
            <a:srgbClr val="CF3A41"/>
          </a:solidFill>
          <a:ln w="12700">
            <a:solidFill>
              <a:srgbClr val="CF3A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76657" y="4343400"/>
            <a:ext cx="404949" cy="502920"/>
          </a:xfrm>
          <a:prstGeom prst="rect">
            <a:avLst/>
          </a:prstGeom>
          <a:solidFill>
            <a:srgbClr val="BB5054"/>
          </a:solidFill>
          <a:ln w="12700">
            <a:solidFill>
              <a:srgbClr val="BB50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81606" y="4343400"/>
            <a:ext cx="404949" cy="502920"/>
          </a:xfrm>
          <a:prstGeom prst="rect">
            <a:avLst/>
          </a:prstGeom>
          <a:solidFill>
            <a:srgbClr val="A66467"/>
          </a:solidFill>
          <a:ln w="12700">
            <a:solidFill>
              <a:srgbClr val="A664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86554" y="4343400"/>
            <a:ext cx="404949" cy="502920"/>
          </a:xfrm>
          <a:prstGeom prst="rect">
            <a:avLst/>
          </a:prstGeom>
          <a:solidFill>
            <a:srgbClr val="8F7678"/>
          </a:solidFill>
          <a:ln w="12700">
            <a:solidFill>
              <a:srgbClr val="8F76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91503" y="4343400"/>
            <a:ext cx="404949" cy="502920"/>
          </a:xfrm>
          <a:prstGeom prst="rect">
            <a:avLst/>
          </a:prstGeom>
          <a:solidFill>
            <a:srgbClr val="858080"/>
          </a:solidFill>
          <a:ln w="12700">
            <a:solidFill>
              <a:srgbClr val="858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96451" y="4343400"/>
            <a:ext cx="404949" cy="50292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6760" y="4343400"/>
            <a:ext cx="2834640" cy="502920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6676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높다 (선명)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73836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낮다 (탁함)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게임에서는 채도를 ‘선명함 ↔ 탁함’으로 불러요.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빨강도 이렇게 달라져요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흰색·검정·회색을 섞으면 명도와 채도가 변해요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66360" y="1783080"/>
            <a:ext cx="1828800" cy="1828800"/>
          </a:xfrm>
          <a:prstGeom prst="ellipse">
            <a:avLst/>
          </a:prstGeom>
          <a:solidFill>
            <a:srgbClr val="E0242E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0" y="1783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순색: 채도가 가장 높아요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480560"/>
            <a:ext cx="960120" cy="960120"/>
          </a:xfrm>
          <a:prstGeom prst="ellipse">
            <a:avLst/>
          </a:prstGeom>
          <a:solidFill>
            <a:srgbClr val="F4A3A7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흰색을 섞으면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명도 ↑  채도 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577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밝고 부드러운 파스텔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420624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4480560"/>
            <a:ext cx="960120" cy="960120"/>
          </a:xfrm>
          <a:prstGeom prst="ellipse">
            <a:avLst/>
          </a:prstGeom>
          <a:solidFill>
            <a:srgbClr val="7A141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검정을 섞으면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명도 ↓  채도 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5577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어둡고 깊은 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420624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4480560"/>
            <a:ext cx="960120" cy="960120"/>
          </a:xfrm>
          <a:prstGeom prst="ellipse">
            <a:avLst/>
          </a:prstGeom>
          <a:solidFill>
            <a:srgbClr val="A9676A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회색을 섞으면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채도 ↓↓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5577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탁하고 차분한 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혼색: 두 색을 섞으면 ‘중간 색’이 나와요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빨강과 노랑을 1 : 1로 섞으면 두 색의 중간인 주황이 돼요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737360" cy="1737360"/>
          </a:xfrm>
          <a:prstGeom prst="ellipse">
            <a:avLst/>
          </a:prstGeom>
          <a:solidFill>
            <a:srgbClr val="E0242E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331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1737360" cy="1737360"/>
          </a:xfrm>
          <a:prstGeom prst="ellipse">
            <a:avLst/>
          </a:prstGeom>
          <a:solidFill>
            <a:srgbClr val="F8D71B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920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노랑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331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760720" y="1920240"/>
            <a:ext cx="1737360" cy="1737360"/>
          </a:xfrm>
          <a:prstGeom prst="ellipse">
            <a:avLst/>
          </a:prstGeom>
          <a:solidFill>
            <a:srgbClr val="F07D1F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920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컵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0" y="17830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96596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주황이 될까?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20색상환에서 빨강과 노랑 사이에 주황이 있어요. 두 색을 같은 양만큼 섞으면 그 한가운데 색이 나와요.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89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비율을 바꾸면 중간 색도 움직여요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868680" cy="868680"/>
          </a:xfrm>
          <a:prstGeom prst="ellipse">
            <a:avLst/>
          </a:prstGeom>
          <a:solidFill>
            <a:srgbClr val="EC4A2A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28800" y="4983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2 : 노랑 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394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다홍 쪽 (빨강에 가까움)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26280" y="4937760"/>
            <a:ext cx="868680" cy="868680"/>
          </a:xfrm>
          <a:prstGeom prst="ellipse">
            <a:avLst/>
          </a:prstGeom>
          <a:solidFill>
            <a:srgbClr val="F07D1F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32120" y="4983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1 : 노랑 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5394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 (한가운데)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4937760"/>
            <a:ext cx="868680" cy="868680"/>
          </a:xfrm>
          <a:prstGeom prst="ellipse">
            <a:avLst/>
          </a:prstGeom>
          <a:solidFill>
            <a:srgbClr val="F6A51C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4983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1 : 노랑 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5394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귤색 쪽 (노랑에 가까움)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방법으로  노랑 + 파랑 → 초록,   파랑 + 빨강 → 보라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섞으면 3속성은 어떻게 변할까?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물감을 섞을 때의 변화를 정리해요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1828800"/>
                <a:gridCol w="192024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섞는 것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 속 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흰색을 섞으면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높아진다 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F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낮아진다 ↓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로즈 핑크, 라벤더, 스카이 블루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검정을 섞으면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F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낮아진다 ↓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F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낮아진다 ↓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인디고, 다크 그린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이웃한 두 색을 섞으면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색의 중간 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색의 중간쯤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조금 낮아진다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빨강 + 노랑 → 주황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보색이나 세 원색을 섞으면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색기가 사라진다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F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낮아진다 ↓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F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크게 낮아진다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빨강 : 노랑 : 파랑 = 1 : 1 : 1 → 검정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A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A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물감은 섞을수록 어둡고 탁해져요. 그래서 세 원색을 똑같이 섞으면 검정에 가까워져요.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20색상환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색끼리 차례대로 둥글게 늘어놓은 색의 고리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011680"/>
            <a:ext cx="393192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97480" y="14721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423672" y="158720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다홍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078780" y="19209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98676" y="24408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귤색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932470" y="309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47488" y="3822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노랑연두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932470" y="4548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연두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98676" y="52034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078780" y="57233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423672" y="605718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6172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971288" y="605718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16180" y="57233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6284" y="52034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감청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2490" y="4548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남색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" y="3822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남보라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62490" y="309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6284" y="24408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붉은보라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16180" y="19209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971288" y="158720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연지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60604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보색은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마주 보는 색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20840" y="1783080"/>
            <a:ext cx="4892040" cy="4526280"/>
          </a:xfrm>
          <a:prstGeom prst="roundRect">
            <a:avLst>
              <a:gd name="adj" fmla="val 2424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201168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만들어졌을까?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빨강·노랑·녹색·파랑·보라 5가지 주요색 사이에 중간 색을 넣어 10색, 다시 그 사이를 나누어 20색이 돼요. (먼셀 색상환)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읽을까?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이웃한 색일수록 비슷하고, 멀어질수록 달라져요. 두 색 사이의 색이 바로 두 색을 섞은 중간 색이에요.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마주 보는 색 = 보색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점선으로 이은 빨강–청록, 노랑–남색처럼 서로 정반대에 있는 색이에요.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보색 · 난색 · 한색 · 중성색 · 무채색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색상환을 보면 색의 관계와 느낌을 알 수 있어요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solidFill>
            <a:srgbClr val="E0242E"/>
          </a:solidFill>
          <a:ln w="12700">
            <a:solidFill>
              <a:srgbClr val="E024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057400"/>
            <a:ext cx="384048" cy="384048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768096" cy="384048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보색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색상환에서 마주 보는 색. 나란히 두면 서로 더 선명해 보이고, 섞으면 탁한 무채색에 가까워져요.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57400"/>
            <a:ext cx="384048" cy="384048"/>
          </a:xfrm>
          <a:prstGeom prst="rect">
            <a:avLst/>
          </a:prstGeom>
          <a:solidFill>
            <a:srgbClr val="E0242E"/>
          </a:solidFill>
          <a:ln w="12700">
            <a:solidFill>
              <a:srgbClr val="E024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2057400"/>
            <a:ext cx="384048" cy="384048"/>
          </a:xfrm>
          <a:prstGeom prst="rect">
            <a:avLst/>
          </a:prstGeom>
          <a:solidFill>
            <a:srgbClr val="F07D1F"/>
          </a:solidFill>
          <a:ln w="12700">
            <a:solidFill>
              <a:srgbClr val="F07D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0096" y="2057400"/>
            <a:ext cx="384048" cy="384048"/>
          </a:xfrm>
          <a:prstGeom prst="rect">
            <a:avLst/>
          </a:prstGeom>
          <a:solidFill>
            <a:srgbClr val="F8D71B"/>
          </a:solidFill>
          <a:ln w="12700">
            <a:solidFill>
              <a:srgbClr val="F8D7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057400"/>
            <a:ext cx="1152144" cy="384048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난색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느낌의 색. 빨강·주황·노랑 계열로 가깝고 활발해 보여요.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057400"/>
            <a:ext cx="384048" cy="384048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2057400"/>
            <a:ext cx="384048" cy="384048"/>
          </a:xfrm>
          <a:prstGeom prst="rect">
            <a:avLst/>
          </a:prstGeom>
          <a:solidFill>
            <a:srgbClr val="1A6FC0"/>
          </a:solidFill>
          <a:ln w="12700">
            <a:solidFill>
              <a:srgbClr val="1A6F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9136" y="2057400"/>
            <a:ext cx="384048" cy="384048"/>
          </a:xfrm>
          <a:prstGeom prst="rect">
            <a:avLst/>
          </a:prstGeom>
          <a:solidFill>
            <a:srgbClr val="2E3C99"/>
          </a:solidFill>
          <a:ln w="12700">
            <a:solidFill>
              <a:srgbClr val="2E3C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057400"/>
            <a:ext cx="1152144" cy="384048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한색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차가운 느낌의 색. 청록·파랑·남색 계열로 멀고 차분해 보여요.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389120"/>
            <a:ext cx="384048" cy="384048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7008" y="4389120"/>
            <a:ext cx="384048" cy="384048"/>
          </a:xfrm>
          <a:prstGeom prst="rect">
            <a:avLst/>
          </a:prstGeom>
          <a:solidFill>
            <a:srgbClr val="1E9A4D"/>
          </a:solidFill>
          <a:ln w="12700">
            <a:solidFill>
              <a:srgbClr val="1E9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1056" y="4389120"/>
            <a:ext cx="384048" cy="384048"/>
          </a:xfrm>
          <a:prstGeom prst="rect">
            <a:avLst/>
          </a:prstGeom>
          <a:solidFill>
            <a:srgbClr val="6B3C9C"/>
          </a:solidFill>
          <a:ln w="12700">
            <a:solidFill>
              <a:srgbClr val="6B3C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4389120"/>
            <a:ext cx="384048" cy="384048"/>
          </a:xfrm>
          <a:prstGeom prst="rect">
            <a:avLst/>
          </a:prstGeom>
          <a:solidFill>
            <a:srgbClr val="B03380"/>
          </a:solidFill>
          <a:ln w="12700">
            <a:solidFill>
              <a:srgbClr val="B033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389120"/>
            <a:ext cx="1536192" cy="384048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중성색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349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따뜻하지도 차갑지도 않은 색. 연두·녹색 계열과 보라·자주 계열.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97680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7F3EC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438912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6048" y="4389120"/>
            <a:ext cx="384048" cy="384048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0096" y="4389120"/>
            <a:ext cx="384048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4389120"/>
            <a:ext cx="1152144" cy="384048"/>
          </a:xfrm>
          <a:prstGeom prst="rect">
            <a:avLst/>
          </a:prstGeom>
          <a:ln w="12700">
            <a:solidFill>
              <a:srgbClr val="1F1B1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무채색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5349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흰색·회색·검정. 색상과 채도가 없고 명도만 있어요. 색상이 있는 색은 유채색.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046720" y="4114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2B1D14"/>
          </a:solidFill>
          <a:ln w="12700">
            <a:solidFill>
              <a:srgbClr val="2B1D1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43434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3D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게임에서 찾아봐요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스테인드글라스 창에서 난색과 한색이 어디에 쓰였는지, 보색끼리 나란히 놓인 곳은 어디인지 살펴보세요.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게임으로 확인해요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게임을 마친 뒤 활동지 4번에 답을 적어 보세요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D4A52A"/>
          </a:solidFill>
          <a:ln w="12700">
            <a:solidFill>
              <a:srgbClr val="D4A5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흰색을 섞은 파스텔 색은 명도가 ( 높아진다 / 낮아진다 ), 채도는 ( 높아진다 / 낮아진다 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02920" cy="502920"/>
          </a:xfrm>
          <a:prstGeom prst="ellipse">
            <a:avLst/>
          </a:prstGeom>
          <a:solidFill>
            <a:srgbClr val="D4A52A"/>
          </a:solidFill>
          <a:ln w="12700">
            <a:solidFill>
              <a:srgbClr val="D4A5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91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: 노랑 : 파랑을 1 : 1 : 1로 섞으면 (      )이 된다. 이 색은 ( 유채색 / 무채색 )이다.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502920" cy="502920"/>
          </a:xfrm>
          <a:prstGeom prst="ellipse">
            <a:avLst/>
          </a:prstGeom>
          <a:solidFill>
            <a:srgbClr val="D4A52A"/>
          </a:solidFill>
          <a:ln w="12700">
            <a:solidFill>
              <a:srgbClr val="D4A5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7530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20색상환에서 주황의 보색은 (      ), 연두의 보색은 (      )이다.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502920" cy="502920"/>
          </a:xfrm>
          <a:prstGeom prst="ellipse">
            <a:avLst/>
          </a:prstGeom>
          <a:solidFill>
            <a:srgbClr val="D4A52A"/>
          </a:solidFill>
          <a:ln w="12700">
            <a:solidFill>
              <a:srgbClr val="D4A5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7141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색 중 가장 탁한(채도가 낮은) 색과 그 색을 만든 방법은?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413248"/>
            <a:ext cx="502920" cy="502920"/>
          </a:xfrm>
          <a:prstGeom prst="ellipse">
            <a:avLst/>
          </a:prstGeom>
          <a:solidFill>
            <a:srgbClr val="D4A52A"/>
          </a:solidFill>
          <a:ln w="12700">
            <a:solidFill>
              <a:srgbClr val="D4A5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6752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스페셜 창에서 난색으로 칠한 곳과 한색으로 칠한 곳은 느낌이 어떻게 달랐나요?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색의 3속성과 색의 섞임</dc:title>
  <dc:subject>PptxGenJS Presentation</dc:subject>
  <dc:creator>PptxGenJS</dc:creator>
  <cp:lastModifiedBy>PptxGenJS</cp:lastModifiedBy>
  <cp:revision>1</cp:revision>
  <dcterms:created xsi:type="dcterms:W3CDTF">2026-09-28T00:32:09Z</dcterms:created>
  <dcterms:modified xsi:type="dcterms:W3CDTF">2026-09-28T00:32:09Z</dcterms:modified>
</cp:coreProperties>
</file>