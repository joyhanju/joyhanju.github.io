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수업을 시작할 때 세 가지 목표를 함께 읽어요. 마지막 차시 돌아보기에서 다시 이 장으로 돌아와 스스로 점검해도 좋아요.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버스 문 앞에서 요금을 받고, 손님을 밀어 넣고, 버스 옆을 두드리며 "오라이!"를 외쳤어요. 1980년대 후반 자동문과 하차 벨이 생기면서 사라졌어요. 사람과 함께 그 목소리도 사라졌다는 점을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다듬잇돌 위에 옷감을 올리고 방망이 두 개로 두드려 구김을 펴던 일이에요. 학생들에게 어떤 소리였을지 책상을 두드려 흉내 내 보게 해도 좋아요.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물을 길어 올리기 전에 위에 한 바가지 부어 주던 물을 '마중물'이라고 불렀어요. 펌프는 사라졌지만 말은 남아 있다는 이야기를 함께 들려주세요.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학생들에게 전화번호를 몇 개나 외우고 있는지 물어보세요. 예전에는 친구 집 전화번호를 외워서 걸었어요.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지금은 '저장' 아이콘 모양으로만 남아 있어요. 학생들이 매일 누르는 저장 버튼의 그림이 바로 이것이라는 걸 알려 주면 반응이 좋아요.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가지를 빠르게 맞혀 보는 장면이에요. 학생들이 가족에게 들어 본 '사라진 것'을 더 이야기해 보게 해도 좋아요.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환경 변화로 사라질 수 있는 일상을 떠올리게 하는 장면이에요. 멸종 동물보다 소리, 계절, 놀이, 음식처럼 학생들의 일상 쪽으로 이끌어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모둠마다 전시실 하나를 맡아요. 네 전시실 말고 모둠이 새로운 전시실을 만들어도 좋아요.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블랙박스 프로젝트의 '사각형은 최대 4개'처럼, 이 수업의 규칙도 하나예요. 너무 익숙해서 설명해 본 적 없는 것을, 처음 보는 사람에게 보여 주듯 표현해야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모둠마다 이 중 하나(또는 둘)를 골라 표현 방법으로 써요. 다음 장부터 하나씩 예시를 보여 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눈사람을 직접 만들지 않고 남은 흔적만 보여 주는 작품이에요. 학생들에게 '여기 무엇이 있었을까?'를 먼저 물어보세요. 없는 것을 있는 것처럼 느끼게 하는 것이 '흔적' 방법의 힘이에요. 물웅덩이는 투명 글루나 목공풀을 얇게 펴 말리면 만들 수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'부재' 방법을 쓴 예시예요. 패딩을 여러 벌 만들되 색을 조금씩 다르게 해서, 오래 걸려 있던 옷처럼 보이게 했어요. 학생들에게 '이 옷장에서 사라진 것은 무엇일까?'를 먼저 물어보세요. 답은 패딩이 아니라 겨울이에요.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학생들에게 먼저 '어느 쪽이 더 시끄러울까?'를 물어보세요. 소리는 없지만 공의 개수와 색만으로 소리가 들리는 것처럼 느껴진다면 번역이 성공한 거예요. 공의 크기를 웃음의 크기로 정하는 등 규칙을 하나 더 만들어도 좋아요.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교실 불을 끄고 보여 주면 효과가 커요. 별이 가득한 하늘 옆에 같은 하늘을 하나 더 만들어 구멍을 몇 개만 뚫고, 창문에 불이 켜진 도시를 넣으면 2100년과의 대비가 더 분명해져요.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'표본' 방법을 쓴 예시예요. 꿀벌과 벌집을 한 가지 재료가 아니라 클레이, 달걀판, 뽁뽁이, 골판지처럼 여러 재료로 만들었어요. 도슨트가 '꿀벌이 사라지고 있다'는 신문 기사를 찾아 활동지에 발췌하고, 작품 옆에 함께 전시했어요. 기사를 발췌할 때는 신문 이름과 날짜를 꼭 함께 적게 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'도구' 방법은 물건은 남았지만 그 물건을 쓰던 경험이 사라진 것을 보여 줘요. 이름표에 2100년 큐레이터가 용도를 잘못 추측한 설명을 쓰게 하면 아이들이 가장 즐거워해요. 예: '썰매 — 용도 불명. 미끄러운 바닥 위에서 무언가를 실어 나르던 운반 도구로 추정.'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것은 비어 있는 채집통이에요. 학생들에게 '이 통에는 원래 무엇이 들어 있었을까?'를 물어보세요. 관찰 노트도 한 줄도 쓰이지 않은 채 남아 있다는 점을 함께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'06 도구' 방법을 쓴 작품이에요. 기후 변화로 곡물이 줄어 식량 알약이 나왔다는 설정으로, 사라진 것은 그릇이 아니라 '함께 먹는 시간'이에요. 이름표는 2100년 큐레이터가 쓴 글이라, 오늘의 평범한 급식 시간을 처음 보는 사람에게 설명하듯 낯설게 쓰는 것이 핵심이에요. 마지막 줄에 모둠원 이름을 크레딧처럼 넣어요.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작품이 '흔적'만 보여 주기 때문에, 이름표가 사라진 것을 설명하는 역할을 해요. 이름표를 읽기 전과 읽은 뒤 작품이 어떻게 다르게 보이는지 학생들에게 물어보세요.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재료를 고른 이유도 이름표에 쓰게 해요. 버려진 물건으로 사라진 것을 만들면 '왜 사라졌는지'가 재료로 드러나요.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2차시 끝에 역할을 나눠요. 3명 모둠이면 기록관과 도슨트를 한 명이 맡아요. 상자가 먼저 끝나면 전시 디자이너는 받침대와 배경을 맡아요.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관람객은 포스트잇에 질문을 써서 궁금한 유물 옆에 붙이고, 도슨트와 각 역할이 자기 일에 대해 답해요. ("이건 어떻게 만들었어요?" → 유물 복원가)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11457432" cy="5943600"/>
          </a:xfrm>
          <a:prstGeom prst="rect">
            <a:avLst/>
          </a:prstGeom>
          <a:ln w="15875">
            <a:solidFill>
              <a:srgbClr val="2E9D5B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11457432" cy="5943600"/>
          </a:xfrm>
          <a:prstGeom prst="rect">
            <a:avLst/>
          </a:prstGeom>
          <a:ln w="15875">
            <a:solidFill>
              <a:srgbClr val="2E9D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2468880" cy="6400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/tmp/claude-0/-home-claude/ff229c61-5c86-5af0-9ab6-962640fc7866/scratchpad/build/img/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54864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246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그린박스 프로젝트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69848" y="548640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 Box Project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11457432" cy="5943600"/>
          </a:xfrm>
          <a:prstGeom prst="rect">
            <a:avLst/>
          </a:prstGeom>
          <a:ln w="15875">
            <a:solidFill>
              <a:srgbClr val="2E9D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2468880" cy="6400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/tmp/claude-0/-home-claude/ff229c61-5c86-5af0-9ab6-962640fc7866/scratchpad/build/img/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9184"/>
            <a:ext cx="54864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2416" y="246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그린박스 프로젝트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69848" y="548640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 Box Project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ff229c61-5c86-5af0-9ab6-962640fc7866/scratchpad/build/img/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325880"/>
            <a:ext cx="1737360" cy="13030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7889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그린박스 프로젝트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 Box Project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57200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2100년 마지막 것들의 박물관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목표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22960" y="1874520"/>
            <a:ext cx="3337560" cy="384048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5" name="Shape 2"/>
          <p:cNvSpPr/>
          <p:nvPr/>
        </p:nvSpPr>
        <p:spPr>
          <a:xfrm>
            <a:off x="1892808" y="2240280"/>
            <a:ext cx="1188720" cy="118872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6" name="Image 0" descr="/tmp/claude-0/-home-claude/ff229c61-5c86-5af0-9ab6-962640fc7866/scratchpad/build/img/leaf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4326" y="2501798"/>
            <a:ext cx="665683" cy="66568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3611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3977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사라져 가는 것 발견하기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960120" y="4572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기후 변화로 사라질 수 있는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일상을 찾고 그 의미를 생각한다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416552" y="1874520"/>
            <a:ext cx="3337560" cy="384048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11" name="Shape 7"/>
          <p:cNvSpPr/>
          <p:nvPr/>
        </p:nvSpPr>
        <p:spPr>
          <a:xfrm>
            <a:off x="5486400" y="2240280"/>
            <a:ext cx="1188720" cy="118872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12" name="Image 1" descr="/tmp/claude-0/-home-claude/ff229c61-5c86-5af0-9ab6-962640fc7866/scratchpad/build/img/brus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918" y="2501798"/>
            <a:ext cx="665683" cy="66568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416552" y="3611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507992" y="3977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않는 것 표현하기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553712" y="4572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소리, 계절, 감각처럼 보이지 않는 것을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방법과 재료로 시각화한다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010144" y="1874520"/>
            <a:ext cx="3337560" cy="384048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17" name="Shape 12"/>
          <p:cNvSpPr/>
          <p:nvPr/>
        </p:nvSpPr>
        <p:spPr>
          <a:xfrm>
            <a:off x="9079992" y="2240280"/>
            <a:ext cx="1188720" cy="118872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18" name="Image 2" descr="/tmp/claude-0/-home-claude/ff229c61-5c86-5af0-9ab6-962640fc7866/scratchpad/build/img/box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510" y="2501798"/>
            <a:ext cx="665683" cy="66568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010144" y="3611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101584" y="3977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전시하기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8147304" y="4572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모둠이 역할을 나눠 전시를 기획하고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이름표와 설명으로 작품을 소개한다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50년 전에는 있었지만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없는 것들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0515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사람은 무슨 일을 했을까요?</a:t>
            </a:r>
            <a:endParaRPr lang="en-US" sz="2400" dirty="0"/>
          </a:p>
        </p:txBody>
      </p:sp>
      <p:pic>
        <p:nvPicPr>
          <p:cNvPr id="4" name="Image 0" descr="/tmp/claude-0/-home-claude/ff229c61-5c86-5af0-9ab6-962640fc7866/scratchpad/build/img/p_bu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8116" y="1783080"/>
            <a:ext cx="2121408" cy="3154680"/>
          </a:xfrm>
          <a:prstGeom prst="rect">
            <a:avLst/>
          </a:prstGeom>
        </p:spPr>
      </p:pic>
      <p:pic>
        <p:nvPicPr>
          <p:cNvPr id="5" name="Image 1" descr="/tmp/claude-0/-home-claude/ff229c61-5c86-5af0-9ab6-962640fc7866/scratchpad/build/img/p_bu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844" y="1783080"/>
            <a:ext cx="2459736" cy="315468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 안내양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"오라이!" 하며 버스 출발을 알리던 목소리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0515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어떤 소리를 냈을까요?</a:t>
            </a:r>
            <a:endParaRPr lang="en-US" sz="2400" dirty="0"/>
          </a:p>
        </p:txBody>
      </p:sp>
      <p:pic>
        <p:nvPicPr>
          <p:cNvPr id="4" name="Image 0" descr="/tmp/claude-0/-home-claude/ff229c61-5c86-5af0-9ab6-962640fc7866/scratchpad/build/img/p_dadeu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2768" y="1860804"/>
            <a:ext cx="3566160" cy="29992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다듬이질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밤마다 들리던 "똑딱똑딱" 방망이 소리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0515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무엇일까요?</a:t>
            </a:r>
            <a:endParaRPr lang="en-US" sz="2400" dirty="0"/>
          </a:p>
        </p:txBody>
      </p:sp>
      <p:pic>
        <p:nvPicPr>
          <p:cNvPr id="4" name="Image 0" descr="/tmp/claude-0/-home-claude/ff229c61-5c86-5af0-9ab6-962640fc7866/scratchpad/build/img/p_pu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2768" y="1847088"/>
            <a:ext cx="3566160" cy="302666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물 펌프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손잡이를 눌러 땅속 물을 길어 올리던 펌프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0515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무엇일까요?</a:t>
            </a:r>
            <a:endParaRPr lang="en-US" sz="2400" dirty="0"/>
          </a:p>
        </p:txBody>
      </p:sp>
      <p:pic>
        <p:nvPicPr>
          <p:cNvPr id="4" name="Image 0" descr="/tmp/claude-0/-home-claude/ff229c61-5c86-5af0-9ab6-962640fc7866/scratchpad/build/img/p_phon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1328" y="1851660"/>
            <a:ext cx="3749040" cy="3017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다이얼 전화기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번호판을 돌려 걸던 집 전화기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0515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무엇일까요?</a:t>
            </a:r>
            <a:endParaRPr lang="en-US" sz="2400" dirty="0"/>
          </a:p>
        </p:txBody>
      </p:sp>
      <p:pic>
        <p:nvPicPr>
          <p:cNvPr id="4" name="Image 0" descr="/tmp/claude-0/-home-claude/ff229c61-5c86-5af0-9ab6-962640fc7866/scratchpad/build/img/p_flopp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8196" y="1851660"/>
            <a:ext cx="3575304" cy="3017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플로피 디스크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 파일을 저장하던 디스크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0515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있어요</a:t>
            </a:r>
            <a:endParaRPr lang="en-US" sz="2400" dirty="0"/>
          </a:p>
        </p:txBody>
      </p:sp>
      <p:pic>
        <p:nvPicPr>
          <p:cNvPr id="4" name="Image 0" descr="/tmp/claude-0/-home-claude/ff229c61-5c86-5af0-9ab6-962640fc7866/scratchpad/build/img/phone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03120"/>
            <a:ext cx="2286000" cy="2286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05256" y="4663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공중전화 카드</a:t>
            </a:r>
            <a:endParaRPr lang="en-US" sz="2000" dirty="0"/>
          </a:p>
        </p:txBody>
      </p:sp>
      <p:pic>
        <p:nvPicPr>
          <p:cNvPr id="6" name="Image 1" descr="/tmp/claude-0/-home-claude/ff229c61-5c86-5af0-9ab6-962640fc7866/scratchpad/build/img/millst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2103120"/>
            <a:ext cx="2286000" cy="22860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511296" y="4663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맷돌</a:t>
            </a:r>
            <a:endParaRPr lang="en-US" sz="2000" dirty="0"/>
          </a:p>
        </p:txBody>
      </p:sp>
      <p:pic>
        <p:nvPicPr>
          <p:cNvPr id="8" name="Image 2" descr="/tmp/claude-0/-home-claude/ff229c61-5c86-5af0-9ab6-962640fc7866/scratchpad/build/img/casset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03120"/>
            <a:ext cx="2286000" cy="22860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117336" y="4663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카세트테이프</a:t>
            </a:r>
            <a:endParaRPr lang="en-US" sz="2000" dirty="0"/>
          </a:p>
        </p:txBody>
      </p:sp>
      <p:pic>
        <p:nvPicPr>
          <p:cNvPr id="10" name="Image 3" descr="/tmp/claude-0/-home-claude/ff229c61-5c86-5af0-9ab6-962640fc7866/scratchpad/build/img/pag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36" y="2103120"/>
            <a:ext cx="2286000" cy="22860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8723376" y="4663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삐삐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박물관에서만 볼 수 있어요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031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그렇다면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미래의 박물관에는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있을까요?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01168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2100</a:t>
            </a:r>
            <a:pPr algn="ctr" indent="0" marL="0">
              <a:buNone/>
            </a:pPr>
            <a:r>
              <a:rPr lang="en-US" sz="4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년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21세기의 마지막 해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아이들의 웃음, 놀이터에서 뛰는 소리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여름의 매미 소리, 첫눈, 급식 시간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4747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사라질지도 모릅니다.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전시실을 맡을까요?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417320" y="2194560"/>
            <a:ext cx="1463040" cy="146304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5" name="Image 0" descr="/tmp/claude-0/-home-claude/ff229c61-5c86-5af0-9ab6-962640fc7866/scratchpad/build/img/soun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189" y="2516429"/>
            <a:ext cx="819302" cy="8193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6012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소리관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960120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웃음 · 매미 소리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050792" y="2194560"/>
            <a:ext cx="1463040" cy="146304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9" name="Image 1" descr="/tmp/claude-0/-home-claude/ff229c61-5c86-5af0-9ab6-962640fc7866/scratchpad/build/img/leaf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661" y="2516429"/>
            <a:ext cx="819302" cy="8193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593592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계절관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3593592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첫눈 · 단풍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684264" y="2194560"/>
            <a:ext cx="1463040" cy="146304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13" name="Image 2" descr="/tmp/claude-0/-home-claude/ff229c61-5c86-5af0-9ab6-962640fc7866/scratchpad/build/img/sli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133" y="2516429"/>
            <a:ext cx="819302" cy="8193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227064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놀이관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6227064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 · 개울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9317736" y="2194560"/>
            <a:ext cx="1463040" cy="146304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17" name="Image 3" descr="/tmp/claude-0/-home-claude/ff229c61-5c86-5af0-9ab6-962640fc7866/scratchpad/build/img/ric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605" y="2516429"/>
            <a:ext cx="819302" cy="8193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860536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음식관</a:t>
            </a:r>
            <a:endParaRPr lang="en-US" sz="2200" dirty="0"/>
          </a:p>
        </p:txBody>
      </p:sp>
      <p:sp>
        <p:nvSpPr>
          <p:cNvPr id="19" name="Text 12"/>
          <p:cNvSpPr txBox="1"/>
          <p:nvPr/>
        </p:nvSpPr>
        <p:spPr>
          <a:xfrm>
            <a:off x="8860536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· 급식 시간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914400" y="516636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모둠만의 전시실을 만들어도 좋아요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전시실에 소리, 물건 등 여러 가지를 함께 전시해도 좋아요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91840" y="2514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6583680" y="2514600"/>
            <a:ext cx="1828800" cy="1828800"/>
          </a:xfrm>
          <a:prstGeom prst="rect">
            <a:avLst/>
          </a:prstGeom>
          <a:solidFill>
            <a:srgbClr val="2E9D5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031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초록은 지금 우리 곁에 살아 있는 것들의 색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8346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마지막 하나를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 상자에 보관합니다.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 똑같은 그린 박스가 주어집니다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965960"/>
            <a:ext cx="4754880" cy="3840480"/>
          </a:xfrm>
          <a:prstGeom prst="rect">
            <a:avLst/>
          </a:prstGeom>
          <a:solidFill>
            <a:srgbClr val="E7F5EC"/>
          </a:solidFill>
          <a:ln/>
        </p:spPr>
      </p:sp>
      <p:pic>
        <p:nvPicPr>
          <p:cNvPr id="4" name="Image 0" descr="/tmp/claude-0/-home-claude/ff229c61-5c86-5af0-9ab6-962640fc7866/scratchpad/build/img/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606040"/>
            <a:ext cx="3291840" cy="2468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2240280"/>
            <a:ext cx="548640" cy="548640"/>
          </a:xfrm>
          <a:prstGeom prst="ellipse">
            <a:avLst/>
          </a:prstGeom>
          <a:solidFill>
            <a:srgbClr val="2E9D5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1264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2194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상자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25877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모둠마다 똑같은 초록 상자 하나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26480" y="3429000"/>
            <a:ext cx="548640" cy="548640"/>
          </a:xfrm>
          <a:prstGeom prst="ellipse">
            <a:avLst/>
          </a:prstGeom>
          <a:solidFill>
            <a:srgbClr val="2E9D5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12648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3383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것 하나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37764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2100년에는 사라진 것을 하나 담아요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26480" y="4617720"/>
            <a:ext cx="548640" cy="548640"/>
          </a:xfrm>
          <a:prstGeom prst="ellipse">
            <a:avLst/>
          </a:prstGeom>
          <a:solidFill>
            <a:srgbClr val="2E9D5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12648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4572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이름표 하나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903720" y="4965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유물마다 박물관 이름표를 붙여요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21031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규칙은 단 하나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274320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2100년 사람들은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이것을 한 번도 본 적이 없다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않는 것은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상자에 담을까요?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가지 방법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22960" y="1874520"/>
            <a:ext cx="3337560" cy="182880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5" name="Shape 2"/>
          <p:cNvSpPr/>
          <p:nvPr/>
        </p:nvSpPr>
        <p:spPr>
          <a:xfrm>
            <a:off x="1097280" y="2331720"/>
            <a:ext cx="914400" cy="91440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6" name="Image 0" descr="/tmp/claude-0/-home-claude/ff229c61-5c86-5af0-9ab6-962640fc7866/scratchpad/build/img/ja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532888"/>
            <a:ext cx="512064" cy="51206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24028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224028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담기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224028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병이나 그릇에 가두기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416552" y="1874520"/>
            <a:ext cx="3337560" cy="182880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11" name="Shape 7"/>
          <p:cNvSpPr/>
          <p:nvPr/>
        </p:nvSpPr>
        <p:spPr>
          <a:xfrm>
            <a:off x="4690872" y="2331720"/>
            <a:ext cx="914400" cy="91440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12" name="Image 1" descr="/tmp/claude-0/-home-claude/ff229c61-5c86-5af0-9ab6-962640fc7866/scratchpad/build/img/foo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532888"/>
            <a:ext cx="512064" cy="5120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833872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5833872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흔적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5833872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남겨진 자국 보여주기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10144" y="1874520"/>
            <a:ext cx="3337560" cy="182880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17" name="Shape 12"/>
          <p:cNvSpPr/>
          <p:nvPr/>
        </p:nvSpPr>
        <p:spPr>
          <a:xfrm>
            <a:off x="8284464" y="2331720"/>
            <a:ext cx="914400" cy="91440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18" name="Image 2" descr="/tmp/claude-0/-home-claude/ff229c61-5c86-5af0-9ab6-962640fc7866/scratchpad/build/img/sw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532888"/>
            <a:ext cx="512064" cy="5120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427464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9427464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부재</a:t>
            </a:r>
            <a:endParaRPr lang="en-US" sz="2400" dirty="0"/>
          </a:p>
        </p:txBody>
      </p:sp>
      <p:sp>
        <p:nvSpPr>
          <p:cNvPr id="21" name="Text 15"/>
          <p:cNvSpPr txBox="1"/>
          <p:nvPr/>
        </p:nvSpPr>
        <p:spPr>
          <a:xfrm>
            <a:off x="9427464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빈자리 보여주기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22960" y="3977640"/>
            <a:ext cx="3337560" cy="182880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23" name="Shape 17"/>
          <p:cNvSpPr/>
          <p:nvPr/>
        </p:nvSpPr>
        <p:spPr>
          <a:xfrm>
            <a:off x="1097280" y="4434840"/>
            <a:ext cx="914400" cy="91440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24" name="Image 3" descr="/tmp/claude-0/-home-claude/ff229c61-5c86-5af0-9ab6-962640fc7866/scratchpad/build/img/wav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636008"/>
            <a:ext cx="512064" cy="51206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2240280" y="4297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2240280" y="4617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번역</a:t>
            </a:r>
            <a:endParaRPr lang="en-US" sz="2400" dirty="0"/>
          </a:p>
        </p:txBody>
      </p:sp>
      <p:sp>
        <p:nvSpPr>
          <p:cNvPr id="27" name="Text 20"/>
          <p:cNvSpPr txBox="1"/>
          <p:nvPr/>
        </p:nvSpPr>
        <p:spPr>
          <a:xfrm>
            <a:off x="2240280" y="5120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소리와 느낌을 형태로 바꾸기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416552" y="3977640"/>
            <a:ext cx="3337560" cy="182880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29" name="Shape 22"/>
          <p:cNvSpPr/>
          <p:nvPr/>
        </p:nvSpPr>
        <p:spPr>
          <a:xfrm>
            <a:off x="4690872" y="4434840"/>
            <a:ext cx="914400" cy="91440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30" name="Image 4" descr="/tmp/claude-0/-home-claude/ff229c61-5c86-5af0-9ab6-962640fc7866/scratchpad/build/img/butterfly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636008"/>
            <a:ext cx="512064" cy="51206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833872" y="4297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5833872" y="4617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</a:t>
            </a:r>
            <a:endParaRPr lang="en-US" sz="2400" dirty="0"/>
          </a:p>
        </p:txBody>
      </p:sp>
      <p:sp>
        <p:nvSpPr>
          <p:cNvPr id="33" name="Text 25"/>
          <p:cNvSpPr txBox="1"/>
          <p:nvPr/>
        </p:nvSpPr>
        <p:spPr>
          <a:xfrm>
            <a:off x="5833872" y="5120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곤충 표본처럼 박제하기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8010144" y="3977640"/>
            <a:ext cx="3337560" cy="182880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35" name="Shape 27"/>
          <p:cNvSpPr/>
          <p:nvPr/>
        </p:nvSpPr>
        <p:spPr>
          <a:xfrm>
            <a:off x="8284464" y="4434840"/>
            <a:ext cx="914400" cy="91440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36" name="Image 5" descr="/tmp/claude-0/-home-claude/ff229c61-5c86-5af0-9ab6-962640fc7866/scratchpad/build/img/ne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636008"/>
            <a:ext cx="512064" cy="51206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427464" y="4297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9427464" y="4617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</a:t>
            </a:r>
            <a:endParaRPr lang="en-US" sz="2400" dirty="0"/>
          </a:p>
        </p:txBody>
      </p:sp>
      <p:sp>
        <p:nvSpPr>
          <p:cNvPr id="39" name="Text 30"/>
          <p:cNvSpPr txBox="1"/>
          <p:nvPr/>
        </p:nvSpPr>
        <p:spPr>
          <a:xfrm>
            <a:off x="9427464" y="5120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그것을 즐기던 물건 남기기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1828800"/>
            <a:ext cx="3017520" cy="301752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3" name="Image 0" descr="/tmp/claude-0/-home-claude/ff229c61-5c86-5af0-9ab6-962640fc7866/scratchpad/build/img/ja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894" y="2492654"/>
            <a:ext cx="1689811" cy="168981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16002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23317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담기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3154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병이나 그릇에 가두기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120640" y="3931920"/>
            <a:ext cx="6035040" cy="91440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4924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아이들의 웃음</a:t>
            </a:r>
            <a:pPr indent="0" marL="0">
              <a:buNone/>
            </a:pPr>
            <a:r>
              <a:rPr lang="en-US" sz="1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  </a:t>
            </a:r>
            <a:pPr indent="0" marL="0">
              <a:buNone/>
            </a:pPr>
            <a:r>
              <a:rPr lang="en-US" sz="1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유리병에 담긴 마지막 웃음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5029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작가 · 마르셀 뒤샹 「파리의 공기 50cc」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1828800"/>
            <a:ext cx="3017520" cy="301752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3" name="Image 0" descr="/tmp/claude-0/-home-claude/ff229c61-5c86-5af0-9ab6-962640fc7866/scratchpad/build/img/foo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894" y="2492654"/>
            <a:ext cx="1689811" cy="168981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16002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23317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흔적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3154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남겨진 자국 보여주기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120640" y="3931920"/>
            <a:ext cx="6035040" cy="91440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4924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매미 소리</a:t>
            </a:r>
            <a:pPr indent="0" marL="0">
              <a:buNone/>
            </a:pPr>
            <a:r>
              <a:rPr lang="en-US" sz="1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  </a:t>
            </a:r>
            <a:pPr indent="0" marL="0">
              <a:buNone/>
            </a:pPr>
            <a:r>
              <a:rPr lang="en-US" sz="1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나무에 붙은 매미 허물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1828800"/>
            <a:ext cx="3017520" cy="301752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3" name="Image 0" descr="/tmp/claude-0/-home-claude/ff229c61-5c86-5af0-9ab6-962640fc7866/scratchpad/build/img/sw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894" y="2492654"/>
            <a:ext cx="1689811" cy="168981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16002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23317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부재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3154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빈자리 보여주기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120640" y="3931920"/>
            <a:ext cx="6035040" cy="91440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4924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뛰는 소리</a:t>
            </a:r>
            <a:pPr indent="0" marL="0">
              <a:buNone/>
            </a:pPr>
            <a:r>
              <a:rPr lang="en-US" sz="1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  </a:t>
            </a:r>
            <a:pPr indent="0" marL="0">
              <a:buNone/>
            </a:pPr>
            <a:r>
              <a:rPr lang="en-US" sz="1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없는 빈 그네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5029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작가 · 크리스티앙 볼탄스키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1828800"/>
            <a:ext cx="3017520" cy="301752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3" name="Image 0" descr="/tmp/claude-0/-home-claude/ff229c61-5c86-5af0-9ab6-962640fc7866/scratchpad/build/img/wav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894" y="2492654"/>
            <a:ext cx="1689811" cy="168981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16002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23317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번역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3154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소리와 느낌을 형태로 바꾸기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120640" y="3931920"/>
            <a:ext cx="6035040" cy="91440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4924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매미 소리</a:t>
            </a:r>
            <a:pPr indent="0" marL="0">
              <a:buNone/>
            </a:pPr>
            <a:r>
              <a:rPr lang="en-US" sz="1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  </a:t>
            </a:r>
            <a:pPr indent="0" marL="0">
              <a:buNone/>
            </a:pPr>
            <a:r>
              <a:rPr lang="en-US" sz="1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나무를 감고 오르는 동그라미 철사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5029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블랙박스 프로젝트에서 해 봤어요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1828800"/>
            <a:ext cx="3017520" cy="301752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3" name="Image 0" descr="/tmp/claude-0/-home-claude/ff229c61-5c86-5af0-9ab6-962640fc7866/scratchpad/build/img/butterfl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894" y="2492654"/>
            <a:ext cx="1689811" cy="168981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16002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23317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3154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곤충 표본처럼 박제하기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120640" y="3931920"/>
            <a:ext cx="6035040" cy="91440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4924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계절감</a:t>
            </a:r>
            <a:pPr indent="0" marL="0">
              <a:buNone/>
            </a:pPr>
            <a:r>
              <a:rPr lang="en-US" sz="1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  </a:t>
            </a:r>
            <a:pPr indent="0" marL="0">
              <a:buNone/>
            </a:pPr>
            <a:r>
              <a:rPr lang="en-US" sz="1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칸 상자 속 봄 · 여름 · 가을 · 겨울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1828800"/>
            <a:ext cx="3017520" cy="301752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3" name="Image 0" descr="/tmp/claude-0/-home-claude/ff229c61-5c86-5af0-9ab6-962640fc7866/scratchpad/build/img/n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894" y="2492654"/>
            <a:ext cx="1689811" cy="168981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16002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23317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3154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그것을 즐기던 물건 남기기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120640" y="3931920"/>
            <a:ext cx="6035040" cy="91440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4924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 시간</a:t>
            </a:r>
            <a:pPr indent="0" marL="0">
              <a:buNone/>
            </a:pPr>
            <a:r>
              <a:rPr lang="en-US" sz="1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  </a:t>
            </a:r>
            <a:pPr indent="0" marL="0">
              <a:buNone/>
            </a:pPr>
            <a:r>
              <a:rPr lang="en-US" sz="1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숟가락과 식판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claude/ff229c61-5c86-5af0-9ab6-962640fc7866/scratchpad/build/img/ex_snow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5852160" cy="316382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94944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작품 예시 · 계절관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6949440" y="1874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눈사람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6949440" y="2743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E9D5B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949440" y="2743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흔적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33375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눈사람은 녹아 사라지고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눈, 코, 목도리만 남았습니다.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4251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2100년에는 눈사람을 만들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눈이 내리지 않습니다.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949440" y="5074920"/>
            <a:ext cx="4480560" cy="41148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086600" y="5074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큐레이터 메모  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 불명 · 물웅덩이 옆 장식품 모음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949440" y="5623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 투명 글루, 지점토, 털실, 나뭇가지, 솜, 종이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claude/ff229c61-5c86-5af0-9ab6-962640fc7866/scratchpad/build/img/ex_wardr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5394960" cy="39593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94944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작품 예시 · 계절관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6949440" y="1874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겨울옷 옷장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6949440" y="2743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E9D5B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949440" y="2743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부재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33375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기후 온난화로 겨울이 사라졌습니다.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패딩은 필요 없어졌습니다.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4251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옷장에는 한 번도 입지 않은 패딩만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나란히 걸려 있습니다.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949440" y="5074920"/>
            <a:ext cx="4480560" cy="41148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086600" y="5074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큐레이터 메모  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패딩 · 용도 불명, 휴대용 이불로 추정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949440" y="5623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 초록 종이 상자, 네이비 색상지, 나무 꼬치, 철사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claude/ff229c61-5c86-5af0-9ab6-962640fc7866/scratchpad/build/img/ex_play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40280"/>
            <a:ext cx="5852160" cy="29809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94944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작품 예시 · 놀이관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6949440" y="1874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놀이터의 웃음소리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6949440" y="2743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E9D5B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949440" y="2743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번역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33375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아이들의 웃음소리를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통통 튀는 공으로 번역했습니다.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4251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2100년의 놀이터에는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빛바랜 공 하나만 남았습니다.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949440" y="5074920"/>
            <a:ext cx="4480560" cy="41148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086600" y="5074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번역 규칙  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 하나 = 웃음소리 하나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949440" y="5623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 스티로폼 공, 방울 솜, 구슬, 철사, 나무 꼬치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claude/ff229c61-5c86-5af0-9ab6-962640fc7866/scratchpad/build/img/ex_st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5513832" cy="4114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94944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작품 예시 · 밤하늘관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6949440" y="1874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별밤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6949440" y="2743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E9D5B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949440" y="2743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번역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33375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바늘구멍마다 빛이 새어 나와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별이 됩니다.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4251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 불빛에 가려 사라진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별이 가득한 밤하늘을 보존했습니다.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949440" y="5074920"/>
            <a:ext cx="4480560" cy="41148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086600" y="5074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번역 규칙  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바늘구멍 하나 = 별 하나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949440" y="5623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 네이비 색상지, 검은 색상지, 바늘, 작은 LED 조명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claude/ff229c61-5c86-5af0-9ab6-962640fc7866/scratchpad/build/img/ex_be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5852160" cy="31455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94944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작품 예시 · 생물관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6949440" y="1874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꿀벌 표본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6949440" y="2743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E9D5B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949440" y="2743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표본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33375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꿀벌이 사라지고 있습니다.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꿀벌과 벌집을 표본으로 남겼습니다.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4251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'꿀벌이 사라지고 있다' 신문 기사를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활동지에 발췌해 함께 전시했습니다.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949440" y="5074920"/>
            <a:ext cx="4480560" cy="41148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086600" y="5074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큐레이터 메모  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벌집 · 여섯 모 방이 이어진 집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949440" y="5623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 클레이, 트레이싱지, 달걀판, 뽁뽁이, 골판지, 시침핀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claude/ff229c61-5c86-5af0-9ab6-962640fc7866/scratchpad/build/img/ex_wi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5852160" cy="316382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94944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작품 예시 · 계절관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6949440" y="1874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 도구 모음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6949440" y="2743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E9D5B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949440" y="2743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도구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33375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겨울이 사라지자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썰매와 장갑은 쓸 일이 없어졌습니다.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4251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번도 쓰지 않은 새것처럼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깨끗하게 보관했습니다.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949440" y="5074920"/>
            <a:ext cx="4480560" cy="41148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086600" y="5074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큐레이터 메모  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썰매 · 용도 불명, 운반 도구로 추정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949440" y="5623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 아이스크림 막대, 철사, 털실, 펠트, 지점토, 판지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claude/ff229c61-5c86-5af0-9ab6-962640fc7866/scratchpad/build/img/ex_bu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5852160" cy="316382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94944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작품 예시 · 생물관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6949440" y="1874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채집통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6949440" y="2743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E9D5B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949440" y="2743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도구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33375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 곤충이 사라져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채집통은 비어 있습니다.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4251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매미채, 밀짚모자, 관찰 노트도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일이 없어졌습니다.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949440" y="5074920"/>
            <a:ext cx="4480560" cy="41148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086600" y="5074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큐레이터 메모   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매미채 · 하늘에 휘두르던 도구로 추정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949440" y="5623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 나무 꼬치, 철망, 투명 컵, 종이, 철사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유물에는 이름표가 있어요</a:t>
            </a:r>
            <a:endParaRPr lang="en-US" sz="2800" dirty="0"/>
          </a:p>
        </p:txBody>
      </p:sp>
      <p:pic>
        <p:nvPicPr>
          <p:cNvPr id="4" name="Image 0" descr="/tmp/claude-0/-home-claude/ff229c61-5c86-5af0-9ab6-962640fc7866/scratchpad/build/img/ex_t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31720"/>
            <a:ext cx="5212080" cy="281635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263640" y="1828800"/>
            <a:ext cx="51663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658368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유물 번호 2100-078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583680" y="23774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 식판과 수저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658368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 판지, 은박지, 지점토, 나무 꼬치, 철사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583680" y="347472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2080년대 식량 알약이 보급되기 전,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학생들은 매일 낮 '급식실'에 줄을 서서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음식을 함께 먹었다. 칸이 나뉜 이 판에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밥과 국, 반찬을 나누어 담았다고 한다.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식판 위의 알약 한 알이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판에 놓인 마지막 음식이다.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583680" y="5440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큐레이션  ○○○ · ○○○ · ○○○ · ○○○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유물에는 이름표가 있어요</a:t>
            </a:r>
            <a:endParaRPr lang="en-US" sz="2800" dirty="0"/>
          </a:p>
        </p:txBody>
      </p:sp>
      <p:pic>
        <p:nvPicPr>
          <p:cNvPr id="4" name="Image 0" descr="/tmp/claude-0/-home-claude/ff229c61-5c86-5af0-9ab6-962640fc7866/scratchpad/build/img/ex_snow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31720"/>
            <a:ext cx="5212080" cy="281635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263640" y="1828800"/>
            <a:ext cx="51663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658368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유물 번호 2100-017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583680" y="23774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눈사람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658368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 투명 글루, 지점토, 털실, 나뭇가지, 솜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583680" y="347472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2000년대 초 사람들은 겨울에 내린 '눈'을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굴려 사람 모양을 만들었다.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웅덩이는 마지막 눈사람이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녹은 자리로 전해진다.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모자와 목도리, 나뭇가지 팔은 남았지만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눈은 다시 내리지 않았다.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583680" y="5440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큐레이션  ○○○ · ○○○ · ○○○ · ○○○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재료는 자유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167128" y="2103120"/>
            <a:ext cx="1645920" cy="164592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5" name="Image 0" descr="/tmp/claude-0/-home-claude/ff229c61-5c86-5af0-9ab6-962640fc7866/scratchpad/build/img/cra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230" y="2465222"/>
            <a:ext cx="921715" cy="92171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618488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5276088" y="2103120"/>
            <a:ext cx="1645920" cy="164592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8" name="Image 1" descr="/tmp/claude-0/-home-claude/ff229c61-5c86-5af0-9ab6-962640fc7866/scratchpad/build/img/potter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190" y="2465222"/>
            <a:ext cx="921715" cy="92171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727448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지점토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8385048" y="2103120"/>
            <a:ext cx="1645920" cy="164592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11" name="Image 2" descr="/tmp/claude-0/-home-claude/ff229c61-5c86-5af0-9ab6-962640fc7866/scratchpad/build/img/c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50" y="2465222"/>
            <a:ext cx="921715" cy="92171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836408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버려진 물건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914400" y="50749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재료도 이야기가 됩니다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박물관 팀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22960" y="1920240"/>
            <a:ext cx="2468880" cy="356616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5" name="Shape 2"/>
          <p:cNvSpPr/>
          <p:nvPr/>
        </p:nvSpPr>
        <p:spPr>
          <a:xfrm>
            <a:off x="1371600" y="2286000"/>
            <a:ext cx="1371600" cy="137160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6" name="Image 0" descr="/tmp/claude-0/-home-claude/ff229c61-5c86-5af0-9ab6-962640fc7866/scratchpad/build/img/box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587752"/>
            <a:ext cx="768096" cy="7680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3886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전시 디자이너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· 받침대 · 배경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502152" y="1920240"/>
            <a:ext cx="2468880" cy="356616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10" name="Shape 6"/>
          <p:cNvSpPr/>
          <p:nvPr/>
        </p:nvSpPr>
        <p:spPr>
          <a:xfrm>
            <a:off x="4050792" y="2286000"/>
            <a:ext cx="1371600" cy="137160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11" name="Image 1" descr="/tmp/claude-0/-home-claude/ff229c61-5c86-5af0-9ab6-962640fc7866/scratchpad/build/img/brus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2587752"/>
            <a:ext cx="768096" cy="7680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02152" y="3886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유물 복원가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3593592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오브제 만들기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181344" y="1920240"/>
            <a:ext cx="2468880" cy="356616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15" name="Shape 10"/>
          <p:cNvSpPr/>
          <p:nvPr/>
        </p:nvSpPr>
        <p:spPr>
          <a:xfrm>
            <a:off x="6729984" y="2286000"/>
            <a:ext cx="1371600" cy="137160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16" name="Image 2" descr="/tmp/claude-0/-home-claude/ff229c61-5c86-5af0-9ab6-962640fc7866/scratchpad/build/img/quil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2587752"/>
            <a:ext cx="768096" cy="7680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81344" y="3886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기록관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6272784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이름표 · 제작 기록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8860536" y="1920240"/>
            <a:ext cx="2468880" cy="3566160"/>
          </a:xfrm>
          <a:prstGeom prst="rect">
            <a:avLst/>
          </a:prstGeom>
          <a:solidFill>
            <a:srgbClr val="E7F5EC"/>
          </a:solidFill>
          <a:ln/>
        </p:spPr>
      </p:sp>
      <p:sp>
        <p:nvSpPr>
          <p:cNvPr id="20" name="Shape 14"/>
          <p:cNvSpPr/>
          <p:nvPr/>
        </p:nvSpPr>
        <p:spPr>
          <a:xfrm>
            <a:off x="9409176" y="2286000"/>
            <a:ext cx="1371600" cy="1371600"/>
          </a:xfrm>
          <a:prstGeom prst="ellipse">
            <a:avLst/>
          </a:prstGeom>
          <a:solidFill>
            <a:srgbClr val="2E9D5B"/>
          </a:solidFill>
          <a:ln/>
        </p:spPr>
      </p:sp>
      <p:pic>
        <p:nvPicPr>
          <p:cNvPr id="21" name="Image 3" descr="/tmp/claude-0/-home-claude/ff229c61-5c86-5af0-9ab6-962640fc7866/scratchpad/build/img/mic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28" y="2587752"/>
            <a:ext cx="768096" cy="7680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860536" y="3886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도슨트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8951976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 · 개관식 설명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60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흐름 (4주 · 주 2시간)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39112" y="2377440"/>
            <a:ext cx="8129016" cy="0"/>
          </a:xfrm>
          <a:prstGeom prst="line">
            <a:avLst/>
          </a:prstGeom>
          <a:noFill/>
          <a:ln w="25400">
            <a:solidFill>
              <a:srgbClr val="CDE8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4772" y="1938528"/>
            <a:ext cx="868680" cy="868680"/>
          </a:xfrm>
          <a:prstGeom prst="ellipse">
            <a:avLst/>
          </a:prstGeom>
          <a:solidFill>
            <a:srgbClr val="2E9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4772" y="19385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큐레이터 되기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사라질 것 찾기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방법 · 스케치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나누기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4139" y="1938528"/>
            <a:ext cx="868680" cy="868680"/>
          </a:xfrm>
          <a:prstGeom prst="ellipse">
            <a:avLst/>
          </a:prstGeom>
          <a:solidFill>
            <a:srgbClr val="2E9D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14139" y="19385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32327" y="292608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32327" y="324612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유물 만들기 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32327" y="374904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만들기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오브제 만들기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 기록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23506" y="1938528"/>
            <a:ext cx="868680" cy="868680"/>
          </a:xfrm>
          <a:prstGeom prst="ellipse">
            <a:avLst/>
          </a:prstGeom>
          <a:solidFill>
            <a:srgbClr val="1B6B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23506" y="19385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41694" y="292608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2시간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41694" y="324612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6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유물 만들기 2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41694" y="374904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채색 · 마무리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안에 설치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이름표 초안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732874" y="1938528"/>
            <a:ext cx="868680" cy="868680"/>
          </a:xfrm>
          <a:prstGeom prst="ellipse">
            <a:avLst/>
          </a:prstGeom>
          <a:solidFill>
            <a:srgbClr val="1B6B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32874" y="19385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951062" y="292608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2시간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951062" y="324612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6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박물관 개관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951062" y="374904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이름표 완성 · 전시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개관식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5120640"/>
            <a:ext cx="10561320" cy="731520"/>
          </a:xfrm>
          <a:prstGeom prst="roundRect">
            <a:avLst>
              <a:gd name="adj" fmla="val 12500"/>
            </a:avLst>
          </a:prstGeom>
          <a:solidFill>
            <a:srgbClr val="E7F5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97280" y="5120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 </a:t>
            </a:r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 (2시간) 아이디어 만들기</a:t>
            </a:r>
            <a:pPr algn="ctr" indent="0" marL="0">
              <a:buNone/>
            </a:pPr>
            <a:r>
              <a:rPr lang="en-US" sz="1500" b="1" dirty="0">
                <a:solidFill>
                  <a:srgbClr val="1B6B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Part 2  </a:t>
            </a:r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2~4주 (6시간) 만들고 전시하기</a:t>
            </a:r>
            <a:pPr algn="ctr"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총 4주 8시간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21945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2100 박물관 개관식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2918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관람객은 2100년의 중학생입니다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"이게 뭐예요?"   "왜 사라졌어요?"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내 곁에서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F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지키고 싶은 것은 무엇인가요?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9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수고하셨습니다.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Box">
  <a:themeElements>
    <a:clrScheme name="Green Box">
      <a:dk1>
        <a:srgbClr val="000000"/>
      </a:dk1>
      <a:lt1>
        <a:srgbClr val="FFFFFF"/>
      </a:lt1>
      <a:dk2>
        <a:srgbClr val="1F1F1F"/>
      </a:dk2>
      <a:lt2>
        <a:srgbClr val="E7F5EC"/>
      </a:lt2>
      <a:accent1>
        <a:srgbClr val="2E9D5B"/>
      </a:accent1>
      <a:accent2>
        <a:srgbClr val="1B6B3C"/>
      </a:accent2>
      <a:accent3>
        <a:srgbClr val="7FC4E8"/>
      </a:accent3>
      <a:accent4>
        <a:srgbClr val="F2C14E"/>
      </a:accent4>
      <a:accent5>
        <a:srgbClr val="8A8A8A"/>
      </a:accent5>
      <a:accent6>
        <a:srgbClr val="7FD3A0"/>
      </a:accent6>
      <a:hlink>
        <a:srgbClr val="2E9D5B"/>
      </a:hlink>
      <a:folHlink>
        <a:srgbClr val="1B6B3C"/>
      </a:folHlink>
    </a:clrScheme>
    <a:fontScheme name="Green Box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그린박스 프로젝트</dc:title>
  <dc:subject>PptxGenJS Presentation</dc:subject>
  <dc:creator>명지중학교 미술과</dc:creator>
  <cp:lastModifiedBy>명지중학교 미술과</cp:lastModifiedBy>
  <cp:revision>1</cp:revision>
  <dcterms:created xsi:type="dcterms:W3CDTF">2026-10-18T09:50:18Z</dcterms:created>
  <dcterms:modified xsi:type="dcterms:W3CDTF">2026-10-18T09:50:18Z</dcterms:modified>
</cp:coreProperties>
</file>