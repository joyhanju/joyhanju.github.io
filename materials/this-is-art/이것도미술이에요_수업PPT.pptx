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2000" cy="6858000"/>
  <p:notesSz cx="6858000" cy="12192000"/>
  <p:embeddedFontLst>
    <p:embeddedFont>
      <p:font typeface="Gowun Batang" pitchFamily="18" charset="-127"/>
      <p:regular r:id="rIdEmbFont1"/>
      <p:bold r:id="rIdEmbFont2"/>
    </p:embeddedFont>
    <p:embeddedFont>
      <p:font typeface="Gowun Dodum" pitchFamily="34" charset="-127"/>
      <p:regular r:id="rIdEmb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 Id="rIdEmbFont1" Type="http://schemas.openxmlformats.org/officeDocument/2006/relationships/font" Target="fonts/font1.fntdata"/><Relationship Id="rIdEmbFont2" Type="http://schemas.openxmlformats.org/officeDocument/2006/relationships/font" Target="fonts/font2.fntdata"/><Relationship Id="rIdEmbFont3" Type="http://schemas.openxmlformats.org/officeDocument/2006/relationships/font" Target="fonts/font3.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현대미술 작가 여덟 명을 교사 자신의 이야기와 함께 소개하고, 학생들이 각자의 방법으로 감상하는 자료. 아침 10분에 한 명씩, 미술 시간이나 동아리에서 한 명씩, 또는 여덟 명을 한 번에 소개하고 활동지에 작가별 ‘오늘의 질문’에 답을 쓰는 방식으로 쓸 수 있다. 1부에서 4부로, 쉬운 작가에서 깊은 작가로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떠오르는 것을 자유롭게 말하게 한다. 대부분 그림, 물감, 조각상을 이야기한다. 이 대답을 기억해 두었다가 다음 장에서 “오늘은 조금 다른 재료로 만든 미술을 만나요”로 이어 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만날 여덟 작가의 재료: 백남준(TV와 카메라), 장영혜중공업(글자), 안규철(의자), 권오상·정연두(사진), 김우진(구두), 함경아(실), 박이소(빛). “이것도 미술이에요?”라는 질문이 나오면 좋다. 그 질문이 오늘 수업의 제목이다.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1부는 ‘화면 속의 나’예요. 학생들이 매일 들여다보는 화면 이야기로 시작해요.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1932~2006. 비디오 아트의 창시자. 〈TV 부처〉는 불상과 TV 모니터가 마주 보고, CCTV 카메라가 불상을 실시간으로 찍어 화면에 보여 주는 작품. 1965년 뉴욕 카페 오 고고 전단에 ‘콜라주가 유화를 대체했듯, 브라운관이 캔버스를 대체할 것이다’라고 썼다. ‘SNS를 예견했다’는 것은 해석이므로 단정하지 않고 “알았던 것 같은”으로 말한다. 1974년에도 컴퓨터는 있었으니 “집에 컴퓨터가 없던”으로 표현한다.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1974년이에요. “그때 TV는 어떤 물건이었을까요?” 하고 시대를 먼저 떠올리게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단정하지 말고 ‘알았던 것 같은’이라는 말 그대로 전해요. SNS를 예언했다고 말하지 않아요.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바로 답하지 말고 10초쯤 기다려요. 학생들이 TV와 카메라를 스스로 찾게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TV 뒤 카메라를 손으로 가리키며 설명해요. 카메라가 부처를 찍고, 그 화면이 바로 TV에 나와요. 끝나지 않는 고리예요.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셀카를 찍고 다시 들여다보는 경험과 연결해요. “오늘 자기 사진 본 사람?” 하고 물어도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‘콜라주가 유화를 대체했듯이, 브라운관이 캔버스를 대체할 것이다.’ 1965년 뉴욕 카페 오 고고에서 비디오 작업을 처음 선보일 때 나눠 준 전단에 쓴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태블릿(디벗)으로 그림을 그려 본 경험을 물어요. 반세기 전의 말이 지금 교실에서 이루어지고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활동지 01번 칸에 쓰게 해요. 외모 이야기로 흐르면 ‘고르고 꾸민 모습’으로 초점을 옮겨요. 되물을 말: “화면 속 나는 누가 골랐나요?”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1999년 서울에서 장영혜(미학 박사, 번역가)와 미국 시인 마크 보주가 결성한 듀오. 대기업을 흉내 낸 이름 자체가 농담. 모나코체 글자가 재즈 박자에 맞춰 번쩍이며 지나가고, 일시정지 버튼이 없다. 핵심은 ‘읽는 것을 보는 것으로 바꿨다’는 점. 2000년 SFMOMA가 온라인 아트 기여를 인정했고, 테이트·퐁피두·M+가 소장. 2017년 아트선재센터, 2025년 북서울미술관 타이틀 매치 전시. 정치 풍자나 거친 표현이 있는 작품이 있으니 영상은 〈우아!〉(2025)처럼 순한 작품에서 20~30초만 고른다.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이름만 듣고 무엇을 만드는 곳인지 추측하게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1999년 서울에서 장영혜와 미국 시인 마크 보주가 만든 2인조예요.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대기업 이름을 흉내 낸 농담이에요. 배도 자동차도 만들지 않아요.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〈우아!〉 영상을 20~30초, 소리와 함께 틀어요. 재생이 안 되면 캡처 장면을 빠르게 넘기며 감탄사를 박자에 맞춰 읽어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 읽었나요?”라고 물어요. 대부분 다 못 읽어요. 그게 이 작품의 경험이에요.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글자는 원래 읽는 것인데, 여기서는 리듬과 모양으로 ‘보게’ 된다는 점을 짚어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먼저 답하게 한 뒤 다음 장으로 넘겨요.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멈출 수 없이 넘어가는 화면은 숏폼, 알림, 피드와 닮았어요.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스마트폰 사용을 꾸짖는 시간이 되지 않게 해요. ‘멈추고 싶지 않다’는 대답도 정답이에요. 되물을 말: “멈추고 나면 무엇이 남나요?”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2부는 ‘사물에게 말을 걸다’예요. 의자와 조각, 늘 보던 물건을 다르게 보는 시간이에요.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1955년생. 사물에 숨은 이야기를 상상하는 개념미술가. 〈노/의자〉는 의자 다리를 노로 바꾼 작품으로, 앉을 수도 물건을 올릴 수도 없다. 2017년 국제갤러리 개인전 《당신만을 위한 말》 출품작. 도입: “앉아 있고 싶은데 어디론가 막 움직이고 싶지? 그건 네 탓이 아니야, 의자 탓일 수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웃으면서 시작해요. 손을 들어 보게 해도 좋아요.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엉뚱한 말에 학생들이 웃으면 성공이에요.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잠깐 멈추고, 학생들이 자기 의자를 내려다보게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의자가 되기 전 재료를 함께 떠올려요. 나무 의자는 숲, 플라스틱 의자는 석유, 철 의자는 광산이었어요.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작가가 상상한 이야기라고 소개해요. 정확한 출처는 확인하지 못했으니 “작가가 이런 이야기를 상상했대요”라고 말해요.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의자 다리가 배를 젓는 노라는 것을 사진에서 찾게 해요. 앉을 수 없는, 쓸모를 잃은 의자예요.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장래희망 발표가 되지 않게 해요. 어릴 때의 엉뚱한 꿈도 환영해요. 되물을 말: “그 꿈을 이뤄 주려면 의자에 무엇을 달아 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1974년생. 사진조각 작가. 대상을 여러 각도에서 찍어 인화한 사진 수백 장을 오려, 가벼운 스티로폼 형태 위에 이어 붙인다. ‘조각은 무거워야 한다’는 고정관념을 깨려는 시도. 2012년 호크니를 모델로 한 〈Untitled(Hockney)〉를 만들었다. 피카소·호크니 작품은 저작권이 있으니 이미지는 수업용으로만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떠오르는 조각(동상, 석고상)을 말하게 해요. 돌과 청동은 무거워요.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재료를 추측하게 해요. 돌, 플라스틱, 밀랍 등 다양한 답이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정답을 공개해요. 사진 수백 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모델을 여러 각도에서 찍고, 인화한 사진을 오려 가벼운 스티로폼 위에 이어 붙였어요. 이음새와 조금씩 어긋난 색을 찾아보게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들어 편을 나눠 보면 재미있어요. 둘 다 맞는 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피카소 〈우는 여인〉(1937), 호크니 〈Mother I〉(1985)와 나란히 비교해요. 그림, 사진 콜라주, 사진조각이 같은 생각에서 이어져요.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권오상의 사진조각을 미술사의 흐름 속에 놓아 주는 장. 피카소의 입체파가 여러 시점을 한 그림에 담았고, 호크니가 그것을 사진으로 해 보았다면, 권오상은 사진을 붙여 실제 입체로 만들었다고 정리해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실제 친구 사진을 보여 주거나 평가하지 않게 해요. 되물을 말: “사진에 찍히지 않는 그 친구의 모습은 무엇일까요?”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3부는 ‘꿈과 틀’이에요. 꿈을 사진으로 만든 작가와, 틀에 맞추느라 잘려 나가는 것을 보여 준 작가예요.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1969년생. 2001년 시작한 연작. 여섯 나라를 다니며 사람들에게 미래의 꿈을 묻고, 일상의 모습과 꿈을 무대로 재현한 모습을 두 장의 사진으로 짝지었다. 〈내 사랑 지니 #2 서울〉은 배스킨라빈스 직원과 북극에 가고 싶다는 꿈(남극이 아니라 북극). 영문 제목 ‘Bewitched’(아내는 요술쟁이), 한국어 제목 ‘내 사랑 지니’ 모두 소원을 이뤄 주는 1960년대 미국 시트콤 제목. 작가는 매일 스쳐 지나가는 사람들의 삶에 대한 호기심에서 출발했다고 말했다.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장소, 사람, 상황을 추측하게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사진 속 인물이 같은 사람이라는 걸 알아채게 해요. 왼쪽은 지금, 오른쪽은 꿈이에요.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연작의 또 다른 예. 왼쪽은 주유소에서 일하는 일상, 오른쪽은 트로피를 들고 꽃가루 속에 선 꿈의 장면. 두 쌍을 연달아 보여 주면 아이들이 ‘왼쪽은 현실, 오른쪽은 꿈’이라는 규칙을 스스로 알아챈다. 시간이 빠듯하면 이 장은 건너뛰어도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작가는 여섯 나라를 다니며 사람들에게 미래의 꿈을 물었어요.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사진은 꿈을 무대처럼 꾸며서 찍은 ‘연출 사진’이에요.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잠깐 답을 기다려요. 아마 아직 못 갔을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현실은 바뀌지 않았고, 꿈은 사진 속에만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꿈은 사진 속에만 있지만, 사진을 찍는 그 순간은 현실에 존재했던 순간이다. 그래서 더 이상 허상이 아니다.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어느 쪽을 골라도 괜찮아요. 이유를 말하게 하는 게 중요해요. 되물을 말: “필터를 쓴 셀카는 진짜일까요?”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1976년생 영상 작가. 13분 13초 단채널 영상. 거의 사라진 일본 홋카이도 원주민 언어 아이누어와 이를 되살리려는 노력을 다룬다. 사라지는 아시아 언어를 조사하는 화자가 보낸, 답장 없는 이메일 일곱 통으로 짜였고, 전 세계 500여 가지 버전이 있는 신데렐라형 설화의 구조를 빌렸다. 그림 형제 판본에서 언니들은 구두에 맞추려 발가락과 뒤꿈치를 잘라낸다. 구두에 맞춰 발을 깎는 것과, 큰 언어의 틀에 맞지 않아 사라지는 말을 나란히 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 아는 이야기로 편하게 시작해요.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신데렐라형 이야기는 전 세계에 500여 가지가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그림 형제 판본에서 언니들은 구두에 맞추려고 발가락과 뒤꿈치를 잘라요. 놀라는 반응이 나와요.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진짜 발이 아니라 인조 발이라고 먼저 말해 줘요. 13분 13초짜리 흑백 영상의 한 장면이에요.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 속에는 사라지는 언어를 조사하는 화자의, 답장 없는 이메일 일곱 통이 흘러요.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아이누어는 일본 홋카이도 원주민 아이누의 말이에요. 지금은 쓰는 사람이 거의 남지 않았어요.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구두 장면과 아이누어 이야기를 이어 주는 장. 구두는 기준, 발은 그 기준에 맞지 않는 것. 언어만이 아니라 학생들 자신의 개성, 취향, 시간도 같은 방식으로 깎여 나갈 수 있다는 데까지 생각을 넓혀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우리가 거대한 프레임 안에서 살다 보니, 그것과 다른 형태의 것들을 얼마나 가혹하게 잘라내는지. 구두에 맞게 발을 잘라내는 것처럼. 영어나 중국어가 아닌 말이 사라지는 것처럼.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개인적인 고민이 나올 수 있어요. 발표는 원하는 사람만 해요. 되물을 말: “구두를 바꾸는 방법은 없을까요?”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4부는 ‘보이지 않는 사람들에게’예요. 얼굴을 모르는 사람과 주고받은 마음 이야기예요.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1966년생. 2008년 집 대문 앞에서 주운 삐라에서 시작. 도안을 그려 중국 등의 중개인을 통해 북한 자수 장인에게 보내고, 완성된 자수가 같은 길로 돌아왔다. 한 점에 1,000~1,200시간, 오가는 데 길게는 1년 반. 열 점을 보내면 여섯 점이 사라졌다고 한다. 작가는 수놓은 사람이 누구인지 모른다. 무늬 속에 ‘Are you lonely, too?’, ‘Big Smile’, ‘Money never sleeps’ 같은 문장을 숨겼다. 선생님 해석: 북쪽으로 보낸 역삐라이자, 예술이 누군가의 손에 돈을 쥐어 주는 방식. 작가도 이 일이 외화를 벌어 주기에 묵인되었을 거라 짐작했다. 2018년 이후 교류가 끊기며 중단. 국제갤러리 2015년 《유령 발자국》, 2024년 《유령 그리고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멀리서는 추상화 같지만 가까이 보면 실 한 올 한 올이라는 걸 알려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정치 이야기보다 ‘만난 적 없는 사람의 손’에 초점을 둬요.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삐라가 무엇인지 먼저 설명해요. 국경 너머에서 날아온 선전 전단이에요. 2008년의 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작가가 도안을 그려 중국의 중개인에게 건네면, 도안이 국경을 넘어 장인에게 닿았어요. 오가는 데 길게는 1년 반이 걸렸어요.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점에 1,000~1,200시간이 걸렸어요. 숫자로 시간을 실감하게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보낸 작품이 다 돌아오지는 못했어요. 2018년 이후 이 길은 끊겼어요.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잠시 멈추고 다음 장으로 넘어가요.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“Are you lonely, too?” 이 밖에 “Big Smile”, “imagine” 같은 문장도 수놓았다.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잠들지 않는다.’ 영화 〈월 스트리트: 머니 네버 슬립스〉 제목에서 온 말. 북한 장인이 돈에 관한 문장을 품삯을 받으며 수놓았다는 아이러니. 선생님 해석: 메시지와 품삯이 같은 바늘을 타고 오갔다.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답을 바로 주지 말고, 학생들이 상상하게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특정 집단을 향한 메시지보다 ‘한 사람’에게 쓰도록 이끌어요. 되물을 말: “그 문장을 받는 사람은 어떤 사람일까요?”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1957~2004. 본명 박철호, 뉴욕 시절 ‘박모’, 귀국 후 ‘박이소’. 1985년 뉴욕에 대안 공간 ‘마이너 인저리’를 세워 이민자·소수자 작가를 소개. 값싼 공사 재료와 유머, ‘정직’의 태도로 한국 미술에 비판적 사고를 들여온 선구자로 평가. 2002년 에르메스 미술상, 2003년 베니스 비엔날레 한국관 작가. 〈당신의 밝은 미래〉는 환한 조명들이 벽 모서리를 비추는 설치로, 희망의 헛됨과 그래도 놓지 않는 희망을 함께 담았다고 읽힌다. 〈우리는 행복해요〉(2004)는 마지막 작품으로, 스케치로 남은 것을 동료 작가들이 2004년 부산비엔날레에 간판으로 세웠다.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‘모(某)’는 ‘아무개’라는 뜻이라고 알려 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1985년 뉴욕에 대안 공간 ‘마이너 인저리’를 세워 이민자·소수자 작가를 소개했어요.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2002년 작품이에요. 무엇이 보이는지 먼저 물어요.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빛이 닿는 곳에 아무것도 없다는 걸 함께 확인해요.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불안했던 젊은 시기, 그가 환하게 비춰 주던 출구의 스포트라이트가 참 따뜻했다. 같은 빛이 누구에겐 허무, 누구에겐 위로.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천천히 넘기며 한 편의 이야기처럼 들려줘요.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작가가 간판으로 세우려던 문장이에요.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갑자기 세상을 떠난 이야기는 담담하게 전해요.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동료들이 2004년 부산비엔날레 주차장에 실제 간판으로 세웠어요.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오늘의 질문이에요. ‘정말 행복한가?’라는 질문으로만 다뤄요. 힘든 이야기가 나오면 끝까지 들어 주고, 필요하면 따로 이어 가요.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한두 명에게 발표를 부탁하거나, 짝과 30초씩 이야기하게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슬라이드에서 학생들이 떠올린 미술(물감, 캔버스, 조각상)을 다시 불러와, 오늘 본 재료들과 비교하며 정리한다.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없다. 짧아도 괜찮다고 안내한다. 시간이 있으면 두세 명이 읽어 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없다는 말로 마무리해요.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작품 이미지와 참고 자료의 출처예요.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207000" y="1272743"/>
            <a:ext cx="1778000" cy="2532529"/>
          </a:xfrm>
          <a:prstGeom prst="rect">
            <a:avLst/>
          </a:prstGeom>
        </p:spPr>
      </p:pic>
      <p:sp>
        <p:nvSpPr>
          <p:cNvPr id="5" name="Text 2"/>
          <p:cNvSpPr txBox="1"/>
          <p:nvPr/>
        </p:nvSpPr>
        <p:spPr>
          <a:xfrm>
            <a:off x="2166541" y="4037608"/>
            <a:ext cx="7858820" cy="949325"/>
          </a:xfrm>
          <a:prstGeom prst="rect">
            <a:avLst/>
          </a:prstGeom>
          <a:noFill/>
          <a:ln/>
        </p:spPr>
        <p:txBody>
          <a:bodyPr wrap="square" lIns="0" tIns="0" rIns="0" bIns="0" rtlCol="0" anchor="t"/>
          <a:lstStyle/>
          <a:p>
            <a:pPr algn="ctr" indent="0" marL="0">
              <a:lnSpc>
                <a:spcPts val="7475"/>
              </a:lnSpc>
              <a:buNone/>
            </a:pPr>
            <a:r>
              <a:rPr lang="en-US" sz="6500" b="1" dirty="0">
                <a:solidFill>
                  <a:srgbClr val="1E1E24"/>
                </a:solidFill>
                <a:latin typeface="Gowun Batang" pitchFamily="34" charset="0"/>
                <a:ea typeface="Gowun Batang" pitchFamily="34" charset="-122"/>
                <a:cs typeface="Gowun Batang" pitchFamily="34" charset="-120"/>
              </a:rPr>
              <a:t>이것도 미술이에요?</a:t>
            </a:r>
            <a:endParaRPr lang="en-US" sz="6500" dirty="0"/>
          </a:p>
        </p:txBody>
      </p:sp>
      <p:sp>
        <p:nvSpPr>
          <p:cNvPr id="6" name="Text 3"/>
          <p:cNvSpPr txBox="1"/>
          <p:nvPr/>
        </p:nvSpPr>
        <p:spPr>
          <a:xfrm>
            <a:off x="3769042" y="5215533"/>
            <a:ext cx="4653915" cy="373360"/>
          </a:xfrm>
          <a:prstGeom prst="rect">
            <a:avLst/>
          </a:prstGeom>
          <a:noFill/>
          <a:ln/>
        </p:spPr>
        <p:txBody>
          <a:bodyPr wrap="square" lIns="0" tIns="0" rIns="0" bIns="0" rtlCol="0" anchor="t"/>
          <a:lstStyle/>
          <a:p>
            <a:pPr algn="ctr" indent="0" marL="0">
              <a:lnSpc>
                <a:spcPts val="2940"/>
              </a:lnSpc>
              <a:buNone/>
            </a:pPr>
            <a:r>
              <a:rPr lang="en-US" sz="2100" dirty="0">
                <a:solidFill>
                  <a:srgbClr val="5B5B66"/>
                </a:solidFill>
                <a:latin typeface="Gowun Dodum" pitchFamily="34" charset="0"/>
                <a:ea typeface="Gowun Dodum" pitchFamily="34" charset="-122"/>
                <a:cs typeface="Gowun Dodum" pitchFamily="34" charset="-120"/>
              </a:rPr>
              <a:t>현대미술 작가 여덟 명, 여덟 개의 질문</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232102" y="1865709"/>
            <a:ext cx="1727795"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시작하기 전에</a:t>
            </a:r>
            <a:endParaRPr lang="en-US" sz="1900" dirty="0"/>
          </a:p>
        </p:txBody>
      </p:sp>
      <p:sp>
        <p:nvSpPr>
          <p:cNvPr id="5" name="Text 3"/>
          <p:cNvSpPr txBox="1"/>
          <p:nvPr/>
        </p:nvSpPr>
        <p:spPr>
          <a:xfrm>
            <a:off x="2924175" y="2457450"/>
            <a:ext cx="634365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여러분은 ‘미술’ 하면</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무엇이 떠오르나요?</a:t>
            </a:r>
            <a:endParaRPr lang="en-US" sz="5000" dirty="0"/>
          </a:p>
        </p:txBody>
      </p:sp>
      <p:sp>
        <p:nvSpPr>
          <p:cNvPr id="6" name="Text 4"/>
          <p:cNvSpPr txBox="1"/>
          <p:nvPr/>
        </p:nvSpPr>
        <p:spPr>
          <a:xfrm>
            <a:off x="3871839" y="4362450"/>
            <a:ext cx="4448223" cy="426641"/>
          </a:xfrm>
          <a:prstGeom prst="rect">
            <a:avLst/>
          </a:prstGeom>
          <a:noFill/>
          <a:ln/>
        </p:spPr>
        <p:txBody>
          <a:bodyPr wrap="square" lIns="0" tIns="0" rIns="0" bIns="0" rtlCol="0" anchor="t"/>
          <a:lstStyle/>
          <a:p>
            <a:pPr algn="ctr" indent="0" marL="0">
              <a:lnSpc>
                <a:spcPts val="3360"/>
              </a:lnSpc>
              <a:buNone/>
            </a:pPr>
            <a:r>
              <a:rPr lang="en-US" sz="2400" dirty="0">
                <a:solidFill>
                  <a:srgbClr val="5B5B66"/>
                </a:solidFill>
                <a:latin typeface="Gowun Dodum" pitchFamily="34" charset="0"/>
                <a:ea typeface="Gowun Dodum" pitchFamily="34" charset="-122"/>
                <a:cs typeface="Gowun Dodum" pitchFamily="34" charset="-120"/>
              </a:rPr>
              <a:t>캔버스? 물감? 조각상? 미술관?</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73251" y="1682155"/>
            <a:ext cx="6845399" cy="1452761"/>
          </a:xfrm>
          <a:prstGeom prst="rect">
            <a:avLst/>
          </a:prstGeom>
          <a:noFill/>
          <a:ln/>
        </p:spPr>
        <p:txBody>
          <a:bodyPr wrap="square" lIns="0" tIns="0" rIns="0" bIns="0" rtlCol="0" anchor="t"/>
          <a:lstStyle/>
          <a:p>
            <a:pPr algn="ctr" indent="0" marL="0">
              <a:lnSpc>
                <a:spcPts val="5720"/>
              </a:lnSpc>
              <a:buNone/>
            </a:pPr>
            <a:r>
              <a:rPr lang="en-US" sz="4400" b="1" dirty="0">
                <a:solidFill>
                  <a:srgbClr val="1E1E24"/>
                </a:solidFill>
                <a:latin typeface="Gowun Batang" pitchFamily="34" charset="0"/>
                <a:ea typeface="Gowun Batang" pitchFamily="34" charset="-122"/>
                <a:cs typeface="Gowun Batang" pitchFamily="34" charset="-120"/>
              </a:rPr>
              <a:t>오늘 만날 미술은</a:t>
            </a:r>
            <a:endParaRPr lang="en-US" sz="4400" dirty="0"/>
          </a:p>
          <a:p>
            <a:pPr algn="ctr" indent="0" marL="0">
              <a:lnSpc>
                <a:spcPts val="5720"/>
              </a:lnSpc>
              <a:buNone/>
            </a:pPr>
            <a:r>
              <a:rPr lang="en-US" sz="4400" b="1" dirty="0">
                <a:solidFill>
                  <a:srgbClr val="1E1E24"/>
                </a:solidFill>
                <a:latin typeface="Gowun Batang" pitchFamily="34" charset="0"/>
                <a:ea typeface="Gowun Batang" pitchFamily="34" charset="-122"/>
                <a:cs typeface="Gowun Batang" pitchFamily="34" charset="-120"/>
              </a:rPr>
              <a:t>물감으로만 만들지 않아요</a:t>
            </a:r>
            <a:endParaRPr lang="en-US" sz="4400" dirty="0"/>
          </a:p>
        </p:txBody>
      </p:sp>
      <p:sp>
        <p:nvSpPr>
          <p:cNvPr id="5" name="Text 3"/>
          <p:cNvSpPr txBox="1"/>
          <p:nvPr/>
        </p:nvSpPr>
        <p:spPr>
          <a:xfrm>
            <a:off x="2475805" y="3388916"/>
            <a:ext cx="2048570"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TV와 카메라</a:t>
            </a:r>
            <a:endParaRPr lang="en-US" sz="1900" dirty="0"/>
          </a:p>
        </p:txBody>
      </p:sp>
      <p:sp>
        <p:nvSpPr>
          <p:cNvPr id="6" name="Text 4"/>
          <p:cNvSpPr txBox="1"/>
          <p:nvPr/>
        </p:nvSpPr>
        <p:spPr>
          <a:xfrm>
            <a:off x="4289425" y="3388916"/>
            <a:ext cx="1249859"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글자</a:t>
            </a:r>
            <a:endParaRPr lang="en-US" sz="1900" dirty="0"/>
          </a:p>
        </p:txBody>
      </p:sp>
      <p:sp>
        <p:nvSpPr>
          <p:cNvPr id="7" name="Text 5"/>
          <p:cNvSpPr txBox="1"/>
          <p:nvPr/>
        </p:nvSpPr>
        <p:spPr>
          <a:xfrm>
            <a:off x="5304334" y="3388916"/>
            <a:ext cx="1230511"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의자</a:t>
            </a:r>
            <a:endParaRPr lang="en-US" sz="1900" dirty="0"/>
          </a:p>
        </p:txBody>
      </p:sp>
      <p:sp>
        <p:nvSpPr>
          <p:cNvPr id="8" name="Text 6"/>
          <p:cNvSpPr txBox="1"/>
          <p:nvPr/>
        </p:nvSpPr>
        <p:spPr>
          <a:xfrm>
            <a:off x="6299895" y="3388916"/>
            <a:ext cx="1228130"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사진</a:t>
            </a:r>
            <a:endParaRPr lang="en-US" sz="1900" dirty="0"/>
          </a:p>
        </p:txBody>
      </p:sp>
      <p:sp>
        <p:nvSpPr>
          <p:cNvPr id="9" name="Text 7"/>
          <p:cNvSpPr txBox="1"/>
          <p:nvPr/>
        </p:nvSpPr>
        <p:spPr>
          <a:xfrm>
            <a:off x="7293074" y="3388916"/>
            <a:ext cx="1247477"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구두</a:t>
            </a:r>
            <a:endParaRPr lang="en-US" sz="1900" dirty="0"/>
          </a:p>
        </p:txBody>
      </p:sp>
      <p:sp>
        <p:nvSpPr>
          <p:cNvPr id="10" name="Text 8"/>
          <p:cNvSpPr txBox="1"/>
          <p:nvPr/>
        </p:nvSpPr>
        <p:spPr>
          <a:xfrm>
            <a:off x="8305602" y="3388916"/>
            <a:ext cx="1003697"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실</a:t>
            </a:r>
            <a:endParaRPr lang="en-US" sz="1900" dirty="0"/>
          </a:p>
        </p:txBody>
      </p:sp>
      <p:sp>
        <p:nvSpPr>
          <p:cNvPr id="11" name="Text 9"/>
          <p:cNvSpPr txBox="1"/>
          <p:nvPr/>
        </p:nvSpPr>
        <p:spPr>
          <a:xfrm>
            <a:off x="9074348" y="3388916"/>
            <a:ext cx="1003697" cy="491430"/>
          </a:xfrm>
          <a:prstGeom prst="rect">
            <a:avLst/>
          </a:prstGeom>
          <a:solidFill>
            <a:srgbClr val="F3EEFC"/>
          </a:solidFill>
          <a:ln/>
        </p:spPr>
        <p:txBody>
          <a:bodyPr wrap="square" lIns="0" tIns="0" rIns="0" bIns="0" rtlCol="0" anchor="t"/>
          <a:lstStyle/>
          <a:p>
            <a:pPr algn="l" indent="0" marL="0">
              <a:lnSpc>
                <a:spcPts val="2470"/>
              </a:lnSpc>
              <a:buNone/>
            </a:pPr>
            <a:r>
              <a:rPr lang="en-US" sz="1900" dirty="0">
                <a:solidFill>
                  <a:srgbClr val="5A3FA6"/>
                </a:solidFill>
                <a:latin typeface="Gowun Dodum" pitchFamily="34" charset="0"/>
                <a:ea typeface="Gowun Dodum" pitchFamily="34" charset="-122"/>
                <a:cs typeface="Gowun Dodum" pitchFamily="34" charset="-120"/>
              </a:rPr>
              <a:t>빛</a:t>
            </a:r>
            <a:endParaRPr lang="en-US" sz="1900" dirty="0"/>
          </a:p>
        </p:txBody>
      </p:sp>
      <p:sp>
        <p:nvSpPr>
          <p:cNvPr id="12" name="Text 10"/>
          <p:cNvSpPr txBox="1"/>
          <p:nvPr/>
        </p:nvSpPr>
        <p:spPr>
          <a:xfrm>
            <a:off x="4000855" y="4134346"/>
            <a:ext cx="4190190"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현대미술은 ‘무엇을 그렸나’보다</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‘무엇을 생각하게 하나’를 물어요</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53063" y="1676400"/>
            <a:ext cx="1285875"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1부</a:t>
            </a:r>
            <a:endParaRPr lang="en-US" sz="3350" dirty="0"/>
          </a:p>
        </p:txBody>
      </p:sp>
      <p:sp>
        <p:nvSpPr>
          <p:cNvPr id="5" name="Text 3"/>
          <p:cNvSpPr txBox="1"/>
          <p:nvPr/>
        </p:nvSpPr>
        <p:spPr>
          <a:xfrm>
            <a:off x="2781300" y="2903240"/>
            <a:ext cx="6629400"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화면 속의 나</a:t>
            </a:r>
            <a:endParaRPr lang="en-US" sz="7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01</a:t>
            </a:r>
            <a:endParaRPr lang="en-US" sz="3850" dirty="0"/>
          </a:p>
        </p:txBody>
      </p:sp>
      <p:sp>
        <p:nvSpPr>
          <p:cNvPr id="5" name="Text 3"/>
          <p:cNvSpPr txBox="1"/>
          <p:nvPr/>
        </p:nvSpPr>
        <p:spPr>
          <a:xfrm>
            <a:off x="3492996" y="2446734"/>
            <a:ext cx="5206008"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백남준</a:t>
            </a:r>
            <a:endParaRPr lang="en-US" sz="9600" dirty="0"/>
          </a:p>
        </p:txBody>
      </p:sp>
      <p:sp>
        <p:nvSpPr>
          <p:cNvPr id="6" name="Text 4"/>
          <p:cNvSpPr txBox="1"/>
          <p:nvPr/>
        </p:nvSpPr>
        <p:spPr>
          <a:xfrm>
            <a:off x="4662289" y="3940175"/>
            <a:ext cx="2867422"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〈TV 부처〉, 1974</a:t>
            </a:r>
            <a:endParaRPr lang="en-US" sz="2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11723" y="2014835"/>
            <a:ext cx="716855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스마트폰도, 인스타도,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집에 컴퓨터도 없던</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52년 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37159" y="2014835"/>
            <a:ext cx="8117681"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화면 속 자기를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될 걸 알았던 것 같은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사람이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09675"/>
            <a:ext cx="6350000" cy="42354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작품으로요.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부처님은 무엇을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보고 있을까요?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04976" y="2014835"/>
            <a:ext cx="7182048"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카메라가 부처를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부처는 화면 속</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자기를 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37148" y="2014835"/>
            <a:ext cx="671760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핸드폰으로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여러분의 사진을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보듯이요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007364" y="2619375"/>
            <a:ext cx="10177272"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“화면이 캔버스를 대신할 것이다”</a:t>
            </a:r>
            <a:endParaRPr lang="en-US" sz="5300" dirty="0"/>
          </a:p>
        </p:txBody>
      </p:sp>
      <p:sp>
        <p:nvSpPr>
          <p:cNvPr id="5" name="Text 3"/>
          <p:cNvSpPr txBox="1"/>
          <p:nvPr/>
        </p:nvSpPr>
        <p:spPr>
          <a:xfrm>
            <a:off x="5258594" y="3697585"/>
            <a:ext cx="1674713" cy="337741"/>
          </a:xfrm>
          <a:prstGeom prst="rect">
            <a:avLst/>
          </a:prstGeom>
          <a:noFill/>
          <a:ln/>
        </p:spPr>
        <p:txBody>
          <a:bodyPr wrap="square" lIns="0" tIns="0" rIns="0" bIns="0" rtlCol="0" anchor="t"/>
          <a:lstStyle/>
          <a:p>
            <a:pPr algn="ctr" indent="0" marL="0">
              <a:lnSpc>
                <a:spcPts val="2660"/>
              </a:lnSpc>
              <a:buNone/>
            </a:pPr>
            <a:r>
              <a:rPr lang="en-US" sz="1900" dirty="0">
                <a:solidFill>
                  <a:srgbClr val="6B6B75"/>
                </a:solidFill>
                <a:latin typeface="Gowun Dodum" pitchFamily="34" charset="0"/>
                <a:ea typeface="Gowun Dodum" pitchFamily="34" charset="-122"/>
                <a:cs typeface="Gowun Dodum" pitchFamily="34" charset="-120"/>
              </a:rPr>
              <a:t>백남준, 1965</a:t>
            </a:r>
            <a:endParaRPr lang="en-US" sz="19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222302" y="2452390"/>
            <a:ext cx="7747397"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 말처럼 지금 여러분은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디벗으로 그림을 그리죠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035469"/>
            <a:ext cx="698500" cy="994922"/>
          </a:xfrm>
          <a:prstGeom prst="rect">
            <a:avLst/>
          </a:prstGeom>
        </p:spPr>
      </p:pic>
      <p:sp>
        <p:nvSpPr>
          <p:cNvPr id="5" name="Text 2"/>
          <p:cNvSpPr txBox="1"/>
          <p:nvPr/>
        </p:nvSpPr>
        <p:spPr>
          <a:xfrm>
            <a:off x="5326162" y="228540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2778125" y="2877145"/>
            <a:ext cx="6635750" cy="1651000"/>
          </a:xfrm>
          <a:prstGeom prst="rect">
            <a:avLst/>
          </a:prstGeom>
          <a:noFill/>
          <a:ln/>
        </p:spPr>
        <p:txBody>
          <a:bodyPr wrap="square" lIns="0" tIns="0" rIns="0" bIns="0" rtlCol="0" anchor="t"/>
          <a:lstStyle/>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화면 속 나와 진짜 나,</a:t>
            </a:r>
            <a:endParaRPr lang="en-US" sz="5000" dirty="0"/>
          </a:p>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무엇이 다를까요?</a:t>
            </a:r>
            <a:endParaRPr lang="en-US" sz="5000" dirty="0"/>
          </a:p>
        </p:txBody>
      </p:sp>
      <p:sp>
        <p:nvSpPr>
          <p:cNvPr id="7" name="Text 4"/>
          <p:cNvSpPr txBox="1"/>
          <p:nvPr/>
        </p:nvSpPr>
        <p:spPr>
          <a:xfrm>
            <a:off x="2129615" y="4782145"/>
            <a:ext cx="7932769" cy="838200"/>
          </a:xfrm>
          <a:prstGeom prst="rect">
            <a:avLst/>
          </a:prstGeom>
          <a:noFill/>
          <a:ln/>
        </p:spPr>
        <p:txBody>
          <a:bodyPr wrap="square" lIns="0" tIns="0" rIns="0" bIns="0" rtlCol="0" anchor="t"/>
          <a:lstStyle/>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여러분도 화면 속의 여러분을 오랫동안 바라보나요?</a:t>
            </a:r>
            <a:endParaRPr lang="en-US" sz="2200" dirty="0"/>
          </a:p>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아니라면 왜 아닌지, 바라본다면 왜 바라보는지 기록해 보세요.</a:t>
            </a:r>
            <a:endParaRPr lang="en-US" sz="22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02</a:t>
            </a:r>
            <a:endParaRPr lang="en-US" sz="3850" dirty="0"/>
          </a:p>
        </p:txBody>
      </p:sp>
      <p:sp>
        <p:nvSpPr>
          <p:cNvPr id="5" name="Text 3"/>
          <p:cNvSpPr txBox="1"/>
          <p:nvPr/>
        </p:nvSpPr>
        <p:spPr>
          <a:xfrm>
            <a:off x="1822648" y="2446734"/>
            <a:ext cx="85466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장영혜중공업</a:t>
            </a:r>
            <a:endParaRPr lang="en-US" sz="9600" dirty="0"/>
          </a:p>
        </p:txBody>
      </p:sp>
      <p:sp>
        <p:nvSpPr>
          <p:cNvPr id="6" name="Text 4"/>
          <p:cNvSpPr txBox="1"/>
          <p:nvPr/>
        </p:nvSpPr>
        <p:spPr>
          <a:xfrm>
            <a:off x="4611787" y="3940175"/>
            <a:ext cx="296842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글자 영상, 1999~</a:t>
            </a:r>
            <a:endParaRPr lang="en-US" sz="2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5161" y="2014835"/>
            <a:ext cx="6441579"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중공업?</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배나 자동차 만드는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회사일까요?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95860" y="2452390"/>
            <a:ext cx="700028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아니요,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예술가 두 사람이에요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이름부터</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농담이에요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37370" y="914400"/>
            <a:ext cx="3619500" cy="4826000"/>
          </a:xfrm>
          <a:prstGeom prst="rect">
            <a:avLst/>
          </a:prstGeom>
        </p:spPr>
      </p:pic>
      <p:sp>
        <p:nvSpPr>
          <p:cNvPr id="5" name="Text 2"/>
          <p:cNvSpPr txBox="1"/>
          <p:nvPr/>
        </p:nvSpPr>
        <p:spPr>
          <a:xfrm>
            <a:off x="6366470" y="2984500"/>
            <a:ext cx="4450159" cy="685800"/>
          </a:xfrm>
          <a:prstGeom prst="rect">
            <a:avLst/>
          </a:prstGeom>
          <a:noFill/>
          <a:ln/>
        </p:spPr>
        <p:txBody>
          <a:bodyPr wrap="square" lIns="0" tIns="0" rIns="0" bIns="0" rtlCol="0" anchor="t"/>
          <a:lstStyle/>
          <a:p>
            <a:pPr algn="l"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그림 없이, 글자만</a:t>
            </a:r>
            <a:endParaRPr lang="en-US" sz="400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34245" y="2452390"/>
            <a:ext cx="872341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음악에 맞춰 쏟아지는 글자.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멈춤 버튼은 없어요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80456" y="2452390"/>
            <a:ext cx="74310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글자를 읽는 게 아니라,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50630" y="2452390"/>
            <a:ext cx="52906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어디서 많이 본</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속도 아닌가요?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28256" y="1132880"/>
            <a:ext cx="4535488" cy="4388941"/>
          </a:xfrm>
          <a:prstGeom prst="rect">
            <a:avLst/>
          </a:prstGeom>
          <a:noFill/>
          <a:ln/>
        </p:spPr>
        <p:txBody>
          <a:bodyPr wrap="square" lIns="0" tIns="0" rIns="0" bIns="0" rtlCol="0" anchor="t"/>
          <a:lstStyle/>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숏폼.</a:t>
            </a:r>
            <a:endParaRPr lang="en-US" sz="9600" dirty="0"/>
          </a:p>
          <a:p>
            <a:pPr algn="ctr" indent="0" marL="0">
              <a:lnSpc>
                <a:spcPts val="11520"/>
              </a:lnSpc>
              <a:buNone/>
            </a:pPr>
            <a:r>
              <a:rPr lang="en-US" sz="9600" b="1" dirty="0">
                <a:solidFill>
                  <a:srgbClr val="7C5CC4"/>
                </a:solidFill>
                <a:latin typeface="Gowun Batang" pitchFamily="34" charset="0"/>
                <a:ea typeface="Gowun Batang" pitchFamily="34" charset="-122"/>
                <a:cs typeface="Gowun Batang" pitchFamily="34" charset="-120"/>
              </a:rPr>
              <a:t>알림.</a:t>
            </a:r>
            <a:endParaRPr lang="en-US" sz="9600" dirty="0"/>
          </a:p>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피드.</a:t>
            </a:r>
            <a:endParaRPr lang="en-US" sz="96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035469"/>
            <a:ext cx="698500" cy="994922"/>
          </a:xfrm>
          <a:prstGeom prst="rect">
            <a:avLst/>
          </a:prstGeom>
        </p:spPr>
      </p:pic>
      <p:sp>
        <p:nvSpPr>
          <p:cNvPr id="5" name="Text 2"/>
          <p:cNvSpPr txBox="1"/>
          <p:nvPr/>
        </p:nvSpPr>
        <p:spPr>
          <a:xfrm>
            <a:off x="5326162" y="228540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2032000" y="2877145"/>
            <a:ext cx="81280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오늘, 스크롤을</a:t>
            </a:r>
            <a:endParaRPr lang="en-US" sz="5000" dirty="0"/>
          </a:p>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멈추고 싶었던 적이 있나요?</a:t>
            </a:r>
            <a:endParaRPr lang="en-US" sz="5000" dirty="0"/>
          </a:p>
        </p:txBody>
      </p:sp>
      <p:sp>
        <p:nvSpPr>
          <p:cNvPr id="7" name="Text 4"/>
          <p:cNvSpPr txBox="1"/>
          <p:nvPr/>
        </p:nvSpPr>
        <p:spPr>
          <a:xfrm>
            <a:off x="3210756" y="4782145"/>
            <a:ext cx="5770388" cy="838200"/>
          </a:xfrm>
          <a:prstGeom prst="rect">
            <a:avLst/>
          </a:prstGeom>
          <a:noFill/>
          <a:ln/>
        </p:spPr>
        <p:txBody>
          <a:bodyPr wrap="square" lIns="0" tIns="0" rIns="0" bIns="0" rtlCol="0" anchor="t"/>
          <a:lstStyle/>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도대체 여러분은 어떤 것이 그렇게 재미있길래</a:t>
            </a:r>
            <a:endParaRPr lang="en-US" sz="2200" dirty="0"/>
          </a:p>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스크롤을 멈출 수 없는 건가요?</a:t>
            </a:r>
            <a:endParaRPr lang="en-US" sz="22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2부</a:t>
            </a:r>
            <a:endParaRPr lang="en-US" sz="3350" dirty="0"/>
          </a:p>
        </p:txBody>
      </p:sp>
      <p:sp>
        <p:nvSpPr>
          <p:cNvPr id="5" name="Text 3"/>
          <p:cNvSpPr txBox="1"/>
          <p:nvPr/>
        </p:nvSpPr>
        <p:spPr>
          <a:xfrm>
            <a:off x="3585964" y="2751435"/>
            <a:ext cx="502007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사물에게</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말을 걸다</a:t>
            </a:r>
            <a:endParaRPr lang="en-US" sz="7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03</a:t>
            </a:r>
            <a:endParaRPr lang="en-US" sz="3850" dirty="0"/>
          </a:p>
        </p:txBody>
      </p:sp>
      <p:sp>
        <p:nvSpPr>
          <p:cNvPr id="5" name="Text 3"/>
          <p:cNvSpPr txBox="1"/>
          <p:nvPr/>
        </p:nvSpPr>
        <p:spPr>
          <a:xfrm>
            <a:off x="3505200" y="2446734"/>
            <a:ext cx="518160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안규철</a:t>
            </a:r>
            <a:endParaRPr lang="en-US" sz="9600" dirty="0"/>
          </a:p>
        </p:txBody>
      </p:sp>
      <p:sp>
        <p:nvSpPr>
          <p:cNvPr id="6" name="Text 4"/>
          <p:cNvSpPr txBox="1"/>
          <p:nvPr/>
        </p:nvSpPr>
        <p:spPr>
          <a:xfrm>
            <a:off x="4685804" y="3940175"/>
            <a:ext cx="282029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〈노/의자〉, 2017</a:t>
            </a:r>
            <a:endParaRPr lang="en-US" sz="2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7726" y="2452390"/>
            <a:ext cx="1149654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 지금 수업하는데 앉아 있지만</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사실은 막 움직이고 싶죠?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942902" y="2889845"/>
            <a:ext cx="8306098"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그건 여러분 탓이 아니에요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5496" y="2914650"/>
            <a:ext cx="11621008" cy="8255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여러분이 앉아있는 의자 탓일 수 있어요.</a:t>
            </a:r>
            <a:endParaRPr lang="en-US" sz="50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528828" y="1910953"/>
            <a:ext cx="11464544" cy="3386138"/>
          </a:xfrm>
          <a:prstGeom prst="rect">
            <a:avLst/>
          </a:prstGeom>
          <a:noFill/>
          <a:ln/>
        </p:spPr>
        <p:txBody>
          <a:bodyPr wrap="square" lIns="0" tIns="0" rIns="0" bIns="0" rtlCol="0" anchor="t"/>
          <a:lstStyle/>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나무였어요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플라스틱이었어요.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철로 만들어지기 전 광산에 있었어요.</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63601" y="1510010"/>
            <a:ext cx="8864798" cy="3634680"/>
          </a:xfrm>
          <a:prstGeom prst="rect">
            <a:avLst/>
          </a:prstGeom>
          <a:noFill/>
          <a:ln/>
        </p:spPr>
        <p:txBody>
          <a:bodyPr wrap="square" lIns="0" tIns="0" rIns="0" bIns="0" rtlCol="0" anchor="t"/>
          <a:lstStyle/>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안규철 선생님이 앉아있던 </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나무 의자가 산에 살 때</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그 나무의 꿈은 배가 되는 것</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6173688" y="1114425"/>
            <a:ext cx="11834368" cy="4629150"/>
          </a:xfrm>
          <a:prstGeom prst="rect">
            <a:avLst/>
          </a:prstGeom>
          <a:noFill/>
          <a:ln/>
        </p:spPr>
        <p:txBody>
          <a:bodyPr wrap="square" lIns="0" tIns="0" rIns="0" bIns="0" rtlCol="0" anchor="t"/>
          <a:lstStyle/>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나는 배가 되서</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바다로 나간 후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돌아다니고 싶었는데</a:t>
            </a:r>
            <a:endParaRPr lang="en-US" sz="4500" dirty="0"/>
          </a:p>
          <a:p>
            <a:pPr algn="l" indent="0" marL="0">
              <a:lnSpc>
                <a:spcPts val="6075"/>
              </a:lnSpc>
              <a:buNone/>
            </a:pPr>
            <a:r>
              <a:rPr lang="en-US" sz="4500" dirty="0">
                <a:solidFill>
                  <a:srgbClr val="000000"/>
                </a:solidFill>
                <a:latin typeface="Gowun Batang" pitchFamily="34" charset="0"/>
                <a:ea typeface="Gowun Batang" pitchFamily="34" charset="-122"/>
                <a:cs typeface="Gowun Batang" pitchFamily="34" charset="-120"/>
              </a:rPr>
              <a:t>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어이쿠!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의자이 될 줄이야.</a:t>
            </a:r>
            <a:endParaRPr lang="en-US" sz="4500" dirty="0"/>
          </a:p>
        </p:txBody>
      </p:sp>
      <p:pic>
        <p:nvPicPr>
          <p:cNvPr id="6" name="Image 0" descr="preencoded.png">    </p:cNvPr>
          <p:cNvPicPr>
            <a:picLocks noChangeAspect="1"/>
          </p:cNvPicPr>
          <p:nvPr/>
        </p:nvPicPr>
        <p:blipFill>
          <a:blip r:embed="rId1"/>
          <a:stretch>
            <a:fillRect/>
          </a:stretch>
        </p:blipFill>
        <p:spPr>
          <a:xfrm>
            <a:off x="1591121" y="691356"/>
            <a:ext cx="4085530" cy="520065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003719"/>
            <a:ext cx="698500" cy="994922"/>
          </a:xfrm>
          <a:prstGeom prst="rect">
            <a:avLst/>
          </a:prstGeom>
        </p:spPr>
      </p:pic>
      <p:sp>
        <p:nvSpPr>
          <p:cNvPr id="5" name="Text 2"/>
          <p:cNvSpPr txBox="1"/>
          <p:nvPr/>
        </p:nvSpPr>
        <p:spPr>
          <a:xfrm>
            <a:off x="5326162" y="225365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1441863" y="2845395"/>
            <a:ext cx="9308275" cy="2057400"/>
          </a:xfrm>
          <a:prstGeom prst="rect">
            <a:avLst/>
          </a:prstGeom>
          <a:noFill/>
          <a:ln/>
        </p:spPr>
        <p:txBody>
          <a:bodyPr wrap="square" lIns="0" tIns="0" rIns="0" bIns="0" rtlCol="0" anchor="t"/>
          <a:lstStyle/>
          <a:p>
            <a:pPr algn="ctr" indent="0" marL="0">
              <a:lnSpc>
                <a:spcPts val="5400"/>
              </a:lnSpc>
              <a:buNone/>
            </a:pPr>
            <a:r>
              <a:rPr lang="en-US" sz="4000" b="1" dirty="0">
                <a:solidFill>
                  <a:srgbClr val="F4F0FC"/>
                </a:solidFill>
                <a:latin typeface="Gowun Batang" pitchFamily="34" charset="0"/>
                <a:ea typeface="Gowun Batang" pitchFamily="34" charset="-122"/>
                <a:cs typeface="Gowun Batang" pitchFamily="34" charset="-120"/>
              </a:rPr>
              <a:t>지금 여러분의 의자는, 여러분의 침대는,</a:t>
            </a:r>
            <a:endParaRPr lang="en-US" sz="4000" dirty="0"/>
          </a:p>
          <a:p>
            <a:pPr algn="ctr" indent="0" marL="0">
              <a:lnSpc>
                <a:spcPts val="5400"/>
              </a:lnSpc>
              <a:buNone/>
            </a:pPr>
            <a:r>
              <a:rPr lang="en-US" sz="4000" b="1" dirty="0">
                <a:solidFill>
                  <a:srgbClr val="F4F0FC"/>
                </a:solidFill>
                <a:latin typeface="Gowun Batang" pitchFamily="34" charset="0"/>
                <a:ea typeface="Gowun Batang" pitchFamily="34" charset="-122"/>
                <a:cs typeface="Gowun Batang" pitchFamily="34" charset="-120"/>
              </a:rPr>
              <a:t>여러분의 젓가락은</a:t>
            </a:r>
            <a:endParaRPr lang="en-US" sz="4000" dirty="0"/>
          </a:p>
          <a:p>
            <a:pPr algn="ctr" indent="0" marL="0">
              <a:lnSpc>
                <a:spcPts val="5400"/>
              </a:lnSpc>
              <a:buNone/>
            </a:pPr>
            <a:r>
              <a:rPr lang="en-US" sz="4000" b="1" dirty="0">
                <a:solidFill>
                  <a:srgbClr val="F4F0FC"/>
                </a:solidFill>
                <a:latin typeface="Gowun Batang" pitchFamily="34" charset="0"/>
                <a:ea typeface="Gowun Batang" pitchFamily="34" charset="-122"/>
                <a:cs typeface="Gowun Batang" pitchFamily="34" charset="-120"/>
              </a:rPr>
              <a:t>예전에 무엇이 되고 싶었을까요?</a:t>
            </a:r>
            <a:endParaRPr lang="en-US" sz="4000" dirty="0"/>
          </a:p>
        </p:txBody>
      </p:sp>
      <p:sp>
        <p:nvSpPr>
          <p:cNvPr id="7" name="Text 4"/>
          <p:cNvSpPr txBox="1"/>
          <p:nvPr/>
        </p:nvSpPr>
        <p:spPr>
          <a:xfrm>
            <a:off x="2543784" y="5156795"/>
            <a:ext cx="7104332" cy="495300"/>
          </a:xfrm>
          <a:prstGeom prst="rect">
            <a:avLst/>
          </a:prstGeom>
          <a:noFill/>
          <a:ln/>
        </p:spPr>
        <p:txBody>
          <a:bodyPr wrap="square" lIns="0" tIns="0" rIns="0" bIns="0" rtlCol="0" anchor="t"/>
          <a:lstStyle/>
          <a:p>
            <a:pPr algn="ctr" indent="0" marL="0">
              <a:lnSpc>
                <a:spcPts val="3900"/>
              </a:lnSpc>
              <a:buNone/>
            </a:pPr>
            <a:r>
              <a:rPr lang="en-US" sz="2600" dirty="0">
                <a:solidFill>
                  <a:srgbClr val="D9CFF5"/>
                </a:solidFill>
                <a:latin typeface="Gowun Dodum" pitchFamily="34" charset="0"/>
                <a:ea typeface="Gowun Dodum" pitchFamily="34" charset="-122"/>
                <a:cs typeface="Gowun Dodum" pitchFamily="34" charset="-120"/>
              </a:rPr>
              <a:t>여러분은 아주 오래전에 무엇이 되고 싶었나요?</a:t>
            </a:r>
            <a:endParaRPr lang="en-US" sz="26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04</a:t>
            </a:r>
            <a:endParaRPr lang="en-US" sz="3850" dirty="0"/>
          </a:p>
        </p:txBody>
      </p:sp>
      <p:sp>
        <p:nvSpPr>
          <p:cNvPr id="5" name="Text 3"/>
          <p:cNvSpPr txBox="1"/>
          <p:nvPr/>
        </p:nvSpPr>
        <p:spPr>
          <a:xfrm>
            <a:off x="3529509" y="24467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권오상</a:t>
            </a:r>
            <a:endParaRPr lang="en-US" sz="9600" dirty="0"/>
          </a:p>
        </p:txBody>
      </p:sp>
      <p:sp>
        <p:nvSpPr>
          <p:cNvPr id="6" name="Text 4"/>
          <p:cNvSpPr txBox="1"/>
          <p:nvPr/>
        </p:nvSpPr>
        <p:spPr>
          <a:xfrm>
            <a:off x="4005957" y="3940175"/>
            <a:ext cx="417998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〈데오도란트 타입〉, 1998~</a:t>
            </a:r>
            <a:endParaRPr lang="en-US" sz="2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7006" y="2452390"/>
            <a:ext cx="67579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꼭 무거워야 할까요?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pic>
        <p:nvPicPr>
          <p:cNvPr id="5" name="Image 0" descr="preencoded.png">    </p:cNvPr>
          <p:cNvPicPr>
            <a:picLocks noChangeAspect="1"/>
          </p:cNvPicPr>
          <p:nvPr/>
        </p:nvPicPr>
        <p:blipFill>
          <a:blip r:embed="rId1"/>
          <a:stretch>
            <a:fillRect/>
          </a:stretch>
        </p:blipFill>
        <p:spPr>
          <a:xfrm>
            <a:off x="1828899" y="419100"/>
            <a:ext cx="4064000" cy="6019800"/>
          </a:xfrm>
          <a:prstGeom prst="rect">
            <a:avLst/>
          </a:prstGeom>
        </p:spPr>
      </p:pic>
      <p:sp>
        <p:nvSpPr>
          <p:cNvPr id="6" name="Text 3"/>
          <p:cNvSpPr txBox="1"/>
          <p:nvPr/>
        </p:nvSpPr>
        <p:spPr>
          <a:xfrm>
            <a:off x="6234410" y="3141861"/>
            <a:ext cx="11834368"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무엇으로 만들었을까요?</a:t>
            </a:r>
            <a:endParaRPr lang="en-US" sz="3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22290" y="2889845"/>
            <a:ext cx="6347420"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정답 : 사진 수백 장</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48720" y="2452390"/>
            <a:ext cx="569446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앞, 옆, 뒤를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오려 붙였어요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84811" y="2452390"/>
            <a:ext cx="442227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사진일까요,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
        <p:nvSpPr>
          <p:cNvPr id="5" name="Text 3"/>
          <p:cNvSpPr txBox="1"/>
          <p:nvPr/>
        </p:nvSpPr>
        <p:spPr>
          <a:xfrm>
            <a:off x="2929533" y="5100340"/>
            <a:ext cx="11834368" cy="553045"/>
          </a:xfrm>
          <a:prstGeom prst="rect">
            <a:avLst/>
          </a:prstGeom>
          <a:noFill/>
          <a:ln/>
        </p:spPr>
        <p:txBody>
          <a:bodyPr wrap="square" lIns="0" tIns="0" rIns="0" bIns="0" rtlCol="0" anchor="t"/>
          <a:lstStyle/>
          <a:p>
            <a:pPr algn="l"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한 사람을 여러 방향에서 본다는 것</a:t>
            </a:r>
            <a:endParaRPr lang="en-US" sz="3350" dirty="0"/>
          </a:p>
        </p:txBody>
      </p:sp>
      <p:pic>
        <p:nvPicPr>
          <p:cNvPr id="6" name="Image 0" descr="preencoded.png">    </p:cNvPr>
          <p:cNvPicPr>
            <a:picLocks noChangeAspect="1"/>
          </p:cNvPicPr>
          <p:nvPr/>
        </p:nvPicPr>
        <p:blipFill>
          <a:blip r:embed="rId1"/>
          <a:stretch>
            <a:fillRect/>
          </a:stretch>
        </p:blipFill>
        <p:spPr>
          <a:xfrm>
            <a:off x="4677767" y="445746"/>
            <a:ext cx="3149600" cy="3694199"/>
          </a:xfrm>
          <a:prstGeom prst="rect">
            <a:avLst/>
          </a:prstGeom>
        </p:spPr>
      </p:pic>
      <p:sp>
        <p:nvSpPr>
          <p:cNvPr id="7" name="Text 4"/>
          <p:cNvSpPr txBox="1"/>
          <p:nvPr/>
        </p:nvSpPr>
        <p:spPr>
          <a:xfrm>
            <a:off x="4759047" y="4273649"/>
            <a:ext cx="298704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호크니 〈Mother I〉</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1985 · 사진 콜라주</a:t>
            </a:r>
            <a:endParaRPr lang="en-US" sz="1400" dirty="0"/>
          </a:p>
        </p:txBody>
      </p:sp>
      <p:sp>
        <p:nvSpPr>
          <p:cNvPr id="8" name="Text 5"/>
          <p:cNvSpPr txBox="1"/>
          <p:nvPr/>
        </p:nvSpPr>
        <p:spPr>
          <a:xfrm>
            <a:off x="9264948" y="4273748"/>
            <a:ext cx="9271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권오상</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사진조각</a:t>
            </a:r>
            <a:endParaRPr lang="en-US" sz="1400" dirty="0"/>
          </a:p>
        </p:txBody>
      </p:sp>
      <p:sp>
        <p:nvSpPr>
          <p:cNvPr id="9" name="Text 6"/>
          <p:cNvSpPr txBox="1"/>
          <p:nvPr/>
        </p:nvSpPr>
        <p:spPr>
          <a:xfrm>
            <a:off x="2075755" y="4273748"/>
            <a:ext cx="10795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피카소</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우는 여인</a:t>
            </a:r>
            <a:endParaRPr lang="en-US" sz="1400" dirty="0"/>
          </a:p>
        </p:txBody>
      </p:sp>
      <p:pic>
        <p:nvPicPr>
          <p:cNvPr id="10" name="Image 1" descr="preencoded.png">    </p:cNvPr>
          <p:cNvPicPr>
            <a:picLocks noChangeAspect="1"/>
          </p:cNvPicPr>
          <p:nvPr/>
        </p:nvPicPr>
        <p:blipFill>
          <a:blip r:embed="rId2"/>
          <a:stretch>
            <a:fillRect/>
          </a:stretch>
        </p:blipFill>
        <p:spPr>
          <a:xfrm>
            <a:off x="1251645" y="444996"/>
            <a:ext cx="2965450" cy="3700165"/>
          </a:xfrm>
          <a:prstGeom prst="rect">
            <a:avLst/>
          </a:prstGeom>
        </p:spPr>
      </p:pic>
      <p:pic>
        <p:nvPicPr>
          <p:cNvPr id="11" name="Image 2" descr="preencoded.png">    </p:cNvPr>
          <p:cNvPicPr>
            <a:picLocks noChangeAspect="1"/>
          </p:cNvPicPr>
          <p:nvPr/>
        </p:nvPicPr>
        <p:blipFill>
          <a:blip r:embed="rId3"/>
          <a:stretch>
            <a:fillRect/>
          </a:stretch>
        </p:blipFill>
        <p:spPr>
          <a:xfrm>
            <a:off x="8113961" y="444897"/>
            <a:ext cx="2832795" cy="37002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1244" y="1485999"/>
            <a:ext cx="6769513" cy="594320"/>
          </a:xfrm>
          <a:prstGeom prst="rect">
            <a:avLst/>
          </a:prstGeom>
          <a:noFill/>
          <a:ln/>
        </p:spPr>
        <p:txBody>
          <a:bodyPr wrap="square" lIns="0" tIns="0" rIns="0" bIns="0" rtlCol="0" anchor="t"/>
          <a:lstStyle/>
          <a:p>
            <a:pPr algn="ctr" indent="0" marL="0">
              <a:lnSpc>
                <a:spcPts val="4680"/>
              </a:lnSpc>
              <a:buNone/>
            </a:pPr>
            <a:r>
              <a:rPr lang="en-US" sz="3600" b="1" dirty="0">
                <a:solidFill>
                  <a:srgbClr val="1E1E24"/>
                </a:solidFill>
                <a:latin typeface="Gowun Batang" pitchFamily="34" charset="0"/>
                <a:ea typeface="Gowun Batang" pitchFamily="34" charset="-122"/>
                <a:cs typeface="Gowun Batang" pitchFamily="34" charset="-120"/>
              </a:rPr>
              <a:t>여러 방향에서 본 모습을 하나로</a:t>
            </a:r>
            <a:endParaRPr lang="en-US" sz="3600" dirty="0"/>
          </a:p>
        </p:txBody>
      </p:sp>
      <p:sp>
        <p:nvSpPr>
          <p:cNvPr id="5" name="Shape 3"/>
          <p:cNvSpPr/>
          <p:nvPr/>
        </p:nvSpPr>
        <p:spPr>
          <a:xfrm>
            <a:off x="1206500" y="2334320"/>
            <a:ext cx="2794000" cy="2199481"/>
          </a:xfrm>
          <a:prstGeom prst="roundRect">
            <a:avLst>
              <a:gd name="adj" fmla="val 6929"/>
            </a:avLst>
          </a:prstGeom>
          <a:solidFill>
            <a:srgbClr val="F5F1FC"/>
          </a:solidFill>
          <a:ln/>
        </p:spPr>
      </p:sp>
      <p:sp>
        <p:nvSpPr>
          <p:cNvPr id="6" name="Text 4"/>
          <p:cNvSpPr txBox="1"/>
          <p:nvPr/>
        </p:nvSpPr>
        <p:spPr>
          <a:xfrm>
            <a:off x="1460500" y="2588320"/>
            <a:ext cx="26670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피카소 · 그림</a:t>
            </a:r>
            <a:endParaRPr lang="en-US" sz="2000" dirty="0"/>
          </a:p>
        </p:txBody>
      </p:sp>
      <p:sp>
        <p:nvSpPr>
          <p:cNvPr id="7" name="Text 5"/>
          <p:cNvSpPr txBox="1"/>
          <p:nvPr/>
        </p:nvSpPr>
        <p:spPr>
          <a:xfrm>
            <a:off x="1460500" y="3020120"/>
            <a:ext cx="2590800" cy="1259681"/>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한 사람을 여러 방향에서 본 모습을 한 화면에 함께 그렸어요. 이것을 ‘입체파’라고 해요.</a:t>
            </a:r>
            <a:endParaRPr lang="en-US" sz="1600" dirty="0"/>
          </a:p>
        </p:txBody>
      </p:sp>
      <p:sp>
        <p:nvSpPr>
          <p:cNvPr id="8" name="Text 6"/>
          <p:cNvSpPr txBox="1"/>
          <p:nvPr/>
        </p:nvSpPr>
        <p:spPr>
          <a:xfrm>
            <a:off x="4178300" y="3243560"/>
            <a:ext cx="914400" cy="381000"/>
          </a:xfrm>
          <a:prstGeom prst="rect">
            <a:avLst/>
          </a:prstGeom>
          <a:noFill/>
          <a:ln/>
        </p:spPr>
        <p:txBody>
          <a:bodyPr wrap="square" lIns="0" tIns="0" rIns="0" bIns="0" rtlCol="0" anchor="t"/>
          <a:lstStyle/>
          <a:p>
            <a:pPr algn="l" indent="0" marL="0">
              <a:lnSpc>
                <a:spcPts val="3000"/>
              </a:lnSpc>
              <a:buNone/>
            </a:pPr>
            <a:r>
              <a:rPr lang="en-US" sz="3000" dirty="0">
                <a:solidFill>
                  <a:srgbClr val="9B84D6"/>
                </a:solidFill>
                <a:latin typeface="Gowun Dodum" pitchFamily="34" charset="0"/>
                <a:ea typeface="Gowun Dodum" pitchFamily="34" charset="-122"/>
                <a:cs typeface="Gowun Dodum" pitchFamily="34" charset="-120"/>
              </a:rPr>
              <a:t>→</a:t>
            </a:r>
            <a:endParaRPr lang="en-US" sz="3000" dirty="0"/>
          </a:p>
        </p:txBody>
      </p:sp>
      <p:sp>
        <p:nvSpPr>
          <p:cNvPr id="9" name="Shape 7"/>
          <p:cNvSpPr/>
          <p:nvPr/>
        </p:nvSpPr>
        <p:spPr>
          <a:xfrm>
            <a:off x="4699000" y="2491780"/>
            <a:ext cx="2794000" cy="1884561"/>
          </a:xfrm>
          <a:prstGeom prst="roundRect">
            <a:avLst>
              <a:gd name="adj" fmla="val 8087"/>
            </a:avLst>
          </a:prstGeom>
          <a:solidFill>
            <a:srgbClr val="F5F1FC"/>
          </a:solidFill>
          <a:ln/>
        </p:spPr>
      </p:sp>
      <p:sp>
        <p:nvSpPr>
          <p:cNvPr id="10" name="Text 8"/>
          <p:cNvSpPr txBox="1"/>
          <p:nvPr/>
        </p:nvSpPr>
        <p:spPr>
          <a:xfrm>
            <a:off x="4953000" y="2745780"/>
            <a:ext cx="26670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호크니 · 사진 콜라주</a:t>
            </a:r>
            <a:endParaRPr lang="en-US" sz="2000" dirty="0"/>
          </a:p>
        </p:txBody>
      </p:sp>
      <p:sp>
        <p:nvSpPr>
          <p:cNvPr id="11" name="Text 9"/>
          <p:cNvSpPr txBox="1"/>
          <p:nvPr/>
        </p:nvSpPr>
        <p:spPr>
          <a:xfrm>
            <a:off x="4953000" y="3177580"/>
            <a:ext cx="2590800" cy="944761"/>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어머니를 여러 번 찍은 사진을 조각조각 이어 붙였어요. 그래도 여전히 평면이에요.</a:t>
            </a:r>
            <a:endParaRPr lang="en-US" sz="1600" dirty="0"/>
          </a:p>
        </p:txBody>
      </p:sp>
      <p:sp>
        <p:nvSpPr>
          <p:cNvPr id="12" name="Text 10"/>
          <p:cNvSpPr txBox="1"/>
          <p:nvPr/>
        </p:nvSpPr>
        <p:spPr>
          <a:xfrm>
            <a:off x="7670800" y="3243560"/>
            <a:ext cx="914400" cy="381000"/>
          </a:xfrm>
          <a:prstGeom prst="rect">
            <a:avLst/>
          </a:prstGeom>
          <a:noFill/>
          <a:ln/>
        </p:spPr>
        <p:txBody>
          <a:bodyPr wrap="square" lIns="0" tIns="0" rIns="0" bIns="0" rtlCol="0" anchor="t"/>
          <a:lstStyle/>
          <a:p>
            <a:pPr algn="l" indent="0" marL="0">
              <a:lnSpc>
                <a:spcPts val="3000"/>
              </a:lnSpc>
              <a:buNone/>
            </a:pPr>
            <a:r>
              <a:rPr lang="en-US" sz="3000" dirty="0">
                <a:solidFill>
                  <a:srgbClr val="9B84D6"/>
                </a:solidFill>
                <a:latin typeface="Gowun Dodum" pitchFamily="34" charset="0"/>
                <a:ea typeface="Gowun Dodum" pitchFamily="34" charset="-122"/>
                <a:cs typeface="Gowun Dodum" pitchFamily="34" charset="-120"/>
              </a:rPr>
              <a:t>→</a:t>
            </a:r>
            <a:endParaRPr lang="en-US" sz="3000" dirty="0"/>
          </a:p>
        </p:txBody>
      </p:sp>
      <p:sp>
        <p:nvSpPr>
          <p:cNvPr id="13" name="Shape 11"/>
          <p:cNvSpPr/>
          <p:nvPr/>
        </p:nvSpPr>
        <p:spPr>
          <a:xfrm>
            <a:off x="8191500" y="2491780"/>
            <a:ext cx="2794000" cy="1884561"/>
          </a:xfrm>
          <a:prstGeom prst="roundRect">
            <a:avLst>
              <a:gd name="adj" fmla="val 8087"/>
            </a:avLst>
          </a:prstGeom>
          <a:solidFill>
            <a:srgbClr val="F5F1FC"/>
          </a:solidFill>
          <a:ln/>
        </p:spPr>
      </p:sp>
      <p:sp>
        <p:nvSpPr>
          <p:cNvPr id="14" name="Text 12"/>
          <p:cNvSpPr txBox="1"/>
          <p:nvPr/>
        </p:nvSpPr>
        <p:spPr>
          <a:xfrm>
            <a:off x="8445500" y="2745780"/>
            <a:ext cx="26670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권오상 · 사진조각</a:t>
            </a:r>
            <a:endParaRPr lang="en-US" sz="2000" dirty="0"/>
          </a:p>
        </p:txBody>
      </p:sp>
      <p:sp>
        <p:nvSpPr>
          <p:cNvPr id="15" name="Text 13"/>
          <p:cNvSpPr txBox="1"/>
          <p:nvPr/>
        </p:nvSpPr>
        <p:spPr>
          <a:xfrm>
            <a:off x="8445500" y="3177580"/>
            <a:ext cx="2590800" cy="944761"/>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사진 수백 장으로 여러 방향을 찍어, 입체 조각으로 다시 세웠어요.</a:t>
            </a:r>
            <a:endParaRPr lang="en-US" sz="1600" dirty="0"/>
          </a:p>
        </p:txBody>
      </p:sp>
      <p:sp>
        <p:nvSpPr>
          <p:cNvPr id="16" name="Text 14"/>
          <p:cNvSpPr txBox="1"/>
          <p:nvPr/>
        </p:nvSpPr>
        <p:spPr>
          <a:xfrm>
            <a:off x="4027747" y="4787801"/>
            <a:ext cx="4136406" cy="381000"/>
          </a:xfrm>
          <a:prstGeom prst="rect">
            <a:avLst/>
          </a:prstGeom>
          <a:noFill/>
          <a:ln/>
        </p:spPr>
        <p:txBody>
          <a:bodyPr wrap="square" lIns="0" tIns="0" rIns="0" bIns="0" rtlCol="0" anchor="t"/>
          <a:lstStyle/>
          <a:p>
            <a:pPr algn="ctr" indent="0" marL="0">
              <a:lnSpc>
                <a:spcPts val="3000"/>
              </a:lnSpc>
              <a:buNone/>
            </a:pPr>
            <a:r>
              <a:rPr lang="en-US" sz="2000" dirty="0">
                <a:solidFill>
                  <a:srgbClr val="5B5B66"/>
                </a:solidFill>
                <a:latin typeface="Gowun Dodum" pitchFamily="34" charset="0"/>
                <a:ea typeface="Gowun Dodum" pitchFamily="34" charset="-122"/>
                <a:cs typeface="Gowun Dodum" pitchFamily="34" charset="-120"/>
              </a:rPr>
              <a:t>그림에서 사진으로, 평면에서 입체로</a:t>
            </a:r>
            <a:endParaRPr lang="en-US" sz="2000" dirty="0"/>
          </a:p>
        </p:txBody>
      </p:sp>
      <p:sp>
        <p:nvSpPr>
          <p:cNvPr id="17" name="Text 1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585214"/>
            <a:ext cx="698500" cy="994922"/>
          </a:xfrm>
          <a:prstGeom prst="rect">
            <a:avLst/>
          </a:prstGeom>
        </p:spPr>
      </p:pic>
      <p:sp>
        <p:nvSpPr>
          <p:cNvPr id="5"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04 · 권오상</a:t>
            </a:r>
            <a:endParaRPr lang="en-US" sz="1200" dirty="0"/>
          </a:p>
        </p:txBody>
      </p:sp>
      <p:sp>
        <p:nvSpPr>
          <p:cNvPr id="6" name="Text 3"/>
          <p:cNvSpPr txBox="1"/>
          <p:nvPr/>
        </p:nvSpPr>
        <p:spPr>
          <a:xfrm>
            <a:off x="4899025" y="1672431"/>
            <a:ext cx="2393950"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7" name="Text 4"/>
          <p:cNvSpPr txBox="1"/>
          <p:nvPr/>
        </p:nvSpPr>
        <p:spPr>
          <a:xfrm>
            <a:off x="178816" y="2240310"/>
            <a:ext cx="11834368" cy="2377380"/>
          </a:xfrm>
          <a:prstGeom prst="rect">
            <a:avLst/>
          </a:prstGeom>
          <a:noFill/>
          <a:ln/>
        </p:spPr>
        <p:txBody>
          <a:bodyPr wrap="square" lIns="0" tIns="0" rIns="0" bIns="0" rtlCol="0" anchor="t"/>
          <a:lstStyle/>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사진 한 장과 사진 수백 장,</a:t>
            </a:r>
            <a:endParaRPr lang="en-US" sz="4800" dirty="0"/>
          </a:p>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어느 쪽이 그 사람을</a:t>
            </a:r>
            <a:endParaRPr lang="en-US" sz="4800" dirty="0"/>
          </a:p>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더 닮았을까요?</a:t>
            </a:r>
            <a:endParaRPr lang="en-US" sz="4800" dirty="0"/>
          </a:p>
        </p:txBody>
      </p:sp>
      <p:sp>
        <p:nvSpPr>
          <p:cNvPr id="8" name="Text 5"/>
          <p:cNvSpPr txBox="1"/>
          <p:nvPr/>
        </p:nvSpPr>
        <p:spPr>
          <a:xfrm>
            <a:off x="178816" y="4889500"/>
            <a:ext cx="11834368" cy="782241"/>
          </a:xfrm>
          <a:prstGeom prst="rect">
            <a:avLst/>
          </a:prstGeom>
          <a:noFill/>
          <a:ln/>
        </p:spPr>
        <p:txBody>
          <a:bodyPr wrap="square" lIns="0" tIns="0" rIns="0" bIns="0" rtlCol="0" anchor="t"/>
          <a:lstStyle/>
          <a:p>
            <a:pPr algn="ctr" indent="0" marL="0">
              <a:lnSpc>
                <a:spcPts val="3080"/>
              </a:lnSpc>
              <a:buNone/>
            </a:pPr>
            <a:r>
              <a:rPr lang="en-US" sz="2200" dirty="0">
                <a:solidFill>
                  <a:srgbClr val="D9CFF5"/>
                </a:solidFill>
                <a:latin typeface="Gowun Dodum" pitchFamily="34" charset="0"/>
                <a:ea typeface="Gowun Dodum" pitchFamily="34" charset="-122"/>
                <a:cs typeface="Gowun Dodum" pitchFamily="34" charset="-120"/>
              </a:rPr>
              <a:t>SNS 속 수없이 많은 그 친구의 사진들,</a:t>
            </a:r>
            <a:endParaRPr lang="en-US" sz="2200" dirty="0"/>
          </a:p>
          <a:p>
            <a:pPr algn="ctr" indent="0" marL="0">
              <a:lnSpc>
                <a:spcPts val="3080"/>
              </a:lnSpc>
              <a:buNone/>
            </a:pPr>
            <a:r>
              <a:rPr lang="en-US" sz="2200" dirty="0">
                <a:solidFill>
                  <a:srgbClr val="D9CFF5"/>
                </a:solidFill>
                <a:latin typeface="Gowun Dodum" pitchFamily="34" charset="0"/>
                <a:ea typeface="Gowun Dodum" pitchFamily="34" charset="-122"/>
                <a:cs typeface="Gowun Dodum" pitchFamily="34" charset="-120"/>
              </a:rPr>
              <a:t>그 사진들은 모두 그 친구를 닮았을까요?</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52918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3부</a:t>
            </a:r>
            <a:endParaRPr lang="en-US" sz="3350" dirty="0"/>
          </a:p>
        </p:txBody>
      </p:sp>
      <p:sp>
        <p:nvSpPr>
          <p:cNvPr id="5" name="Text 3"/>
          <p:cNvSpPr txBox="1"/>
          <p:nvPr/>
        </p:nvSpPr>
        <p:spPr>
          <a:xfrm>
            <a:off x="3956248" y="3277195"/>
            <a:ext cx="4279404"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꿈과 틀</a:t>
            </a:r>
            <a:endParaRPr lang="en-US" sz="7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05</a:t>
            </a:r>
            <a:endParaRPr lang="en-US" sz="3850" dirty="0"/>
          </a:p>
        </p:txBody>
      </p:sp>
      <p:sp>
        <p:nvSpPr>
          <p:cNvPr id="5" name="Text 3"/>
          <p:cNvSpPr txBox="1"/>
          <p:nvPr/>
        </p:nvSpPr>
        <p:spPr>
          <a:xfrm>
            <a:off x="3529509" y="24467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정연두</a:t>
            </a:r>
            <a:endParaRPr lang="en-US" sz="9600" dirty="0"/>
          </a:p>
        </p:txBody>
      </p:sp>
      <p:sp>
        <p:nvSpPr>
          <p:cNvPr id="6" name="Text 4"/>
          <p:cNvSpPr txBox="1"/>
          <p:nvPr/>
        </p:nvSpPr>
        <p:spPr>
          <a:xfrm>
            <a:off x="4265116" y="3940175"/>
            <a:ext cx="366166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〈내 사랑 지니〉, 2001~</a:t>
            </a:r>
            <a:endParaRPr lang="en-US" sz="26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pic>
        <p:nvPicPr>
          <p:cNvPr id="5" name="Image 0" descr="preencoded.png">    </p:cNvPr>
          <p:cNvPicPr>
            <a:picLocks noChangeAspect="1"/>
          </p:cNvPicPr>
          <p:nvPr/>
        </p:nvPicPr>
        <p:blipFill>
          <a:blip r:embed="rId1"/>
          <a:stretch>
            <a:fillRect/>
          </a:stretch>
        </p:blipFill>
        <p:spPr>
          <a:xfrm>
            <a:off x="2367955" y="812800"/>
            <a:ext cx="4135934" cy="5182394"/>
          </a:xfrm>
          <a:prstGeom prst="rect">
            <a:avLst/>
          </a:prstGeom>
        </p:spPr>
      </p:pic>
      <p:sp>
        <p:nvSpPr>
          <p:cNvPr id="6" name="Text 3"/>
          <p:cNvSpPr txBox="1"/>
          <p:nvPr/>
        </p:nvSpPr>
        <p:spPr>
          <a:xfrm>
            <a:off x="6975078" y="2984302"/>
            <a:ext cx="7218680"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사진은</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어떤 사진일까요?</a:t>
            </a:r>
            <a:endParaRPr lang="en-US" sz="3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130550" y="812800"/>
            <a:ext cx="5930900" cy="3810000"/>
          </a:xfrm>
          <a:prstGeom prst="rect">
            <a:avLst/>
          </a:prstGeom>
        </p:spPr>
      </p:pic>
      <p:sp>
        <p:nvSpPr>
          <p:cNvPr id="5" name="Text 2"/>
          <p:cNvSpPr txBox="1"/>
          <p:nvPr/>
        </p:nvSpPr>
        <p:spPr>
          <a:xfrm>
            <a:off x="2355421" y="4927600"/>
            <a:ext cx="7481157"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이 사람은 아이스크림 가게에서 일해요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035300" y="812800"/>
            <a:ext cx="6121400" cy="3810000"/>
          </a:xfrm>
          <a:prstGeom prst="rect">
            <a:avLst/>
          </a:prstGeom>
        </p:spPr>
      </p:pic>
      <p:sp>
        <p:nvSpPr>
          <p:cNvPr id="5" name="Text 2"/>
          <p:cNvSpPr txBox="1"/>
          <p:nvPr/>
        </p:nvSpPr>
        <p:spPr>
          <a:xfrm>
            <a:off x="2114731" y="4927600"/>
            <a:ext cx="7962440"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주유소의 이 소년은 카레이서를 꿈꿨어요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35325" y="2452390"/>
            <a:ext cx="572135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작가가 물었어요.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“꿈이 뭐예요?”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67509" y="2452390"/>
            <a:ext cx="66569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꿈을 무대로 만들고,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찰칵</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104059" y="2452390"/>
            <a:ext cx="59838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북극에 갔을까요?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9157" y="2452390"/>
            <a:ext cx="631368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 속에만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5117" y="2452390"/>
            <a:ext cx="714166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찍힌 그 순간은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진짜였죠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035469"/>
            <a:ext cx="698500" cy="994922"/>
          </a:xfrm>
          <a:prstGeom prst="rect">
            <a:avLst/>
          </a:prstGeom>
        </p:spPr>
      </p:pic>
      <p:sp>
        <p:nvSpPr>
          <p:cNvPr id="5" name="Text 2"/>
          <p:cNvSpPr txBox="1"/>
          <p:nvPr/>
        </p:nvSpPr>
        <p:spPr>
          <a:xfrm>
            <a:off x="5326162" y="228540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2292350" y="2877145"/>
            <a:ext cx="76073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이 사진으로 찍힌 순간은</a:t>
            </a:r>
            <a:endParaRPr lang="en-US" sz="5000" dirty="0"/>
          </a:p>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진짜일까요? 가짜일까요?</a:t>
            </a:r>
            <a:endParaRPr lang="en-US" sz="5000" dirty="0"/>
          </a:p>
        </p:txBody>
      </p:sp>
      <p:sp>
        <p:nvSpPr>
          <p:cNvPr id="7" name="Text 4"/>
          <p:cNvSpPr txBox="1"/>
          <p:nvPr/>
        </p:nvSpPr>
        <p:spPr>
          <a:xfrm>
            <a:off x="3157528" y="4782145"/>
            <a:ext cx="5876846" cy="838200"/>
          </a:xfrm>
          <a:prstGeom prst="rect">
            <a:avLst/>
          </a:prstGeom>
          <a:noFill/>
          <a:ln/>
        </p:spPr>
        <p:txBody>
          <a:bodyPr wrap="square" lIns="0" tIns="0" rIns="0" bIns="0" rtlCol="0" anchor="t"/>
          <a:lstStyle/>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잠시라도 현실에 존재했으니 진짜인가요?</a:t>
            </a:r>
            <a:endParaRPr lang="en-US" sz="2200" dirty="0"/>
          </a:p>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잠시이긴 하지만 만들어진 거니까 가짜일까요?</a:t>
            </a:r>
            <a:endParaRPr lang="en-US" sz="22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06</a:t>
            </a:r>
            <a:endParaRPr lang="en-US" sz="3850" dirty="0"/>
          </a:p>
        </p:txBody>
      </p:sp>
      <p:sp>
        <p:nvSpPr>
          <p:cNvPr id="5" name="Text 3"/>
          <p:cNvSpPr txBox="1"/>
          <p:nvPr/>
        </p:nvSpPr>
        <p:spPr>
          <a:xfrm>
            <a:off x="3547864" y="2446734"/>
            <a:ext cx="5096272"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김우진</a:t>
            </a:r>
            <a:endParaRPr lang="en-US" sz="9600" dirty="0"/>
          </a:p>
        </p:txBody>
      </p:sp>
      <p:sp>
        <p:nvSpPr>
          <p:cNvPr id="6" name="Text 4"/>
          <p:cNvSpPr txBox="1"/>
          <p:nvPr/>
        </p:nvSpPr>
        <p:spPr>
          <a:xfrm>
            <a:off x="3031506" y="3940175"/>
            <a:ext cx="612898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〈이 황금신을 신을 수 있는 사람〉, 2021</a:t>
            </a:r>
            <a:endParaRPr lang="en-US" sz="26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61220" y="2452390"/>
            <a:ext cx="726955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구두에 맞는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찾습니다</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신데렐라,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다들 알죠?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50653" y="2014835"/>
            <a:ext cx="8090694"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원래 이야기에서 언니들은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구두에 맞추려고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발을 잘랐어요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758950"/>
            <a:ext cx="6350000" cy="3136900"/>
          </a:xfrm>
          <a:prstGeom prst="rect">
            <a:avLst/>
          </a:prstGeom>
        </p:spPr>
      </p:pic>
      <p:sp>
        <p:nvSpPr>
          <p:cNvPr id="5" name="Text 2"/>
          <p:cNvSpPr txBox="1"/>
          <p:nvPr/>
        </p:nvSpPr>
        <p:spPr>
          <a:xfrm>
            <a:off x="7569200" y="2753122"/>
            <a:ext cx="4448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작은 구두에 맞춰</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발을 깎아요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84325"/>
            <a:ext cx="6350000" cy="34861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깎여 나가는 발 위로</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사라져 가는 말이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흘러요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2410" y="2014835"/>
            <a:ext cx="632718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아이누어.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이제 거의 아무도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쓰지 않는 말이에요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39260" y="1450479"/>
            <a:ext cx="6513481" cy="594320"/>
          </a:xfrm>
          <a:prstGeom prst="rect">
            <a:avLst/>
          </a:prstGeom>
          <a:noFill/>
          <a:ln/>
        </p:spPr>
        <p:txBody>
          <a:bodyPr wrap="square" lIns="0" tIns="0" rIns="0" bIns="0" rtlCol="0" anchor="t"/>
          <a:lstStyle/>
          <a:p>
            <a:pPr algn="ctr" indent="0" marL="0">
              <a:lnSpc>
                <a:spcPts val="4680"/>
              </a:lnSpc>
              <a:buNone/>
            </a:pPr>
            <a:r>
              <a:rPr lang="en-US" sz="3600" b="1" dirty="0">
                <a:solidFill>
                  <a:srgbClr val="1E1E24"/>
                </a:solidFill>
                <a:latin typeface="Gowun Batang" pitchFamily="34" charset="0"/>
                <a:ea typeface="Gowun Batang" pitchFamily="34" charset="-122"/>
                <a:cs typeface="Gowun Batang" pitchFamily="34" charset="-120"/>
              </a:rPr>
              <a:t>구두와 발은 무엇을 뜻할까요?</a:t>
            </a:r>
            <a:endParaRPr lang="en-US" sz="3600" dirty="0"/>
          </a:p>
        </p:txBody>
      </p:sp>
      <p:sp>
        <p:nvSpPr>
          <p:cNvPr id="5" name="Text 3"/>
          <p:cNvSpPr txBox="1"/>
          <p:nvPr/>
        </p:nvSpPr>
        <p:spPr>
          <a:xfrm>
            <a:off x="1257300" y="2336800"/>
            <a:ext cx="3162300" cy="741660"/>
          </a:xfrm>
          <a:prstGeom prst="rect">
            <a:avLst/>
          </a:prstGeom>
          <a:solidFill>
            <a:srgbClr val="F3EEFC"/>
          </a:solidFill>
          <a:ln/>
        </p:spPr>
        <p:txBody>
          <a:bodyPr wrap="square" lIns="0" tIns="0" rIns="0" bIns="0" rtlCol="0" anchor="t"/>
          <a:lstStyle/>
          <a:p>
            <a:pPr algn="ctr" indent="0" marL="0">
              <a:lnSpc>
                <a:spcPts val="3640"/>
              </a:lnSpc>
              <a:buNone/>
            </a:pPr>
            <a:r>
              <a:rPr lang="en-US" sz="2600" b="1" dirty="0">
                <a:solidFill>
                  <a:srgbClr val="5A3FA6"/>
                </a:solidFill>
                <a:latin typeface="Gowun Batang" pitchFamily="34" charset="0"/>
                <a:ea typeface="Gowun Batang" pitchFamily="34" charset="-122"/>
                <a:cs typeface="Gowun Batang" pitchFamily="34" charset="-120"/>
              </a:rPr>
              <a:t>작은 구두</a:t>
            </a:r>
            <a:endParaRPr lang="en-US" sz="2600" dirty="0"/>
          </a:p>
        </p:txBody>
      </p:sp>
      <p:sp>
        <p:nvSpPr>
          <p:cNvPr id="6" name="Text 4"/>
          <p:cNvSpPr txBox="1"/>
          <p:nvPr/>
        </p:nvSpPr>
        <p:spPr>
          <a:xfrm>
            <a:off x="4400550" y="2517180"/>
            <a:ext cx="914400" cy="381000"/>
          </a:xfrm>
          <a:prstGeom prst="rect">
            <a:avLst/>
          </a:prstGeom>
          <a:noFill/>
          <a:ln/>
        </p:spPr>
        <p:txBody>
          <a:bodyPr wrap="square" lIns="0" tIns="0" rIns="0" bIns="0" rtlCol="0" anchor="t"/>
          <a:lstStyle/>
          <a:p>
            <a:pPr algn="l" indent="0" marL="0">
              <a:lnSpc>
                <a:spcPts val="3000"/>
              </a:lnSpc>
              <a:buNone/>
            </a:pPr>
            <a:r>
              <a:rPr lang="en-US" sz="3000" dirty="0">
                <a:solidFill>
                  <a:srgbClr val="9B84D6"/>
                </a:solidFill>
                <a:latin typeface="Gowun Dodum" pitchFamily="34" charset="0"/>
                <a:ea typeface="Gowun Dodum" pitchFamily="34" charset="-122"/>
                <a:cs typeface="Gowun Dodum" pitchFamily="34" charset="-120"/>
              </a:rPr>
              <a:t>→</a:t>
            </a:r>
            <a:endParaRPr lang="en-US" sz="3000" dirty="0"/>
          </a:p>
        </p:txBody>
      </p:sp>
      <p:sp>
        <p:nvSpPr>
          <p:cNvPr id="7" name="Text 5"/>
          <p:cNvSpPr txBox="1"/>
          <p:nvPr/>
        </p:nvSpPr>
        <p:spPr>
          <a:xfrm>
            <a:off x="4972050" y="2298799"/>
            <a:ext cx="6400800" cy="817761"/>
          </a:xfrm>
          <a:prstGeom prst="rect">
            <a:avLst/>
          </a:prstGeom>
          <a:noFill/>
          <a:ln/>
        </p:spPr>
        <p:txBody>
          <a:bodyPr wrap="square" lIns="0" tIns="0" rIns="0" bIns="0" rtlCol="0" anchor="t"/>
          <a:lstStyle/>
          <a:p>
            <a:pPr algn="l" indent="0" marL="0">
              <a:lnSpc>
                <a:spcPts val="3220"/>
              </a:lnSpc>
              <a:buNone/>
            </a:pPr>
            <a:r>
              <a:rPr lang="en-US" sz="2300" dirty="0">
                <a:solidFill>
                  <a:srgbClr val="1E1E24"/>
                </a:solidFill>
                <a:latin typeface="Gowun Dodum" pitchFamily="34" charset="0"/>
                <a:ea typeface="Gowun Dodum" pitchFamily="34" charset="-122"/>
                <a:cs typeface="Gowun Dodum" pitchFamily="34" charset="-120"/>
              </a:rPr>
              <a:t>모두가 맞춰야 하는 기준, 많은 사람이 쓰는 큰 언어</a:t>
            </a:r>
            <a:endParaRPr lang="en-US" sz="2300" dirty="0"/>
          </a:p>
        </p:txBody>
      </p:sp>
      <p:sp>
        <p:nvSpPr>
          <p:cNvPr id="8" name="Text 6"/>
          <p:cNvSpPr txBox="1"/>
          <p:nvPr/>
        </p:nvSpPr>
        <p:spPr>
          <a:xfrm>
            <a:off x="1257300" y="3332361"/>
            <a:ext cx="3162300" cy="741660"/>
          </a:xfrm>
          <a:prstGeom prst="rect">
            <a:avLst/>
          </a:prstGeom>
          <a:solidFill>
            <a:srgbClr val="F3EEFC"/>
          </a:solidFill>
          <a:ln/>
        </p:spPr>
        <p:txBody>
          <a:bodyPr wrap="square" lIns="0" tIns="0" rIns="0" bIns="0" rtlCol="0" anchor="t"/>
          <a:lstStyle/>
          <a:p>
            <a:pPr algn="ctr" indent="0" marL="0">
              <a:lnSpc>
                <a:spcPts val="3640"/>
              </a:lnSpc>
              <a:buNone/>
            </a:pPr>
            <a:r>
              <a:rPr lang="en-US" sz="2600" b="1" dirty="0">
                <a:solidFill>
                  <a:srgbClr val="5A3FA6"/>
                </a:solidFill>
                <a:latin typeface="Gowun Batang" pitchFamily="34" charset="0"/>
                <a:ea typeface="Gowun Batang" pitchFamily="34" charset="-122"/>
                <a:cs typeface="Gowun Batang" pitchFamily="34" charset="-120"/>
              </a:rPr>
              <a:t>깎여 나가는 발</a:t>
            </a:r>
            <a:endParaRPr lang="en-US" sz="2600" dirty="0"/>
          </a:p>
        </p:txBody>
      </p:sp>
      <p:sp>
        <p:nvSpPr>
          <p:cNvPr id="9" name="Text 7"/>
          <p:cNvSpPr txBox="1"/>
          <p:nvPr/>
        </p:nvSpPr>
        <p:spPr>
          <a:xfrm>
            <a:off x="4400550" y="3512741"/>
            <a:ext cx="914400" cy="381000"/>
          </a:xfrm>
          <a:prstGeom prst="rect">
            <a:avLst/>
          </a:prstGeom>
          <a:noFill/>
          <a:ln/>
        </p:spPr>
        <p:txBody>
          <a:bodyPr wrap="square" lIns="0" tIns="0" rIns="0" bIns="0" rtlCol="0" anchor="t"/>
          <a:lstStyle/>
          <a:p>
            <a:pPr algn="l" indent="0" marL="0">
              <a:lnSpc>
                <a:spcPts val="3000"/>
              </a:lnSpc>
              <a:buNone/>
            </a:pPr>
            <a:r>
              <a:rPr lang="en-US" sz="3000" dirty="0">
                <a:solidFill>
                  <a:srgbClr val="9B84D6"/>
                </a:solidFill>
                <a:latin typeface="Gowun Dodum" pitchFamily="34" charset="0"/>
                <a:ea typeface="Gowun Dodum" pitchFamily="34" charset="-122"/>
                <a:cs typeface="Gowun Dodum" pitchFamily="34" charset="-120"/>
              </a:rPr>
              <a:t>→</a:t>
            </a:r>
            <a:endParaRPr lang="en-US" sz="3000" dirty="0"/>
          </a:p>
        </p:txBody>
      </p:sp>
      <p:sp>
        <p:nvSpPr>
          <p:cNvPr id="10" name="Text 8"/>
          <p:cNvSpPr txBox="1"/>
          <p:nvPr/>
        </p:nvSpPr>
        <p:spPr>
          <a:xfrm>
            <a:off x="4972050" y="3294360"/>
            <a:ext cx="6400800" cy="817761"/>
          </a:xfrm>
          <a:prstGeom prst="rect">
            <a:avLst/>
          </a:prstGeom>
          <a:noFill/>
          <a:ln/>
        </p:spPr>
        <p:txBody>
          <a:bodyPr wrap="square" lIns="0" tIns="0" rIns="0" bIns="0" rtlCol="0" anchor="t"/>
          <a:lstStyle/>
          <a:p>
            <a:pPr algn="l" indent="0" marL="0">
              <a:lnSpc>
                <a:spcPts val="3220"/>
              </a:lnSpc>
              <a:buNone/>
            </a:pPr>
            <a:r>
              <a:rPr lang="en-US" sz="2300" dirty="0">
                <a:solidFill>
                  <a:srgbClr val="1E1E24"/>
                </a:solidFill>
                <a:latin typeface="Gowun Dodum" pitchFamily="34" charset="0"/>
                <a:ea typeface="Gowun Dodum" pitchFamily="34" charset="-122"/>
                <a:cs typeface="Gowun Dodum" pitchFamily="34" charset="-120"/>
              </a:rPr>
              <a:t>기준에 맞지 않는 나다움, 사라져 가는 작은 언어(아이누어)</a:t>
            </a:r>
            <a:endParaRPr lang="en-US" sz="2300" dirty="0"/>
          </a:p>
        </p:txBody>
      </p:sp>
      <p:sp>
        <p:nvSpPr>
          <p:cNvPr id="11" name="Text 9"/>
          <p:cNvSpPr txBox="1"/>
          <p:nvPr/>
        </p:nvSpPr>
        <p:spPr>
          <a:xfrm>
            <a:off x="3490791" y="4366121"/>
            <a:ext cx="5210318"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우리도 남들이 정한 기준에 맞추려고</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소중한 무언가를 깎아 내고 있지 않나요?</a:t>
            </a:r>
            <a:endParaRPr lang="en-US" sz="2200" dirty="0"/>
          </a:p>
        </p:txBody>
      </p:sp>
      <p:sp>
        <p:nvSpPr>
          <p:cNvPr id="12" name="Text 10"/>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0259" y="2452390"/>
            <a:ext cx="677148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큰 틀에 맞지 않으면,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잘려 나가요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035469"/>
            <a:ext cx="698500" cy="994922"/>
          </a:xfrm>
          <a:prstGeom prst="rect">
            <a:avLst/>
          </a:prstGeom>
        </p:spPr>
      </p:pic>
      <p:sp>
        <p:nvSpPr>
          <p:cNvPr id="5" name="Text 2"/>
          <p:cNvSpPr txBox="1"/>
          <p:nvPr/>
        </p:nvSpPr>
        <p:spPr>
          <a:xfrm>
            <a:off x="5326162" y="228540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1444752" y="2877145"/>
            <a:ext cx="9302496" cy="1651000"/>
          </a:xfrm>
          <a:prstGeom prst="rect">
            <a:avLst/>
          </a:prstGeom>
          <a:noFill/>
          <a:ln/>
        </p:spPr>
        <p:txBody>
          <a:bodyPr wrap="square" lIns="0" tIns="0" rIns="0" bIns="0" rtlCol="0" anchor="t"/>
          <a:lstStyle/>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우리는 무엇을 구두에</a:t>
            </a:r>
            <a:endParaRPr lang="en-US" sz="5000" dirty="0"/>
          </a:p>
          <a:p>
            <a:pPr algn="ctr" indent="0" marL="0">
              <a:lnSpc>
                <a:spcPts val="6500"/>
              </a:lnSpc>
              <a:buNone/>
            </a:pPr>
            <a:r>
              <a:rPr lang="en-US" sz="5000" b="1" dirty="0">
                <a:solidFill>
                  <a:srgbClr val="F4F0FC"/>
                </a:solidFill>
                <a:latin typeface="Gowun Batang" pitchFamily="34" charset="0"/>
                <a:ea typeface="Gowun Batang" pitchFamily="34" charset="-122"/>
                <a:cs typeface="Gowun Batang" pitchFamily="34" charset="-120"/>
              </a:rPr>
              <a:t>맞추느라고 잘라내고 있을까요?</a:t>
            </a:r>
            <a:endParaRPr lang="en-US" sz="5000" dirty="0"/>
          </a:p>
        </p:txBody>
      </p:sp>
      <p:sp>
        <p:nvSpPr>
          <p:cNvPr id="7" name="Text 4"/>
          <p:cNvSpPr txBox="1"/>
          <p:nvPr/>
        </p:nvSpPr>
        <p:spPr>
          <a:xfrm>
            <a:off x="3939848" y="4782145"/>
            <a:ext cx="4312206" cy="838200"/>
          </a:xfrm>
          <a:prstGeom prst="rect">
            <a:avLst/>
          </a:prstGeom>
          <a:noFill/>
          <a:ln/>
        </p:spPr>
        <p:txBody>
          <a:bodyPr wrap="square" lIns="0" tIns="0" rIns="0" bIns="0" rtlCol="0" anchor="t"/>
          <a:lstStyle/>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그렇게 어쩔 수 없이 잘라내느라고</a:t>
            </a:r>
            <a:endParaRPr lang="en-US" sz="2200" dirty="0"/>
          </a:p>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잃어버린 것들이 있나요?</a:t>
            </a:r>
            <a:endParaRPr lang="en-US" sz="22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4부</a:t>
            </a:r>
            <a:endParaRPr lang="en-US" sz="3350" dirty="0"/>
          </a:p>
        </p:txBody>
      </p:sp>
      <p:sp>
        <p:nvSpPr>
          <p:cNvPr id="5" name="Text 3"/>
          <p:cNvSpPr txBox="1"/>
          <p:nvPr/>
        </p:nvSpPr>
        <p:spPr>
          <a:xfrm>
            <a:off x="3197324" y="2751435"/>
            <a:ext cx="579735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보이지 않는</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사람들에게</a:t>
            </a:r>
            <a:endParaRPr lang="en-US" sz="7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07</a:t>
            </a:r>
            <a:endParaRPr lang="en-US" sz="3850" dirty="0"/>
          </a:p>
        </p:txBody>
      </p:sp>
      <p:sp>
        <p:nvSpPr>
          <p:cNvPr id="5" name="Text 3"/>
          <p:cNvSpPr txBox="1"/>
          <p:nvPr/>
        </p:nvSpPr>
        <p:spPr>
          <a:xfrm>
            <a:off x="3511252" y="2446734"/>
            <a:ext cx="5169495"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함경아</a:t>
            </a:r>
            <a:endParaRPr lang="en-US" sz="9600" dirty="0"/>
          </a:p>
        </p:txBody>
      </p:sp>
      <p:sp>
        <p:nvSpPr>
          <p:cNvPr id="6" name="Text 4"/>
          <p:cNvSpPr txBox="1"/>
          <p:nvPr/>
        </p:nvSpPr>
        <p:spPr>
          <a:xfrm>
            <a:off x="3532791" y="3940175"/>
            <a:ext cx="5126419"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북한 장인과 함께한 자수, 2008~</a:t>
            </a:r>
            <a:endParaRPr lang="en-US" sz="26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pic>
        <p:nvPicPr>
          <p:cNvPr id="5" name="Image 0" descr="preencoded.png">    </p:cNvPr>
          <p:cNvPicPr>
            <a:picLocks noChangeAspect="1"/>
          </p:cNvPicPr>
          <p:nvPr/>
        </p:nvPicPr>
        <p:blipFill>
          <a:blip r:embed="rId1"/>
          <a:stretch>
            <a:fillRect/>
          </a:stretch>
        </p:blipFill>
        <p:spPr>
          <a:xfrm>
            <a:off x="1514773" y="917178"/>
            <a:ext cx="4953000" cy="4826000"/>
          </a:xfrm>
          <a:prstGeom prst="rect">
            <a:avLst/>
          </a:prstGeom>
        </p:spPr>
      </p:pic>
      <p:sp>
        <p:nvSpPr>
          <p:cNvPr id="6" name="Text 3"/>
          <p:cNvSpPr txBox="1"/>
          <p:nvPr/>
        </p:nvSpPr>
        <p:spPr>
          <a:xfrm>
            <a:off x="7079357" y="2755900"/>
            <a:ext cx="5845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그림일까요,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자수일까요?</a:t>
            </a:r>
            <a:endParaRPr lang="en-US" sz="33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66963" y="2452390"/>
            <a:ext cx="745797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북한 장인이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땀 한 땀 수놓았어요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81373" y="2452390"/>
            <a:ext cx="8629154"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어느날 대문 앞에서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삐라 한 장을 주워요.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83742" y="2452390"/>
            <a:ext cx="882441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도안을 보내고, 국경을 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다시 돌아오기까지</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571405" y="2452390"/>
            <a:ext cx="304919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점에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천 시간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76624" y="2452390"/>
            <a:ext cx="683875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열 점 보내면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여섯 점이 사라졌어요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8491" y="2452390"/>
            <a:ext cx="713492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수놓은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끝내 몰라요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426645" y="2552700"/>
            <a:ext cx="3338612" cy="471091"/>
          </a:xfrm>
          <a:prstGeom prst="rect">
            <a:avLst/>
          </a:prstGeom>
          <a:noFill/>
          <a:ln/>
        </p:spPr>
        <p:txBody>
          <a:bodyPr wrap="square" lIns="0" tIns="0" rIns="0" bIns="0" rtlCol="0" anchor="t"/>
          <a:lstStyle/>
          <a:p>
            <a:pPr algn="ctr" indent="0" marL="0">
              <a:lnSpc>
                <a:spcPts val="3710"/>
              </a:lnSpc>
              <a:buNone/>
            </a:pPr>
            <a:r>
              <a:rPr lang="en-US" sz="2650" dirty="0">
                <a:solidFill>
                  <a:srgbClr val="6B6B75"/>
                </a:solidFill>
                <a:latin typeface="Gowun Dodum" pitchFamily="34" charset="0"/>
                <a:ea typeface="Gowun Dodum" pitchFamily="34" charset="-122"/>
                <a:cs typeface="Gowun Dodum" pitchFamily="34" charset="-120"/>
              </a:rPr>
              <a:t>무늬 속에 숨은 글자</a:t>
            </a:r>
            <a:endParaRPr lang="en-US" sz="2650" dirty="0"/>
          </a:p>
        </p:txBody>
      </p:sp>
      <p:sp>
        <p:nvSpPr>
          <p:cNvPr id="5" name="Text 3"/>
          <p:cNvSpPr txBox="1"/>
          <p:nvPr/>
        </p:nvSpPr>
        <p:spPr>
          <a:xfrm>
            <a:off x="2558852" y="3226991"/>
            <a:ext cx="7074297"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“당신도 외롭습니까?”</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7245" y="2230140"/>
            <a:ext cx="6437412" cy="2194520"/>
          </a:xfrm>
          <a:prstGeom prst="rect">
            <a:avLst/>
          </a:prstGeom>
          <a:noFill/>
          <a:ln/>
        </p:spPr>
        <p:txBody>
          <a:bodyPr wrap="square" lIns="0" tIns="0" rIns="0" bIns="0" rtlCol="0" anchor="t"/>
          <a:lstStyle/>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Money</a:t>
            </a:r>
            <a:endParaRPr lang="en-US" sz="7200" dirty="0"/>
          </a:p>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never sleeps</a:t>
            </a:r>
            <a:endParaRPr lang="en-US" sz="72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14091" y="2452390"/>
            <a:ext cx="736371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수놓던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글자를 읽었을까요?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145304"/>
            <a:ext cx="698500" cy="994922"/>
          </a:xfrm>
          <a:prstGeom prst="rect">
            <a:avLst/>
          </a:prstGeom>
        </p:spPr>
      </p:pic>
      <p:sp>
        <p:nvSpPr>
          <p:cNvPr id="5" name="Text 2"/>
          <p:cNvSpPr txBox="1"/>
          <p:nvPr/>
        </p:nvSpPr>
        <p:spPr>
          <a:xfrm>
            <a:off x="5326162" y="234444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2185194" y="2885380"/>
            <a:ext cx="7821513" cy="2625030"/>
          </a:xfrm>
          <a:prstGeom prst="rect">
            <a:avLst/>
          </a:prstGeom>
          <a:noFill/>
          <a:ln/>
        </p:spPr>
        <p:txBody>
          <a:bodyPr wrap="square" lIns="0" tIns="0" rIns="0" bIns="0" rtlCol="0" anchor="t"/>
          <a:lstStyle/>
          <a:p>
            <a:pPr algn="ctr" indent="0" marL="0">
              <a:lnSpc>
                <a:spcPts val="6890"/>
              </a:lnSpc>
              <a:buNone/>
            </a:pPr>
            <a:r>
              <a:rPr lang="en-US" sz="5300" b="1" dirty="0">
                <a:solidFill>
                  <a:srgbClr val="F4F0FC"/>
                </a:solidFill>
                <a:latin typeface="Gowun Batang" pitchFamily="34" charset="0"/>
                <a:ea typeface="Gowun Batang" pitchFamily="34" charset="-122"/>
                <a:cs typeface="Gowun Batang" pitchFamily="34" charset="-120"/>
              </a:rPr>
              <a:t>만난 적 없는 누군가에게</a:t>
            </a:r>
            <a:endParaRPr lang="en-US" sz="5300" dirty="0"/>
          </a:p>
          <a:p>
            <a:pPr algn="ctr" indent="0" marL="0">
              <a:lnSpc>
                <a:spcPts val="6890"/>
              </a:lnSpc>
              <a:buNone/>
            </a:pPr>
            <a:r>
              <a:rPr lang="en-US" sz="5300" b="1" dirty="0">
                <a:solidFill>
                  <a:srgbClr val="F4F0FC"/>
                </a:solidFill>
                <a:latin typeface="Gowun Batang" pitchFamily="34" charset="0"/>
                <a:ea typeface="Gowun Batang" pitchFamily="34" charset="-122"/>
                <a:cs typeface="Gowun Batang" pitchFamily="34" charset="-120"/>
              </a:rPr>
              <a:t>한 문장을 보낸다면,</a:t>
            </a:r>
            <a:endParaRPr lang="en-US" sz="5300" dirty="0"/>
          </a:p>
          <a:p>
            <a:pPr algn="ctr" indent="0" marL="0">
              <a:lnSpc>
                <a:spcPts val="6890"/>
              </a:lnSpc>
              <a:buNone/>
            </a:pPr>
            <a:r>
              <a:rPr lang="en-US" sz="5300" b="1" dirty="0">
                <a:solidFill>
                  <a:srgbClr val="F4F0FC"/>
                </a:solidFill>
                <a:latin typeface="Gowun Batang" pitchFamily="34" charset="0"/>
                <a:ea typeface="Gowun Batang" pitchFamily="34" charset="-122"/>
                <a:cs typeface="Gowun Batang" pitchFamily="34" charset="-120"/>
              </a:rPr>
              <a:t>뭐라고 쓸래요?</a:t>
            </a:r>
            <a:endParaRPr lang="en-US" sz="5300" dirty="0"/>
          </a:p>
        </p:txBody>
      </p:sp>
      <p:sp>
        <p:nvSpPr>
          <p:cNvPr id="7"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08</a:t>
            </a:r>
            <a:endParaRPr lang="en-US" sz="3850" dirty="0"/>
          </a:p>
        </p:txBody>
      </p:sp>
      <p:sp>
        <p:nvSpPr>
          <p:cNvPr id="5" name="Text 3"/>
          <p:cNvSpPr txBox="1"/>
          <p:nvPr/>
        </p:nvSpPr>
        <p:spPr>
          <a:xfrm>
            <a:off x="3535660" y="2446734"/>
            <a:ext cx="512068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박이소</a:t>
            </a:r>
            <a:endParaRPr lang="en-US" sz="9600" dirty="0"/>
          </a:p>
        </p:txBody>
      </p:sp>
      <p:sp>
        <p:nvSpPr>
          <p:cNvPr id="6" name="Text 4"/>
          <p:cNvSpPr txBox="1"/>
          <p:nvPr/>
        </p:nvSpPr>
        <p:spPr>
          <a:xfrm>
            <a:off x="4046339" y="3940175"/>
            <a:ext cx="409922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〈당신의 밝은 미래〉, 2002</a:t>
            </a:r>
            <a:endParaRPr lang="en-US" sz="26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34332" y="2452390"/>
            <a:ext cx="732333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이름이 세 번 바뀐 작가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박철호, 박모, 박이소</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23666" y="2452390"/>
            <a:ext cx="814457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뉴욕에서 낯선 이방인으로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살았어요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82700"/>
            <a:ext cx="6350000" cy="4089400"/>
          </a:xfrm>
          <a:prstGeom prst="rect">
            <a:avLst/>
          </a:prstGeom>
        </p:spPr>
      </p:pic>
      <p:sp>
        <p:nvSpPr>
          <p:cNvPr id="5" name="Text 2"/>
          <p:cNvSpPr txBox="1"/>
          <p:nvPr/>
        </p:nvSpPr>
        <p:spPr>
          <a:xfrm>
            <a:off x="7569200" y="3040261"/>
            <a:ext cx="4448175"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〈당신의 밝은 미래〉</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98775" y="2014835"/>
            <a:ext cx="639445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환한 빛,</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비추는 곳은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빈 모서리</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47280" y="2452390"/>
            <a:ext cx="80974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불안했던 젊은 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저에겐 따뜻한 빛이었어요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39616" y="2452390"/>
            <a:ext cx="69127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그가 마지막으로 남긴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스케치</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3305"/>
          </a:xfrm>
          <a:prstGeom prst="rect">
            <a:avLst/>
          </a:prstGeom>
          <a:solidFill>
            <a:srgbClr val="FFFFFF"/>
          </a:solidFill>
          <a:ln/>
        </p:spPr>
        <p:txBody>
          <a:bodyPr wrap="square" lIns="0" tIns="0" rIns="0" bIns="0" rtlCol="0" anchor="t"/>
          <a:lstStyle/>
          <a:p>
            <a:pPr algn="ctr" indent="0" marL="0">
              <a:lnSpc>
                <a:spcPts val="1995"/>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32956" y="2047280"/>
            <a:ext cx="5526088" cy="2560241"/>
          </a:xfrm>
          <a:prstGeom prst="rect">
            <a:avLst/>
          </a:prstGeom>
          <a:noFill/>
          <a:ln/>
        </p:spPr>
        <p:txBody>
          <a:bodyPr wrap="square" lIns="0" tIns="0" rIns="0" bIns="0" rtlCol="0" anchor="t"/>
          <a:lstStyle/>
          <a:p>
            <a:pPr algn="ctr" indent="0" marL="0">
              <a:lnSpc>
                <a:spcPts val="10080"/>
              </a:lnSpc>
              <a:buNone/>
            </a:pPr>
            <a:r>
              <a:rPr lang="en-US" sz="8400" b="1" dirty="0">
                <a:solidFill>
                  <a:srgbClr val="1E1E24"/>
                </a:solidFill>
                <a:latin typeface="Gowun Batang" pitchFamily="34" charset="0"/>
                <a:ea typeface="Gowun Batang" pitchFamily="34" charset="-122"/>
                <a:cs typeface="Gowun Batang" pitchFamily="34" charset="-120"/>
              </a:rPr>
              <a:t>우리는</a:t>
            </a:r>
            <a:endParaRPr lang="en-US" sz="8400" dirty="0"/>
          </a:p>
          <a:p>
            <a:pPr algn="ctr" indent="0" marL="0">
              <a:lnSpc>
                <a:spcPts val="10080"/>
              </a:lnSpc>
              <a:buNone/>
            </a:pPr>
            <a:r>
              <a:rPr lang="en-US" sz="8400" b="1" dirty="0">
                <a:solidFill>
                  <a:srgbClr val="7C5CC4"/>
                </a:solidFill>
                <a:latin typeface="Gowun Batang" pitchFamily="34" charset="0"/>
                <a:ea typeface="Gowun Batang" pitchFamily="34" charset="-122"/>
                <a:cs typeface="Gowun Batang" pitchFamily="34" charset="-120"/>
              </a:rPr>
              <a:t>행복해요</a:t>
            </a:r>
            <a:endParaRPr lang="en-US" sz="84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12716" y="2452390"/>
            <a:ext cx="55665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완성하지 못하고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떠났어요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49400"/>
            <a:ext cx="6350000" cy="355600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친구들이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그 간판을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세워 줬어요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985958"/>
            <a:ext cx="698500" cy="994922"/>
          </a:xfrm>
          <a:prstGeom prst="rect">
            <a:avLst/>
          </a:prstGeom>
        </p:spPr>
      </p:pic>
      <p:sp>
        <p:nvSpPr>
          <p:cNvPr id="5" name="Text 2"/>
          <p:cNvSpPr txBox="1"/>
          <p:nvPr/>
        </p:nvSpPr>
        <p:spPr>
          <a:xfrm>
            <a:off x="5326162" y="223589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오늘의 질문</a:t>
            </a:r>
            <a:endParaRPr lang="en-US" sz="1900" dirty="0"/>
          </a:p>
        </p:txBody>
      </p:sp>
      <p:sp>
        <p:nvSpPr>
          <p:cNvPr id="6" name="Text 3"/>
          <p:cNvSpPr txBox="1"/>
          <p:nvPr/>
        </p:nvSpPr>
        <p:spPr>
          <a:xfrm>
            <a:off x="3854549" y="2827635"/>
            <a:ext cx="4482902" cy="1750020"/>
          </a:xfrm>
          <a:prstGeom prst="rect">
            <a:avLst/>
          </a:prstGeom>
          <a:noFill/>
          <a:ln/>
        </p:spPr>
        <p:txBody>
          <a:bodyPr wrap="square" lIns="0" tIns="0" rIns="0" bIns="0" rtlCol="0" anchor="t"/>
          <a:lstStyle/>
          <a:p>
            <a:pPr algn="ctr" indent="0" marL="0">
              <a:lnSpc>
                <a:spcPts val="6890"/>
              </a:lnSpc>
              <a:buNone/>
            </a:pPr>
            <a:r>
              <a:rPr lang="en-US" sz="5300" b="1" dirty="0">
                <a:solidFill>
                  <a:srgbClr val="F4F0FC"/>
                </a:solidFill>
                <a:latin typeface="Gowun Batang" pitchFamily="34" charset="0"/>
                <a:ea typeface="Gowun Batang" pitchFamily="34" charset="-122"/>
                <a:cs typeface="Gowun Batang" pitchFamily="34" charset="-120"/>
              </a:rPr>
              <a:t>우리는 정말</a:t>
            </a:r>
            <a:endParaRPr lang="en-US" sz="5300" dirty="0"/>
          </a:p>
          <a:p>
            <a:pPr algn="ctr" indent="0" marL="0">
              <a:lnSpc>
                <a:spcPts val="6890"/>
              </a:lnSpc>
              <a:buNone/>
            </a:pPr>
            <a:r>
              <a:rPr lang="en-US" sz="5300" b="1" dirty="0">
                <a:solidFill>
                  <a:srgbClr val="F4F0FC"/>
                </a:solidFill>
                <a:latin typeface="Gowun Batang" pitchFamily="34" charset="0"/>
                <a:ea typeface="Gowun Batang" pitchFamily="34" charset="-122"/>
                <a:cs typeface="Gowun Batang" pitchFamily="34" charset="-120"/>
              </a:rPr>
              <a:t>행복한가요?</a:t>
            </a:r>
            <a:endParaRPr lang="en-US" sz="5300" dirty="0"/>
          </a:p>
        </p:txBody>
      </p:sp>
      <p:sp>
        <p:nvSpPr>
          <p:cNvPr id="7" name="Text 4"/>
          <p:cNvSpPr txBox="1"/>
          <p:nvPr/>
        </p:nvSpPr>
        <p:spPr>
          <a:xfrm>
            <a:off x="3082407" y="4831655"/>
            <a:ext cx="6027087" cy="838200"/>
          </a:xfrm>
          <a:prstGeom prst="rect">
            <a:avLst/>
          </a:prstGeom>
          <a:noFill/>
          <a:ln/>
        </p:spPr>
        <p:txBody>
          <a:bodyPr wrap="square" lIns="0" tIns="0" rIns="0" bIns="0" rtlCol="0" anchor="t"/>
          <a:lstStyle/>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어떤 이유에서요? 아니면 이것은 반어법일까요?</a:t>
            </a:r>
            <a:endParaRPr lang="en-US" sz="2200" dirty="0"/>
          </a:p>
          <a:p>
            <a:pPr algn="ctr" indent="0" marL="0">
              <a:lnSpc>
                <a:spcPts val="3300"/>
              </a:lnSpc>
              <a:buNone/>
            </a:pPr>
            <a:r>
              <a:rPr lang="en-US" sz="2200" dirty="0">
                <a:solidFill>
                  <a:srgbClr val="D9CFF5"/>
                </a:solidFill>
                <a:latin typeface="Gowun Dodum" pitchFamily="34" charset="0"/>
                <a:ea typeface="Gowun Dodum" pitchFamily="34" charset="-122"/>
                <a:cs typeface="Gowun Dodum" pitchFamily="34" charset="-120"/>
              </a:rPr>
              <a:t>그렇다면 어떤 이유에서 행복하지 않은가요?</a:t>
            </a:r>
            <a:endParaRPr lang="en-US" sz="2200" dirty="0"/>
          </a:p>
        </p:txBody>
      </p:sp>
      <p:sp>
        <p:nvSpPr>
          <p:cNvPr id="8"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B8AED6"/>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2B2145"/>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2B2145"/>
          </a:solidFill>
          <a:ln/>
        </p:spPr>
        <p:txBody>
          <a:bodyPr wrap="square" lIns="0" tIns="0" rIns="0" bIns="0" rtlCol="0" anchor="t"/>
          <a:lstStyle/>
          <a:p>
            <a:pPr algn="ctr" indent="0" marL="0">
              <a:lnSpc>
                <a:spcPts val="2000"/>
              </a:lnSpc>
              <a:buNone/>
            </a:pPr>
            <a:r>
              <a:rPr lang="en-US" sz="1500" b="1" spc="150" kern="0" dirty="0">
                <a:solidFill>
                  <a:srgbClr val="C3AEEA"/>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746750" y="1218329"/>
            <a:ext cx="698500" cy="994922"/>
          </a:xfrm>
          <a:prstGeom prst="rect">
            <a:avLst/>
          </a:prstGeom>
        </p:spPr>
      </p:pic>
      <p:sp>
        <p:nvSpPr>
          <p:cNvPr id="5" name="Text 2"/>
          <p:cNvSpPr txBox="1"/>
          <p:nvPr/>
        </p:nvSpPr>
        <p:spPr>
          <a:xfrm>
            <a:off x="5329833" y="2468265"/>
            <a:ext cx="1532334" cy="337741"/>
          </a:xfrm>
          <a:prstGeom prst="rect">
            <a:avLst/>
          </a:prstGeom>
          <a:noFill/>
          <a:ln/>
        </p:spPr>
        <p:txBody>
          <a:bodyPr wrap="square" lIns="0" tIns="0" rIns="0" bIns="0" rtlCol="0" anchor="t"/>
          <a:lstStyle/>
          <a:p>
            <a:pPr algn="ctr" indent="0" marL="0">
              <a:lnSpc>
                <a:spcPts val="2660"/>
              </a:lnSpc>
              <a:buNone/>
            </a:pPr>
            <a:r>
              <a:rPr lang="en-US" sz="1900" b="1" dirty="0">
                <a:solidFill>
                  <a:srgbClr val="C3AEEA"/>
                </a:solidFill>
                <a:latin typeface="Gowun Dodum" pitchFamily="34" charset="0"/>
                <a:ea typeface="Gowun Dodum" pitchFamily="34" charset="-122"/>
                <a:cs typeface="Gowun Dodum" pitchFamily="34" charset="-120"/>
              </a:rPr>
              <a:t>마무리 질문</a:t>
            </a:r>
            <a:endParaRPr lang="en-US" sz="1900" dirty="0"/>
          </a:p>
        </p:txBody>
      </p:sp>
      <p:sp>
        <p:nvSpPr>
          <p:cNvPr id="6" name="Text 3"/>
          <p:cNvSpPr txBox="1"/>
          <p:nvPr/>
        </p:nvSpPr>
        <p:spPr>
          <a:xfrm>
            <a:off x="1874441" y="3060005"/>
            <a:ext cx="8443020" cy="2377380"/>
          </a:xfrm>
          <a:prstGeom prst="rect">
            <a:avLst/>
          </a:prstGeom>
          <a:noFill/>
          <a:ln/>
        </p:spPr>
        <p:txBody>
          <a:bodyPr wrap="square" lIns="0" tIns="0" rIns="0" bIns="0" rtlCol="0" anchor="t"/>
          <a:lstStyle/>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오늘 본 여덟 작품 중</a:t>
            </a:r>
            <a:endParaRPr lang="en-US" sz="4800" dirty="0"/>
          </a:p>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가장 오래 마음에 남은 질문은</a:t>
            </a:r>
            <a:endParaRPr lang="en-US" sz="4800" dirty="0"/>
          </a:p>
          <a:p>
            <a:pPr algn="ctr" indent="0" marL="0">
              <a:lnSpc>
                <a:spcPts val="6240"/>
              </a:lnSpc>
              <a:buNone/>
            </a:pPr>
            <a:r>
              <a:rPr lang="en-US" sz="4800" b="1" dirty="0">
                <a:solidFill>
                  <a:srgbClr val="F4F0FC"/>
                </a:solidFill>
                <a:latin typeface="Gowun Batang" pitchFamily="34" charset="0"/>
                <a:ea typeface="Gowun Batang" pitchFamily="34" charset="-122"/>
                <a:cs typeface="Gowun Batang" pitchFamily="34" charset="-120"/>
              </a:rPr>
              <a:t>무엇인가요?</a:t>
            </a:r>
            <a:endParaRPr lang="en-US" sz="4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513872" y="2061270"/>
            <a:ext cx="9164257" cy="1440061"/>
          </a:xfrm>
          <a:prstGeom prst="rect">
            <a:avLst/>
          </a:prstGeom>
          <a:noFill/>
          <a:ln/>
        </p:spPr>
        <p:txBody>
          <a:bodyPr wrap="square" lIns="0" tIns="0" rIns="0" bIns="0" rtlCol="0" anchor="t"/>
          <a:lstStyle/>
          <a:p>
            <a:pPr algn="ctr" indent="0" marL="0">
              <a:lnSpc>
                <a:spcPts val="5670"/>
              </a:lnSpc>
              <a:buNone/>
            </a:pPr>
            <a:r>
              <a:rPr lang="en-US" sz="4200" b="1" dirty="0">
                <a:solidFill>
                  <a:srgbClr val="1E1E24"/>
                </a:solidFill>
                <a:latin typeface="Gowun Batang" pitchFamily="34" charset="0"/>
                <a:ea typeface="Gowun Batang" pitchFamily="34" charset="-122"/>
                <a:cs typeface="Gowun Batang" pitchFamily="34" charset="-120"/>
              </a:rPr>
              <a:t>현대미술은 답을 주는 미술이 아니라,</a:t>
            </a:r>
            <a:endParaRPr lang="en-US" sz="4200" dirty="0"/>
          </a:p>
          <a:p>
            <a:pPr algn="ctr" indent="0" marL="0">
              <a:lnSpc>
                <a:spcPts val="5670"/>
              </a:lnSpc>
              <a:buNone/>
            </a:pPr>
            <a:r>
              <a:rPr lang="en-US" sz="4200" b="1" dirty="0">
                <a:solidFill>
                  <a:srgbClr val="1E1E24"/>
                </a:solidFill>
                <a:latin typeface="Gowun Batang" pitchFamily="34" charset="0"/>
                <a:ea typeface="Gowun Batang" pitchFamily="34" charset="-122"/>
                <a:cs typeface="Gowun Batang" pitchFamily="34" charset="-120"/>
              </a:rPr>
              <a:t>우리에게 질문을 던지는 미술이에요</a:t>
            </a:r>
            <a:endParaRPr lang="en-US" sz="4200" dirty="0"/>
          </a:p>
        </p:txBody>
      </p:sp>
      <p:sp>
        <p:nvSpPr>
          <p:cNvPr id="5" name="Text 3"/>
          <p:cNvSpPr txBox="1"/>
          <p:nvPr/>
        </p:nvSpPr>
        <p:spPr>
          <a:xfrm>
            <a:off x="3354663" y="3755330"/>
            <a:ext cx="5482574"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처음에 ‘이것도 미술이에요?’라고 물었다면,</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그 질문이 바로 감상의 시작이에요</a:t>
            </a:r>
            <a:endParaRPr lang="en-US" sz="2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81760" y="1767880"/>
            <a:ext cx="4028480" cy="660400"/>
          </a:xfrm>
          <a:prstGeom prst="rect">
            <a:avLst/>
          </a:prstGeom>
          <a:noFill/>
          <a:ln/>
        </p:spPr>
        <p:txBody>
          <a:bodyPr wrap="square" lIns="0" tIns="0" rIns="0" bIns="0" rtlCol="0" anchor="t"/>
          <a:lstStyle/>
          <a:p>
            <a:pPr algn="ctr" indent="0" marL="0">
              <a:lnSpc>
                <a:spcPts val="5200"/>
              </a:lnSpc>
              <a:buNone/>
            </a:pPr>
            <a:r>
              <a:rPr lang="en-US" sz="4000" b="1" dirty="0">
                <a:solidFill>
                  <a:srgbClr val="1E1E24"/>
                </a:solidFill>
                <a:latin typeface="Gowun Batang" pitchFamily="34" charset="0"/>
                <a:ea typeface="Gowun Batang" pitchFamily="34" charset="-122"/>
                <a:cs typeface="Gowun Batang" pitchFamily="34" charset="-120"/>
              </a:rPr>
              <a:t>감상 한 줄 쓰기</a:t>
            </a:r>
            <a:endParaRPr lang="en-US" sz="4000" dirty="0"/>
          </a:p>
        </p:txBody>
      </p:sp>
      <p:sp>
        <p:nvSpPr>
          <p:cNvPr id="5" name="Shape 3"/>
          <p:cNvSpPr/>
          <p:nvPr/>
        </p:nvSpPr>
        <p:spPr>
          <a:xfrm>
            <a:off x="1416050" y="2682280"/>
            <a:ext cx="2984500" cy="1569641"/>
          </a:xfrm>
          <a:prstGeom prst="roundRect">
            <a:avLst>
              <a:gd name="adj" fmla="val 9709"/>
            </a:avLst>
          </a:prstGeom>
          <a:solidFill>
            <a:srgbClr val="F5F1FC"/>
          </a:solidFill>
          <a:ln/>
        </p:spPr>
      </p:sp>
      <p:sp>
        <p:nvSpPr>
          <p:cNvPr id="6" name="Text 4"/>
          <p:cNvSpPr txBox="1"/>
          <p:nvPr/>
        </p:nvSpPr>
        <p:spPr>
          <a:xfrm>
            <a:off x="1670050" y="2936280"/>
            <a:ext cx="28575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① 내가 고른 작품</a:t>
            </a:r>
            <a:endParaRPr lang="en-US" sz="2000" dirty="0"/>
          </a:p>
        </p:txBody>
      </p:sp>
      <p:sp>
        <p:nvSpPr>
          <p:cNvPr id="7" name="Text 5"/>
          <p:cNvSpPr txBox="1"/>
          <p:nvPr/>
        </p:nvSpPr>
        <p:spPr>
          <a:xfrm>
            <a:off x="1670050" y="3368080"/>
            <a:ext cx="2781300" cy="314920"/>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여덟 작품 중 하나를 골라요.</a:t>
            </a:r>
            <a:endParaRPr lang="en-US" sz="1600" dirty="0"/>
          </a:p>
        </p:txBody>
      </p:sp>
      <p:sp>
        <p:nvSpPr>
          <p:cNvPr id="8" name="Shape 6"/>
          <p:cNvSpPr/>
          <p:nvPr/>
        </p:nvSpPr>
        <p:spPr>
          <a:xfrm>
            <a:off x="4603750" y="2682280"/>
            <a:ext cx="2984500" cy="1569641"/>
          </a:xfrm>
          <a:prstGeom prst="roundRect">
            <a:avLst>
              <a:gd name="adj" fmla="val 9709"/>
            </a:avLst>
          </a:prstGeom>
          <a:solidFill>
            <a:srgbClr val="F5F1FC"/>
          </a:solidFill>
          <a:ln/>
        </p:spPr>
      </p:sp>
      <p:sp>
        <p:nvSpPr>
          <p:cNvPr id="9" name="Text 7"/>
          <p:cNvSpPr txBox="1"/>
          <p:nvPr/>
        </p:nvSpPr>
        <p:spPr>
          <a:xfrm>
            <a:off x="4857750" y="2936280"/>
            <a:ext cx="28575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② 작품이 던진 질문</a:t>
            </a:r>
            <a:endParaRPr lang="en-US" sz="2000" dirty="0"/>
          </a:p>
        </p:txBody>
      </p:sp>
      <p:sp>
        <p:nvSpPr>
          <p:cNvPr id="10" name="Text 8"/>
          <p:cNvSpPr txBox="1"/>
          <p:nvPr/>
        </p:nvSpPr>
        <p:spPr>
          <a:xfrm>
            <a:off x="4857750" y="3368080"/>
            <a:ext cx="2781300" cy="629841"/>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그 작품이 나에게 어떤 질문을 했나요?</a:t>
            </a:r>
            <a:endParaRPr lang="en-US" sz="1600" dirty="0"/>
          </a:p>
        </p:txBody>
      </p:sp>
      <p:sp>
        <p:nvSpPr>
          <p:cNvPr id="11" name="Shape 9"/>
          <p:cNvSpPr/>
          <p:nvPr/>
        </p:nvSpPr>
        <p:spPr>
          <a:xfrm>
            <a:off x="7791450" y="2682280"/>
            <a:ext cx="2984500" cy="1569641"/>
          </a:xfrm>
          <a:prstGeom prst="roundRect">
            <a:avLst>
              <a:gd name="adj" fmla="val 9709"/>
            </a:avLst>
          </a:prstGeom>
          <a:solidFill>
            <a:srgbClr val="F5F1FC"/>
          </a:solidFill>
          <a:ln/>
        </p:spPr>
      </p:sp>
      <p:sp>
        <p:nvSpPr>
          <p:cNvPr id="12" name="Text 10"/>
          <p:cNvSpPr txBox="1"/>
          <p:nvPr/>
        </p:nvSpPr>
        <p:spPr>
          <a:xfrm>
            <a:off x="8045450" y="2936280"/>
            <a:ext cx="2857500" cy="330200"/>
          </a:xfrm>
          <a:prstGeom prst="rect">
            <a:avLst/>
          </a:prstGeom>
          <a:noFill/>
          <a:ln/>
        </p:spPr>
        <p:txBody>
          <a:bodyPr wrap="square" lIns="0" tIns="0" rIns="0" bIns="0" rtlCol="0" anchor="t"/>
          <a:lstStyle/>
          <a:p>
            <a:pPr algn="l" indent="0" marL="0">
              <a:lnSpc>
                <a:spcPts val="2600"/>
              </a:lnSpc>
              <a:buNone/>
            </a:pPr>
            <a:r>
              <a:rPr lang="en-US" sz="2000" b="1" dirty="0">
                <a:solidFill>
                  <a:srgbClr val="5A3FA6"/>
                </a:solidFill>
                <a:latin typeface="Gowun Batang" pitchFamily="34" charset="0"/>
                <a:ea typeface="Gowun Batang" pitchFamily="34" charset="-122"/>
                <a:cs typeface="Gowun Batang" pitchFamily="34" charset="-120"/>
              </a:rPr>
              <a:t>③ 나의 생각 한 줄</a:t>
            </a:r>
            <a:endParaRPr lang="en-US" sz="2000" dirty="0"/>
          </a:p>
        </p:txBody>
      </p:sp>
      <p:sp>
        <p:nvSpPr>
          <p:cNvPr id="13" name="Text 11"/>
          <p:cNvSpPr txBox="1"/>
          <p:nvPr/>
        </p:nvSpPr>
        <p:spPr>
          <a:xfrm>
            <a:off x="8045450" y="3368080"/>
            <a:ext cx="2781300" cy="629841"/>
          </a:xfrm>
          <a:prstGeom prst="rect">
            <a:avLst/>
          </a:prstGeom>
          <a:noFill/>
          <a:ln/>
        </p:spPr>
        <p:txBody>
          <a:bodyPr wrap="square" lIns="0" tIns="0" rIns="0" bIns="0" rtlCol="0" anchor="t"/>
          <a:lstStyle/>
          <a:p>
            <a:pPr algn="l" indent="0" marL="0">
              <a:lnSpc>
                <a:spcPts val="2480"/>
              </a:lnSpc>
              <a:buNone/>
            </a:pPr>
            <a:r>
              <a:rPr lang="en-US" sz="1600" dirty="0">
                <a:solidFill>
                  <a:srgbClr val="2B2B33"/>
                </a:solidFill>
                <a:latin typeface="Gowun Dodum" pitchFamily="34" charset="0"/>
                <a:ea typeface="Gowun Dodum" pitchFamily="34" charset="-122"/>
                <a:cs typeface="Gowun Dodum" pitchFamily="34" charset="-120"/>
              </a:rPr>
              <a:t>그 질문에 대한 내 생각을 한 줄로 써요.</a:t>
            </a:r>
            <a:endParaRPr lang="en-US" sz="1600" dirty="0"/>
          </a:p>
        </p:txBody>
      </p:sp>
      <p:sp>
        <p:nvSpPr>
          <p:cNvPr id="14" name="Text 12"/>
          <p:cNvSpPr txBox="1"/>
          <p:nvPr/>
        </p:nvSpPr>
        <p:spPr>
          <a:xfrm>
            <a:off x="3272536" y="4505920"/>
            <a:ext cx="5646928" cy="381000"/>
          </a:xfrm>
          <a:prstGeom prst="rect">
            <a:avLst/>
          </a:prstGeom>
          <a:noFill/>
          <a:ln/>
        </p:spPr>
        <p:txBody>
          <a:bodyPr wrap="square" lIns="0" tIns="0" rIns="0" bIns="0" rtlCol="0" anchor="t"/>
          <a:lstStyle/>
          <a:p>
            <a:pPr algn="ctr" indent="0" marL="0">
              <a:lnSpc>
                <a:spcPts val="3000"/>
              </a:lnSpc>
              <a:buNone/>
            </a:pPr>
            <a:r>
              <a:rPr lang="en-US" sz="2000" dirty="0">
                <a:solidFill>
                  <a:srgbClr val="5B5B66"/>
                </a:solidFill>
                <a:latin typeface="Gowun Dodum" pitchFamily="34" charset="0"/>
                <a:ea typeface="Gowun Dodum" pitchFamily="34" charset="-122"/>
                <a:cs typeface="Gowun Dodum" pitchFamily="34" charset="-120"/>
              </a:rPr>
              <a:t>활동지나 공책에 3분 동안 자유롭게 적어 보세요</a:t>
            </a:r>
            <a:endParaRPr lang="en-US" sz="2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028851" y="1903413"/>
            <a:ext cx="6134199" cy="2847975"/>
          </a:xfrm>
          <a:prstGeom prst="rect">
            <a:avLst/>
          </a:prstGeom>
          <a:noFill/>
          <a:ln/>
        </p:spPr>
        <p:txBody>
          <a:bodyPr wrap="square" lIns="0" tIns="0" rIns="0" bIns="0" rtlCol="0" anchor="t"/>
          <a:lstStyle/>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정답은 없어요.</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여러분이 본 것이</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감상이에요.</a:t>
            </a:r>
            <a:endParaRPr lang="en-US" sz="5750" dirty="0"/>
          </a:p>
        </p:txBody>
      </p:sp>
      <p:sp>
        <p:nvSpPr>
          <p:cNvPr id="5" name="Text 3"/>
          <p:cNvSpPr txBox="1"/>
          <p:nvPr/>
        </p:nvSpPr>
        <p:spPr>
          <a:xfrm>
            <a:off x="812800" y="6085880"/>
            <a:ext cx="71120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joyhanju.github.io · CC BY-NC 4.0</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762000"/>
            <a:ext cx="11834368" cy="426641"/>
          </a:xfrm>
          <a:prstGeom prst="rect">
            <a:avLst/>
          </a:prstGeom>
          <a:noFill/>
          <a:ln/>
        </p:spPr>
        <p:txBody>
          <a:bodyPr wrap="square" lIns="0" tIns="0" rIns="0" bIns="0" rtlCol="0" anchor="t"/>
          <a:lstStyle/>
          <a:p>
            <a:pPr algn="l" indent="0" marL="0">
              <a:lnSpc>
                <a:spcPts val="3360"/>
              </a:lnSpc>
              <a:buNone/>
            </a:pPr>
            <a:r>
              <a:rPr lang="en-US" sz="2800" b="1" dirty="0">
                <a:solidFill>
                  <a:srgbClr val="1E1E24"/>
                </a:solidFill>
                <a:latin typeface="Gowun Batang" pitchFamily="34" charset="0"/>
                <a:ea typeface="Gowun Batang" pitchFamily="34" charset="-122"/>
                <a:cs typeface="Gowun Batang" pitchFamily="34" charset="-120"/>
              </a:rPr>
              <a:t>작품 출처</a:t>
            </a:r>
            <a:endParaRPr lang="en-US" sz="2800" dirty="0"/>
          </a:p>
        </p:txBody>
      </p:sp>
      <p:sp>
        <p:nvSpPr>
          <p:cNvPr id="5" name="Shape 3"/>
          <p:cNvSpPr/>
          <p:nvPr/>
        </p:nvSpPr>
        <p:spPr>
          <a:xfrm>
            <a:off x="812800" y="1741686"/>
            <a:ext cx="1905000" cy="0"/>
          </a:xfrm>
          <a:prstGeom prst="line">
            <a:avLst/>
          </a:prstGeom>
          <a:noFill/>
          <a:ln w="12700">
            <a:solidFill>
              <a:srgbClr val="7C5CC4"/>
            </a:solidFill>
            <a:prstDash val="solid"/>
          </a:ln>
        </p:spPr>
      </p:sp>
      <p:sp>
        <p:nvSpPr>
          <p:cNvPr id="6" name="Text 4"/>
          <p:cNvSpPr txBox="1"/>
          <p:nvPr/>
        </p:nvSpPr>
        <p:spPr>
          <a:xfrm>
            <a:off x="914400" y="1455341"/>
            <a:ext cx="1949450"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작가</a:t>
            </a:r>
            <a:endParaRPr lang="en-US" sz="1300" dirty="0"/>
          </a:p>
        </p:txBody>
      </p:sp>
      <p:sp>
        <p:nvSpPr>
          <p:cNvPr id="7" name="Shape 5"/>
          <p:cNvSpPr/>
          <p:nvPr/>
        </p:nvSpPr>
        <p:spPr>
          <a:xfrm>
            <a:off x="2717800" y="1741686"/>
            <a:ext cx="4953000" cy="0"/>
          </a:xfrm>
          <a:prstGeom prst="line">
            <a:avLst/>
          </a:prstGeom>
          <a:noFill/>
          <a:ln w="12700">
            <a:solidFill>
              <a:srgbClr val="7C5CC4"/>
            </a:solidFill>
            <a:prstDash val="solid"/>
          </a:ln>
        </p:spPr>
      </p:sp>
      <p:sp>
        <p:nvSpPr>
          <p:cNvPr id="8" name="Text 6"/>
          <p:cNvSpPr txBox="1"/>
          <p:nvPr/>
        </p:nvSpPr>
        <p:spPr>
          <a:xfrm>
            <a:off x="2819400" y="1455341"/>
            <a:ext cx="5319776"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작품</a:t>
            </a:r>
            <a:endParaRPr lang="en-US" sz="1300" dirty="0"/>
          </a:p>
        </p:txBody>
      </p:sp>
      <p:sp>
        <p:nvSpPr>
          <p:cNvPr id="9" name="Shape 7"/>
          <p:cNvSpPr/>
          <p:nvPr/>
        </p:nvSpPr>
        <p:spPr>
          <a:xfrm>
            <a:off x="7670800" y="1741686"/>
            <a:ext cx="3708400" cy="0"/>
          </a:xfrm>
          <a:prstGeom prst="line">
            <a:avLst/>
          </a:prstGeom>
          <a:noFill/>
          <a:ln w="12700">
            <a:solidFill>
              <a:srgbClr val="7C5CC4"/>
            </a:solidFill>
            <a:prstDash val="solid"/>
          </a:ln>
        </p:spPr>
      </p:sp>
      <p:sp>
        <p:nvSpPr>
          <p:cNvPr id="10" name="Text 8"/>
          <p:cNvSpPr txBox="1"/>
          <p:nvPr/>
        </p:nvSpPr>
        <p:spPr>
          <a:xfrm>
            <a:off x="7772400" y="1455341"/>
            <a:ext cx="3925824"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참고 자료</a:t>
            </a:r>
            <a:endParaRPr lang="en-US" sz="1300" dirty="0"/>
          </a:p>
        </p:txBody>
      </p:sp>
      <p:sp>
        <p:nvSpPr>
          <p:cNvPr id="11" name="Shape 9"/>
          <p:cNvSpPr/>
          <p:nvPr/>
        </p:nvSpPr>
        <p:spPr>
          <a:xfrm>
            <a:off x="812800" y="2091531"/>
            <a:ext cx="1905000" cy="0"/>
          </a:xfrm>
          <a:prstGeom prst="line">
            <a:avLst/>
          </a:prstGeom>
          <a:noFill/>
          <a:ln w="6350">
            <a:solidFill>
              <a:srgbClr val="E4DCF5"/>
            </a:solidFill>
            <a:prstDash val="solid"/>
          </a:ln>
        </p:spPr>
      </p:sp>
      <p:sp>
        <p:nvSpPr>
          <p:cNvPr id="12" name="Text 10"/>
          <p:cNvSpPr txBox="1"/>
          <p:nvPr/>
        </p:nvSpPr>
        <p:spPr>
          <a:xfrm>
            <a:off x="914400" y="1805186"/>
            <a:ext cx="1949450"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01 백남준</a:t>
            </a:r>
            <a:endParaRPr lang="en-US" sz="1300" dirty="0"/>
          </a:p>
        </p:txBody>
      </p:sp>
      <p:sp>
        <p:nvSpPr>
          <p:cNvPr id="13" name="Shape 11"/>
          <p:cNvSpPr/>
          <p:nvPr/>
        </p:nvSpPr>
        <p:spPr>
          <a:xfrm>
            <a:off x="2717800" y="2091531"/>
            <a:ext cx="4953000" cy="0"/>
          </a:xfrm>
          <a:prstGeom prst="line">
            <a:avLst/>
          </a:prstGeom>
          <a:noFill/>
          <a:ln w="6350">
            <a:solidFill>
              <a:srgbClr val="E4DCF5"/>
            </a:solidFill>
            <a:prstDash val="solid"/>
          </a:ln>
        </p:spPr>
      </p:sp>
      <p:sp>
        <p:nvSpPr>
          <p:cNvPr id="14" name="Text 12"/>
          <p:cNvSpPr txBox="1"/>
          <p:nvPr/>
        </p:nvSpPr>
        <p:spPr>
          <a:xfrm>
            <a:off x="2819400" y="1805186"/>
            <a:ext cx="5319776"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〈TV 부처〉, 1974</a:t>
            </a:r>
            <a:endParaRPr lang="en-US" sz="1300" dirty="0"/>
          </a:p>
        </p:txBody>
      </p:sp>
      <p:sp>
        <p:nvSpPr>
          <p:cNvPr id="15" name="Shape 13"/>
          <p:cNvSpPr/>
          <p:nvPr/>
        </p:nvSpPr>
        <p:spPr>
          <a:xfrm>
            <a:off x="7670800" y="2091531"/>
            <a:ext cx="3708400" cy="0"/>
          </a:xfrm>
          <a:prstGeom prst="line">
            <a:avLst/>
          </a:prstGeom>
          <a:noFill/>
          <a:ln w="6350">
            <a:solidFill>
              <a:srgbClr val="E4DCF5"/>
            </a:solidFill>
            <a:prstDash val="solid"/>
          </a:ln>
        </p:spPr>
      </p:sp>
      <p:sp>
        <p:nvSpPr>
          <p:cNvPr id="16" name="Text 14"/>
          <p:cNvSpPr txBox="1"/>
          <p:nvPr/>
        </p:nvSpPr>
        <p:spPr>
          <a:xfrm>
            <a:off x="7772400" y="1805186"/>
            <a:ext cx="3925824" cy="232370"/>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ZKM, 세계일보</a:t>
            </a:r>
            <a:endParaRPr lang="en-US" sz="1300" dirty="0"/>
          </a:p>
        </p:txBody>
      </p:sp>
      <p:sp>
        <p:nvSpPr>
          <p:cNvPr id="17" name="Shape 15"/>
          <p:cNvSpPr/>
          <p:nvPr/>
        </p:nvSpPr>
        <p:spPr>
          <a:xfrm>
            <a:off x="812800" y="2435027"/>
            <a:ext cx="1905000" cy="0"/>
          </a:xfrm>
          <a:prstGeom prst="line">
            <a:avLst/>
          </a:prstGeom>
          <a:noFill/>
          <a:ln w="6350">
            <a:solidFill>
              <a:srgbClr val="E4DCF5"/>
            </a:solidFill>
            <a:prstDash val="solid"/>
          </a:ln>
        </p:spPr>
      </p:sp>
      <p:sp>
        <p:nvSpPr>
          <p:cNvPr id="18" name="Text 16"/>
          <p:cNvSpPr txBox="1"/>
          <p:nvPr/>
        </p:nvSpPr>
        <p:spPr>
          <a:xfrm>
            <a:off x="914400" y="2151856"/>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02 장영혜중공업</a:t>
            </a:r>
            <a:endParaRPr lang="en-US" sz="1300" dirty="0"/>
          </a:p>
        </p:txBody>
      </p:sp>
      <p:sp>
        <p:nvSpPr>
          <p:cNvPr id="19" name="Shape 17"/>
          <p:cNvSpPr/>
          <p:nvPr/>
        </p:nvSpPr>
        <p:spPr>
          <a:xfrm>
            <a:off x="2717800" y="2435027"/>
            <a:ext cx="4953000" cy="0"/>
          </a:xfrm>
          <a:prstGeom prst="line">
            <a:avLst/>
          </a:prstGeom>
          <a:noFill/>
          <a:ln w="6350">
            <a:solidFill>
              <a:srgbClr val="E4DCF5"/>
            </a:solidFill>
            <a:prstDash val="solid"/>
          </a:ln>
        </p:spPr>
      </p:sp>
      <p:sp>
        <p:nvSpPr>
          <p:cNvPr id="20" name="Text 18"/>
          <p:cNvSpPr txBox="1"/>
          <p:nvPr/>
        </p:nvSpPr>
        <p:spPr>
          <a:xfrm>
            <a:off x="2819400" y="2151856"/>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〈우아!〉, 2025</a:t>
            </a:r>
            <a:endParaRPr lang="en-US" sz="1300" dirty="0"/>
          </a:p>
        </p:txBody>
      </p:sp>
      <p:sp>
        <p:nvSpPr>
          <p:cNvPr id="21" name="Shape 19"/>
          <p:cNvSpPr/>
          <p:nvPr/>
        </p:nvSpPr>
        <p:spPr>
          <a:xfrm>
            <a:off x="7670800" y="2435027"/>
            <a:ext cx="3708400" cy="0"/>
          </a:xfrm>
          <a:prstGeom prst="line">
            <a:avLst/>
          </a:prstGeom>
          <a:noFill/>
          <a:ln w="6350">
            <a:solidFill>
              <a:srgbClr val="E4DCF5"/>
            </a:solidFill>
            <a:prstDash val="solid"/>
          </a:ln>
        </p:spPr>
      </p:sp>
      <p:sp>
        <p:nvSpPr>
          <p:cNvPr id="22" name="Text 20"/>
          <p:cNvSpPr txBox="1"/>
          <p:nvPr/>
        </p:nvSpPr>
        <p:spPr>
          <a:xfrm>
            <a:off x="7772400" y="2151856"/>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서울시립 북서울미술관, 보그 코리아</a:t>
            </a:r>
            <a:endParaRPr lang="en-US" sz="1300" dirty="0"/>
          </a:p>
        </p:txBody>
      </p:sp>
      <p:sp>
        <p:nvSpPr>
          <p:cNvPr id="23" name="Shape 21"/>
          <p:cNvSpPr/>
          <p:nvPr/>
        </p:nvSpPr>
        <p:spPr>
          <a:xfrm>
            <a:off x="812800" y="2778522"/>
            <a:ext cx="1905000" cy="0"/>
          </a:xfrm>
          <a:prstGeom prst="line">
            <a:avLst/>
          </a:prstGeom>
          <a:noFill/>
          <a:ln w="6350">
            <a:solidFill>
              <a:srgbClr val="E4DCF5"/>
            </a:solidFill>
            <a:prstDash val="solid"/>
          </a:ln>
        </p:spPr>
      </p:sp>
      <p:sp>
        <p:nvSpPr>
          <p:cNvPr id="24" name="Text 22"/>
          <p:cNvSpPr txBox="1"/>
          <p:nvPr/>
        </p:nvSpPr>
        <p:spPr>
          <a:xfrm>
            <a:off x="914400" y="249535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03 안규철</a:t>
            </a:r>
            <a:endParaRPr lang="en-US" sz="1300" dirty="0"/>
          </a:p>
        </p:txBody>
      </p:sp>
      <p:sp>
        <p:nvSpPr>
          <p:cNvPr id="25" name="Shape 23"/>
          <p:cNvSpPr/>
          <p:nvPr/>
        </p:nvSpPr>
        <p:spPr>
          <a:xfrm>
            <a:off x="2717800" y="2778522"/>
            <a:ext cx="4953000" cy="0"/>
          </a:xfrm>
          <a:prstGeom prst="line">
            <a:avLst/>
          </a:prstGeom>
          <a:noFill/>
          <a:ln w="6350">
            <a:solidFill>
              <a:srgbClr val="E4DCF5"/>
            </a:solidFill>
            <a:prstDash val="solid"/>
          </a:ln>
        </p:spPr>
      </p:sp>
      <p:sp>
        <p:nvSpPr>
          <p:cNvPr id="26" name="Text 24"/>
          <p:cNvSpPr txBox="1"/>
          <p:nvPr/>
        </p:nvSpPr>
        <p:spPr>
          <a:xfrm>
            <a:off x="2819400" y="249535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〈노/의자〉, 2017</a:t>
            </a:r>
            <a:endParaRPr lang="en-US" sz="1300" dirty="0"/>
          </a:p>
        </p:txBody>
      </p:sp>
      <p:sp>
        <p:nvSpPr>
          <p:cNvPr id="27" name="Shape 25"/>
          <p:cNvSpPr/>
          <p:nvPr/>
        </p:nvSpPr>
        <p:spPr>
          <a:xfrm>
            <a:off x="7670800" y="2778522"/>
            <a:ext cx="3708400" cy="0"/>
          </a:xfrm>
          <a:prstGeom prst="line">
            <a:avLst/>
          </a:prstGeom>
          <a:noFill/>
          <a:ln w="6350">
            <a:solidFill>
              <a:srgbClr val="E4DCF5"/>
            </a:solidFill>
            <a:prstDash val="solid"/>
          </a:ln>
        </p:spPr>
      </p:sp>
      <p:sp>
        <p:nvSpPr>
          <p:cNvPr id="28" name="Text 26"/>
          <p:cNvSpPr txBox="1"/>
          <p:nvPr/>
        </p:nvSpPr>
        <p:spPr>
          <a:xfrm>
            <a:off x="7772400" y="249535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a:t>
            </a:r>
            <a:endParaRPr lang="en-US" sz="1300" dirty="0"/>
          </a:p>
        </p:txBody>
      </p:sp>
      <p:sp>
        <p:nvSpPr>
          <p:cNvPr id="29" name="Shape 27"/>
          <p:cNvSpPr/>
          <p:nvPr/>
        </p:nvSpPr>
        <p:spPr>
          <a:xfrm>
            <a:off x="812800" y="3122017"/>
            <a:ext cx="1905000" cy="0"/>
          </a:xfrm>
          <a:prstGeom prst="line">
            <a:avLst/>
          </a:prstGeom>
          <a:noFill/>
          <a:ln w="6350">
            <a:solidFill>
              <a:srgbClr val="E4DCF5"/>
            </a:solidFill>
            <a:prstDash val="solid"/>
          </a:ln>
        </p:spPr>
      </p:sp>
      <p:sp>
        <p:nvSpPr>
          <p:cNvPr id="30" name="Text 28"/>
          <p:cNvSpPr txBox="1"/>
          <p:nvPr/>
        </p:nvSpPr>
        <p:spPr>
          <a:xfrm>
            <a:off x="914400" y="2838847"/>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04 권오상</a:t>
            </a:r>
            <a:endParaRPr lang="en-US" sz="1300" dirty="0"/>
          </a:p>
        </p:txBody>
      </p:sp>
      <p:sp>
        <p:nvSpPr>
          <p:cNvPr id="31" name="Shape 29"/>
          <p:cNvSpPr/>
          <p:nvPr/>
        </p:nvSpPr>
        <p:spPr>
          <a:xfrm>
            <a:off x="2717800" y="3122017"/>
            <a:ext cx="4953000" cy="0"/>
          </a:xfrm>
          <a:prstGeom prst="line">
            <a:avLst/>
          </a:prstGeom>
          <a:noFill/>
          <a:ln w="6350">
            <a:solidFill>
              <a:srgbClr val="E4DCF5"/>
            </a:solidFill>
            <a:prstDash val="solid"/>
          </a:ln>
        </p:spPr>
      </p:sp>
      <p:sp>
        <p:nvSpPr>
          <p:cNvPr id="32" name="Text 30"/>
          <p:cNvSpPr txBox="1"/>
          <p:nvPr/>
        </p:nvSpPr>
        <p:spPr>
          <a:xfrm>
            <a:off x="2819400" y="2838847"/>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〈데오도란트 타입〉 연작, 1998~</a:t>
            </a:r>
            <a:endParaRPr lang="en-US" sz="1300" dirty="0"/>
          </a:p>
        </p:txBody>
      </p:sp>
      <p:sp>
        <p:nvSpPr>
          <p:cNvPr id="33" name="Shape 31"/>
          <p:cNvSpPr/>
          <p:nvPr/>
        </p:nvSpPr>
        <p:spPr>
          <a:xfrm>
            <a:off x="7670800" y="3122017"/>
            <a:ext cx="3708400" cy="0"/>
          </a:xfrm>
          <a:prstGeom prst="line">
            <a:avLst/>
          </a:prstGeom>
          <a:noFill/>
          <a:ln w="6350">
            <a:solidFill>
              <a:srgbClr val="E4DCF5"/>
            </a:solidFill>
            <a:prstDash val="solid"/>
          </a:ln>
        </p:spPr>
      </p:sp>
      <p:sp>
        <p:nvSpPr>
          <p:cNvPr id="34" name="Text 32"/>
          <p:cNvSpPr txBox="1"/>
          <p:nvPr/>
        </p:nvSpPr>
        <p:spPr>
          <a:xfrm>
            <a:off x="7772400" y="2838847"/>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아라리오갤러리</a:t>
            </a:r>
            <a:endParaRPr lang="en-US" sz="1300" dirty="0"/>
          </a:p>
        </p:txBody>
      </p:sp>
      <p:sp>
        <p:nvSpPr>
          <p:cNvPr id="35" name="Shape 33"/>
          <p:cNvSpPr/>
          <p:nvPr/>
        </p:nvSpPr>
        <p:spPr>
          <a:xfrm>
            <a:off x="812800" y="3688358"/>
            <a:ext cx="1905000" cy="0"/>
          </a:xfrm>
          <a:prstGeom prst="line">
            <a:avLst/>
          </a:prstGeom>
          <a:noFill/>
          <a:ln w="6350">
            <a:solidFill>
              <a:srgbClr val="E4DCF5"/>
            </a:solidFill>
            <a:prstDash val="solid"/>
          </a:ln>
        </p:spPr>
      </p:sp>
      <p:sp>
        <p:nvSpPr>
          <p:cNvPr id="36" name="Text 34"/>
          <p:cNvSpPr txBox="1"/>
          <p:nvPr/>
        </p:nvSpPr>
        <p:spPr>
          <a:xfrm>
            <a:off x="914400" y="3182342"/>
            <a:ext cx="1949450" cy="452041"/>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04 비교 작품</a:t>
            </a:r>
            <a:endParaRPr lang="en-US" sz="1300" dirty="0"/>
          </a:p>
        </p:txBody>
      </p:sp>
      <p:sp>
        <p:nvSpPr>
          <p:cNvPr id="37" name="Shape 35"/>
          <p:cNvSpPr/>
          <p:nvPr/>
        </p:nvSpPr>
        <p:spPr>
          <a:xfrm>
            <a:off x="2717800" y="3688358"/>
            <a:ext cx="4953000" cy="0"/>
          </a:xfrm>
          <a:prstGeom prst="line">
            <a:avLst/>
          </a:prstGeom>
          <a:noFill/>
          <a:ln w="6350">
            <a:solidFill>
              <a:srgbClr val="E4DCF5"/>
            </a:solidFill>
            <a:prstDash val="solid"/>
          </a:ln>
        </p:spPr>
      </p:sp>
      <p:sp>
        <p:nvSpPr>
          <p:cNvPr id="38" name="Text 36"/>
          <p:cNvSpPr txBox="1"/>
          <p:nvPr/>
        </p:nvSpPr>
        <p:spPr>
          <a:xfrm>
            <a:off x="2819400" y="3182342"/>
            <a:ext cx="5319776" cy="452041"/>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피카소 〈우는 여인〉, 1937 · 호크니 〈Mother I, Yorkshire Moors, August 1985 #1〉, 1985</a:t>
            </a:r>
            <a:endParaRPr lang="en-US" sz="1300" dirty="0"/>
          </a:p>
        </p:txBody>
      </p:sp>
      <p:sp>
        <p:nvSpPr>
          <p:cNvPr id="39" name="Shape 37"/>
          <p:cNvSpPr/>
          <p:nvPr/>
        </p:nvSpPr>
        <p:spPr>
          <a:xfrm>
            <a:off x="7670800" y="3688358"/>
            <a:ext cx="3708400" cy="0"/>
          </a:xfrm>
          <a:prstGeom prst="line">
            <a:avLst/>
          </a:prstGeom>
          <a:noFill/>
          <a:ln w="6350">
            <a:solidFill>
              <a:srgbClr val="E4DCF5"/>
            </a:solidFill>
            <a:prstDash val="solid"/>
          </a:ln>
        </p:spPr>
      </p:sp>
      <p:sp>
        <p:nvSpPr>
          <p:cNvPr id="40" name="Text 38"/>
          <p:cNvSpPr txBox="1"/>
          <p:nvPr/>
        </p:nvSpPr>
        <p:spPr>
          <a:xfrm>
            <a:off x="7772400" y="3182342"/>
            <a:ext cx="3925824" cy="452041"/>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테이트(피카소), Artchive(호크니)</a:t>
            </a:r>
            <a:endParaRPr lang="en-US" sz="1300" dirty="0"/>
          </a:p>
        </p:txBody>
      </p:sp>
      <p:sp>
        <p:nvSpPr>
          <p:cNvPr id="41" name="Shape 39"/>
          <p:cNvSpPr/>
          <p:nvPr/>
        </p:nvSpPr>
        <p:spPr>
          <a:xfrm>
            <a:off x="812800" y="4031853"/>
            <a:ext cx="1905000" cy="0"/>
          </a:xfrm>
          <a:prstGeom prst="line">
            <a:avLst/>
          </a:prstGeom>
          <a:noFill/>
          <a:ln w="6350">
            <a:solidFill>
              <a:srgbClr val="E4DCF5"/>
            </a:solidFill>
            <a:prstDash val="solid"/>
          </a:ln>
        </p:spPr>
      </p:sp>
      <p:sp>
        <p:nvSpPr>
          <p:cNvPr id="42" name="Text 40"/>
          <p:cNvSpPr txBox="1"/>
          <p:nvPr/>
        </p:nvSpPr>
        <p:spPr>
          <a:xfrm>
            <a:off x="914400" y="3748683"/>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05 정연두</a:t>
            </a:r>
            <a:endParaRPr lang="en-US" sz="1300" dirty="0"/>
          </a:p>
        </p:txBody>
      </p:sp>
      <p:sp>
        <p:nvSpPr>
          <p:cNvPr id="43" name="Shape 41"/>
          <p:cNvSpPr/>
          <p:nvPr/>
        </p:nvSpPr>
        <p:spPr>
          <a:xfrm>
            <a:off x="2717800" y="4031853"/>
            <a:ext cx="4953000" cy="0"/>
          </a:xfrm>
          <a:prstGeom prst="line">
            <a:avLst/>
          </a:prstGeom>
          <a:noFill/>
          <a:ln w="6350">
            <a:solidFill>
              <a:srgbClr val="E4DCF5"/>
            </a:solidFill>
            <a:prstDash val="solid"/>
          </a:ln>
        </p:spPr>
      </p:sp>
      <p:sp>
        <p:nvSpPr>
          <p:cNvPr id="44" name="Text 42"/>
          <p:cNvSpPr txBox="1"/>
          <p:nvPr/>
        </p:nvSpPr>
        <p:spPr>
          <a:xfrm>
            <a:off x="2819400" y="3748683"/>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〈내 사랑 지니〉 연작, 2001~</a:t>
            </a:r>
            <a:endParaRPr lang="en-US" sz="1300" dirty="0"/>
          </a:p>
        </p:txBody>
      </p:sp>
      <p:sp>
        <p:nvSpPr>
          <p:cNvPr id="45" name="Shape 43"/>
          <p:cNvSpPr/>
          <p:nvPr/>
        </p:nvSpPr>
        <p:spPr>
          <a:xfrm>
            <a:off x="7670800" y="4031853"/>
            <a:ext cx="3708400" cy="0"/>
          </a:xfrm>
          <a:prstGeom prst="line">
            <a:avLst/>
          </a:prstGeom>
          <a:noFill/>
          <a:ln w="6350">
            <a:solidFill>
              <a:srgbClr val="E4DCF5"/>
            </a:solidFill>
            <a:prstDash val="solid"/>
          </a:ln>
        </p:spPr>
      </p:sp>
      <p:sp>
        <p:nvSpPr>
          <p:cNvPr id="46" name="Text 44"/>
          <p:cNvSpPr txBox="1"/>
          <p:nvPr/>
        </p:nvSpPr>
        <p:spPr>
          <a:xfrm>
            <a:off x="7772400" y="3748683"/>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시애틀 미술관</a:t>
            </a:r>
            <a:endParaRPr lang="en-US" sz="1300" dirty="0"/>
          </a:p>
        </p:txBody>
      </p:sp>
      <p:sp>
        <p:nvSpPr>
          <p:cNvPr id="47" name="Shape 45"/>
          <p:cNvSpPr/>
          <p:nvPr/>
        </p:nvSpPr>
        <p:spPr>
          <a:xfrm>
            <a:off x="812800" y="4375348"/>
            <a:ext cx="1905000" cy="0"/>
          </a:xfrm>
          <a:prstGeom prst="line">
            <a:avLst/>
          </a:prstGeom>
          <a:noFill/>
          <a:ln w="6350">
            <a:solidFill>
              <a:srgbClr val="E4DCF5"/>
            </a:solidFill>
            <a:prstDash val="solid"/>
          </a:ln>
        </p:spPr>
      </p:sp>
      <p:sp>
        <p:nvSpPr>
          <p:cNvPr id="48" name="Text 46"/>
          <p:cNvSpPr txBox="1"/>
          <p:nvPr/>
        </p:nvSpPr>
        <p:spPr>
          <a:xfrm>
            <a:off x="914400" y="409217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06 김우진</a:t>
            </a:r>
            <a:endParaRPr lang="en-US" sz="1300" dirty="0"/>
          </a:p>
        </p:txBody>
      </p:sp>
      <p:sp>
        <p:nvSpPr>
          <p:cNvPr id="49" name="Shape 47"/>
          <p:cNvSpPr/>
          <p:nvPr/>
        </p:nvSpPr>
        <p:spPr>
          <a:xfrm>
            <a:off x="2717800" y="4375348"/>
            <a:ext cx="4953000" cy="0"/>
          </a:xfrm>
          <a:prstGeom prst="line">
            <a:avLst/>
          </a:prstGeom>
          <a:noFill/>
          <a:ln w="6350">
            <a:solidFill>
              <a:srgbClr val="E4DCF5"/>
            </a:solidFill>
            <a:prstDash val="solid"/>
          </a:ln>
        </p:spPr>
      </p:sp>
      <p:sp>
        <p:nvSpPr>
          <p:cNvPr id="50" name="Text 48"/>
          <p:cNvSpPr txBox="1"/>
          <p:nvPr/>
        </p:nvSpPr>
        <p:spPr>
          <a:xfrm>
            <a:off x="2819400" y="409217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〈이 황금신을 신을 수 있는 사람〉, 2021 (영상 캡처)</a:t>
            </a:r>
            <a:endParaRPr lang="en-US" sz="1300" dirty="0"/>
          </a:p>
        </p:txBody>
      </p:sp>
      <p:sp>
        <p:nvSpPr>
          <p:cNvPr id="51" name="Shape 49"/>
          <p:cNvSpPr/>
          <p:nvPr/>
        </p:nvSpPr>
        <p:spPr>
          <a:xfrm>
            <a:off x="7670800" y="4375348"/>
            <a:ext cx="3708400" cy="0"/>
          </a:xfrm>
          <a:prstGeom prst="line">
            <a:avLst/>
          </a:prstGeom>
          <a:noFill/>
          <a:ln w="6350">
            <a:solidFill>
              <a:srgbClr val="E4DCF5"/>
            </a:solidFill>
            <a:prstDash val="solid"/>
          </a:ln>
        </p:spPr>
      </p:sp>
      <p:sp>
        <p:nvSpPr>
          <p:cNvPr id="52" name="Text 50"/>
          <p:cNvSpPr txBox="1"/>
          <p:nvPr/>
        </p:nvSpPr>
        <p:spPr>
          <a:xfrm>
            <a:off x="7772400" y="409217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frieze</a:t>
            </a:r>
            <a:endParaRPr lang="en-US" sz="1300" dirty="0"/>
          </a:p>
        </p:txBody>
      </p:sp>
      <p:sp>
        <p:nvSpPr>
          <p:cNvPr id="53" name="Shape 51"/>
          <p:cNvSpPr/>
          <p:nvPr/>
        </p:nvSpPr>
        <p:spPr>
          <a:xfrm>
            <a:off x="812800" y="4718844"/>
            <a:ext cx="1905000" cy="0"/>
          </a:xfrm>
          <a:prstGeom prst="line">
            <a:avLst/>
          </a:prstGeom>
          <a:noFill/>
          <a:ln w="6350">
            <a:solidFill>
              <a:srgbClr val="E4DCF5"/>
            </a:solidFill>
            <a:prstDash val="solid"/>
          </a:ln>
        </p:spPr>
      </p:sp>
      <p:sp>
        <p:nvSpPr>
          <p:cNvPr id="54" name="Text 52"/>
          <p:cNvSpPr txBox="1"/>
          <p:nvPr/>
        </p:nvSpPr>
        <p:spPr>
          <a:xfrm>
            <a:off x="914400" y="4435673"/>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07 함경아</a:t>
            </a:r>
            <a:endParaRPr lang="en-US" sz="1300" dirty="0"/>
          </a:p>
        </p:txBody>
      </p:sp>
      <p:sp>
        <p:nvSpPr>
          <p:cNvPr id="55" name="Shape 53"/>
          <p:cNvSpPr/>
          <p:nvPr/>
        </p:nvSpPr>
        <p:spPr>
          <a:xfrm>
            <a:off x="2717800" y="4718844"/>
            <a:ext cx="4953000" cy="0"/>
          </a:xfrm>
          <a:prstGeom prst="line">
            <a:avLst/>
          </a:prstGeom>
          <a:noFill/>
          <a:ln w="6350">
            <a:solidFill>
              <a:srgbClr val="E4DCF5"/>
            </a:solidFill>
            <a:prstDash val="solid"/>
          </a:ln>
        </p:spPr>
      </p:sp>
      <p:sp>
        <p:nvSpPr>
          <p:cNvPr id="56" name="Text 54"/>
          <p:cNvSpPr txBox="1"/>
          <p:nvPr/>
        </p:nvSpPr>
        <p:spPr>
          <a:xfrm>
            <a:off x="2819400" y="4435673"/>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자수 연작, 2008~</a:t>
            </a:r>
            <a:endParaRPr lang="en-US" sz="1300" dirty="0"/>
          </a:p>
        </p:txBody>
      </p:sp>
      <p:sp>
        <p:nvSpPr>
          <p:cNvPr id="57" name="Shape 55"/>
          <p:cNvSpPr/>
          <p:nvPr/>
        </p:nvSpPr>
        <p:spPr>
          <a:xfrm>
            <a:off x="7670800" y="4718844"/>
            <a:ext cx="3708400" cy="0"/>
          </a:xfrm>
          <a:prstGeom prst="line">
            <a:avLst/>
          </a:prstGeom>
          <a:noFill/>
          <a:ln w="6350">
            <a:solidFill>
              <a:srgbClr val="E4DCF5"/>
            </a:solidFill>
            <a:prstDash val="solid"/>
          </a:ln>
        </p:spPr>
      </p:sp>
      <p:sp>
        <p:nvSpPr>
          <p:cNvPr id="58" name="Text 56"/>
          <p:cNvSpPr txBox="1"/>
          <p:nvPr/>
        </p:nvSpPr>
        <p:spPr>
          <a:xfrm>
            <a:off x="7772400" y="4435673"/>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 아주경제</a:t>
            </a:r>
            <a:endParaRPr lang="en-US" sz="1300" dirty="0"/>
          </a:p>
        </p:txBody>
      </p:sp>
      <p:sp>
        <p:nvSpPr>
          <p:cNvPr id="59" name="Shape 57"/>
          <p:cNvSpPr/>
          <p:nvPr/>
        </p:nvSpPr>
        <p:spPr>
          <a:xfrm>
            <a:off x="812800" y="5062339"/>
            <a:ext cx="1905000" cy="0"/>
          </a:xfrm>
          <a:prstGeom prst="line">
            <a:avLst/>
          </a:prstGeom>
          <a:noFill/>
          <a:ln w="6350">
            <a:solidFill>
              <a:srgbClr val="E4DCF5"/>
            </a:solidFill>
            <a:prstDash val="solid"/>
          </a:ln>
        </p:spPr>
      </p:sp>
      <p:sp>
        <p:nvSpPr>
          <p:cNvPr id="60" name="Text 58"/>
          <p:cNvSpPr txBox="1"/>
          <p:nvPr/>
        </p:nvSpPr>
        <p:spPr>
          <a:xfrm>
            <a:off x="914400" y="4779169"/>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08 박이소</a:t>
            </a:r>
            <a:endParaRPr lang="en-US" sz="1300" dirty="0"/>
          </a:p>
        </p:txBody>
      </p:sp>
      <p:sp>
        <p:nvSpPr>
          <p:cNvPr id="61" name="Shape 59"/>
          <p:cNvSpPr/>
          <p:nvPr/>
        </p:nvSpPr>
        <p:spPr>
          <a:xfrm>
            <a:off x="2717800" y="5062339"/>
            <a:ext cx="4953000" cy="0"/>
          </a:xfrm>
          <a:prstGeom prst="line">
            <a:avLst/>
          </a:prstGeom>
          <a:noFill/>
          <a:ln w="6350">
            <a:solidFill>
              <a:srgbClr val="E4DCF5"/>
            </a:solidFill>
            <a:prstDash val="solid"/>
          </a:ln>
        </p:spPr>
      </p:sp>
      <p:sp>
        <p:nvSpPr>
          <p:cNvPr id="62" name="Text 60"/>
          <p:cNvSpPr txBox="1"/>
          <p:nvPr/>
        </p:nvSpPr>
        <p:spPr>
          <a:xfrm>
            <a:off x="2819400" y="4779169"/>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〈당신의 밝은 미래〉, 2002 · 〈우리는 행복해요〉, 2004</a:t>
            </a:r>
            <a:endParaRPr lang="en-US" sz="1300" dirty="0"/>
          </a:p>
        </p:txBody>
      </p:sp>
      <p:sp>
        <p:nvSpPr>
          <p:cNvPr id="63" name="Shape 61"/>
          <p:cNvSpPr/>
          <p:nvPr/>
        </p:nvSpPr>
        <p:spPr>
          <a:xfrm>
            <a:off x="7670800" y="5062339"/>
            <a:ext cx="3708400" cy="0"/>
          </a:xfrm>
          <a:prstGeom prst="line">
            <a:avLst/>
          </a:prstGeom>
          <a:noFill/>
          <a:ln w="6350">
            <a:solidFill>
              <a:srgbClr val="E4DCF5"/>
            </a:solidFill>
            <a:prstDash val="solid"/>
          </a:ln>
        </p:spPr>
      </p:sp>
      <p:sp>
        <p:nvSpPr>
          <p:cNvPr id="64" name="Text 62"/>
          <p:cNvSpPr txBox="1"/>
          <p:nvPr/>
        </p:nvSpPr>
        <p:spPr>
          <a:xfrm>
            <a:off x="7772400" y="4779169"/>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국립현대미술관, K-ARTIST</a:t>
            </a:r>
            <a:endParaRPr lang="en-US" sz="1300" dirty="0"/>
          </a:p>
        </p:txBody>
      </p:sp>
      <p:sp>
        <p:nvSpPr>
          <p:cNvPr id="65" name="Text 63"/>
          <p:cNvSpPr txBox="1"/>
          <p:nvPr/>
        </p:nvSpPr>
        <p:spPr>
          <a:xfrm>
            <a:off x="812800" y="6085880"/>
            <a:ext cx="11834368"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작품 이미지의 저작권은 각 작가에게 있으며, 이 자료에서는 수업 목적으로만 사용합니다.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owun Batang"/>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wun Dod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이것도 미술이에요?</dc:title>
  <dc:subject>PptxGenJS Presentation</dc:subject>
  <dc:creator>PptxGenJS</dc:creator>
  <cp:lastModifiedBy>PptxGenJS</cp:lastModifiedBy>
  <cp:revision>1</cp:revision>
  <dcterms:created xsi:type="dcterms:W3CDTF">2026-10-28T10:49:43Z</dcterms:created>
  <dcterms:modified xsi:type="dcterms:W3CDTF">2026-10-28T10:49:43Z</dcterms:modified>
</cp:coreProperties>
</file>