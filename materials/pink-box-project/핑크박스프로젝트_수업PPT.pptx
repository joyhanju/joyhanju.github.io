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23baec5f-dd22-5861-411b-651572f63836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수업 안내" id="{f4886d31-52fc-149a-d799-885b192ca6f3}">
          <p14:sldIdLst>
            <p14:sldId id="262"/>
            <p14:sldId id="263"/>
            <p14:sldId id="264"/>
            <p14:sldId id="265"/>
            <p14:sldId id="266"/>
          </p14:sldIdLst>
        </p14:section>
        <p14:section name="완성 작품" id="{329359e2-2fad-b9d6-bc4e-40a3a4d3ab6a}">
          <p14:sldIdLst>
            <p14:sldId id="267"/>
            <p14:sldId id="268"/>
            <p14:sldId id="269"/>
            <p14:sldId id="270"/>
          </p14:sldIdLst>
        </p14:section>
        <p14:section name="Part 1 아이디어" id="{3e590cb1-3aa1-00a7-0ffc-ea14c87a2684}">
          <p14:sldIdLst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학생 사례" id="{d081eed6-0d60-d2aa-af72-bd02c9334001}">
          <p14:sldIdLst>
            <p14:sldId id="277"/>
            <p14:sldId id="278"/>
            <p14:sldId id="279"/>
            <p14:sldId id="280"/>
            <p14:sldId id="281"/>
          </p14:sldIdLst>
        </p14:section>
        <p14:section name="아이디어 스케치" id="{920b62e3-e045-fd5f-67d9-aa79694373e8}">
          <p14:sldIdLst>
            <p14:sldId id="282"/>
            <p14:sldId id="283"/>
            <p14:sldId id="284"/>
            <p14:sldId id="285"/>
            <p14:sldId id="286"/>
          </p14:sldIdLst>
        </p14:section>
        <p14:section name="Part 2 제작·발표" id="{ebdb8eee-c2ce-02f9-06b2-4616c7a72f0e}">
          <p14:sldIdLst>
            <p14:sldId id="287"/>
            <p14:sldId id="288"/>
            <p14:sldId id="289"/>
            <p14:sldId id="290"/>
            <p14:sldId id="291"/>
            <p14:sldId id="29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표지. 학교명·연도 없이 수업 제목만 남겼습니다.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초인종 효과음을 넣고 싶으면 이 슬라이드에 [삽입 &gt; 오디오]로 추가하세요.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48640"/>
            <a:ext cx="11460175" cy="5943600"/>
          </a:xfrm>
          <a:prstGeom prst="rect">
            <a:avLst/>
          </a:prstGeom>
          <a:ln w="25400">
            <a:solidFill>
              <a:srgbClr val="7FC4E8"/>
            </a:solidFill>
            <a:prstDash val="solid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48640"/>
            <a:ext cx="11460175" cy="5943600"/>
          </a:xfrm>
          <a:prstGeom prst="rect">
            <a:avLst/>
          </a:prstGeom>
          <a:ln w="25400">
            <a:solidFill>
              <a:srgbClr val="7FC4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2514600" cy="548640"/>
          </a:xfrm>
          <a:prstGeom prst="rect">
            <a:avLst/>
          </a:prstGeom>
          <a:solidFill>
            <a:schemeClr val="bg1"/>
          </a:solidFill>
          <a:ln/>
        </p:spPr>
      </p:sp>
      <p:pic>
        <p:nvPicPr>
          <p:cNvPr id="4" name="Image 0" descr="/home/claude/src/assets/pinkb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65760"/>
            <a:ext cx="457200" cy="32221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32688" y="3108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핑크박스 프로젝트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932688" y="5669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1"/>
                </a:solidFill>
              </a:rPr>
              <a:t>Pink Box Project</a:t>
            </a:r>
            <a:endParaRPr lang="en-US" sz="900" dirty="0"/>
          </a:p>
        </p:txBody>
      </p:sp>
      <p:sp>
        <p:nvSpPr>
          <p:cNvPr id="7" name="Text 4"/>
          <p:cNvSpPr/>
          <p:nvPr>
            <p:ph idx="105" type="title" hasCustomPrompt="1"/>
          </p:nvPr>
        </p:nvSpPr>
        <p:spPr>
          <a:xfrm>
            <a:off x="822960" y="914400"/>
            <a:ext cx="10515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5105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48640"/>
            <a:ext cx="11460175" cy="5943600"/>
          </a:xfrm>
          <a:prstGeom prst="rect">
            <a:avLst/>
          </a:prstGeom>
          <a:ln w="25400">
            <a:solidFill>
              <a:srgbClr val="7FC4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2514600" cy="548640"/>
          </a:xfrm>
          <a:prstGeom prst="rect">
            <a:avLst/>
          </a:prstGeom>
          <a:solidFill>
            <a:schemeClr val="bg1"/>
          </a:solidFill>
          <a:ln/>
        </p:spPr>
      </p:sp>
      <p:pic>
        <p:nvPicPr>
          <p:cNvPr id="4" name="Image 0" descr="/home/claude/src/assets/pinkb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65760"/>
            <a:ext cx="457200" cy="32221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32688" y="3108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핑크박스 프로젝트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932688" y="5669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1"/>
                </a:solidFill>
              </a:rPr>
              <a:t>Pink Box Project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5105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48640"/>
            <a:ext cx="11460175" cy="5943600"/>
          </a:xfrm>
          <a:prstGeom prst="rect">
            <a:avLst/>
          </a:prstGeom>
          <a:ln w="25400">
            <a:solidFill>
              <a:srgbClr val="7FC4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2514600" cy="548640"/>
          </a:xfrm>
          <a:prstGeom prst="rect">
            <a:avLst/>
          </a:prstGeom>
          <a:solidFill>
            <a:schemeClr val="bg1"/>
          </a:solidFill>
          <a:ln/>
        </p:spPr>
      </p:sp>
      <p:pic>
        <p:nvPicPr>
          <p:cNvPr id="4" name="Image 0" descr="/home/claude/src/assets/pinkb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65760"/>
            <a:ext cx="457200" cy="32221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32688" y="3108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핑크박스 프로젝트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932688" y="5669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1"/>
                </a:solidFill>
              </a:rPr>
              <a:t>Pink Box Project</a:t>
            </a:r>
            <a:endParaRPr lang="en-US" sz="900" dirty="0"/>
          </a:p>
        </p:txBody>
      </p:sp>
      <p:sp>
        <p:nvSpPr>
          <p:cNvPr id="7" name="Text 4"/>
          <p:cNvSpPr/>
          <p:nvPr>
            <p:ph idx="105" type="title" hasCustomPrompt="1"/>
          </p:nvPr>
        </p:nvSpPr>
        <p:spPr>
          <a:xfrm>
            <a:off x="914400" y="3246120"/>
            <a:ext cx="10360152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000" b="1" dirty="0">
                <a:solidFill>
                  <a:schemeClr val="accent1"/>
                </a:solidFill>
              </a:defRPr>
            </a:lvl1pPr>
          </a:lstStyle>
          <a:p>
            <a:pPr algn="ctr" indent="0" marL="0">
              <a:buNone/>
            </a:pPr>
            <a:endParaRPr lang="en-US" sz="4000" dirty="0"/>
          </a:p>
        </p:txBody>
      </p:sp>
      <p:sp>
        <p:nvSpPr>
          <p:cNvPr id="8" name="Text 4"/>
          <p:cNvSpPr/>
          <p:nvPr>
            <p:ph idx="106" type="body" hasCustomPrompt="1"/>
          </p:nvPr>
        </p:nvSpPr>
        <p:spPr>
          <a:xfrm>
            <a:off x="914400" y="4160520"/>
            <a:ext cx="10360152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8A8A8A"/>
                </a:solidFill>
              </a:defRPr>
            </a:lvl1pPr>
          </a:lstStyle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5105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5105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1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jpe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jpe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image" Target="../media/image-15-2.jpe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eg"/><Relationship Id="rId2" Type="http://schemas.openxmlformats.org/officeDocument/2006/relationships/image" Target="../media/image-23-2.png"/><Relationship Id="rId3" Type="http://schemas.openxmlformats.org/officeDocument/2006/relationships/image" Target="../media/image-23-3.jpe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eg"/><Relationship Id="rId2" Type="http://schemas.openxmlformats.org/officeDocument/2006/relationships/image" Target="../media/image-24-2.jpeg"/><Relationship Id="rId3" Type="http://schemas.openxmlformats.org/officeDocument/2006/relationships/image" Target="../media/image-24-3.jpe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eg"/><Relationship Id="rId2" Type="http://schemas.openxmlformats.org/officeDocument/2006/relationships/image" Target="../media/image-25-2.jpeg"/><Relationship Id="rId3" Type="http://schemas.openxmlformats.org/officeDocument/2006/relationships/image" Target="../media/image-25-3.jpe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eg"/><Relationship Id="rId2" Type="http://schemas.openxmlformats.org/officeDocument/2006/relationships/image" Target="../media/image-26-2.jpeg"/><Relationship Id="rId3" Type="http://schemas.openxmlformats.org/officeDocument/2006/relationships/image" Target="../media/image-26-3.jpe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jpe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eg"/><Relationship Id="rId2" Type="http://schemas.openxmlformats.org/officeDocument/2006/relationships/image" Target="../media/image-29-2.jpe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eg"/><Relationship Id="rId2" Type="http://schemas.openxmlformats.org/officeDocument/2006/relationships/image" Target="../media/image-30-2.jpe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eg"/><Relationship Id="rId2" Type="http://schemas.openxmlformats.org/officeDocument/2006/relationships/image" Target="../media/image-31-2.jpe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box" descr="/home/claude/src/assets/pinkb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7168" y="1417320"/>
            <a:ext cx="1737360" cy="1224425"/>
          </a:xfrm>
          <a:prstGeom prst="rect">
            <a:avLst/>
          </a:prstGeom>
        </p:spPr>
      </p:pic>
      <p:sp>
        <p:nvSpPr>
          <p:cNvPr id="3" name="txt-1"/>
          <p:cNvSpPr txBox="1"/>
          <p:nvPr/>
        </p:nvSpPr>
        <p:spPr>
          <a:xfrm>
            <a:off x="914400" y="278892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핑크박스 프로젝트</a:t>
            </a:r>
            <a:endParaRPr lang="en-US" sz="4800" dirty="0"/>
          </a:p>
        </p:txBody>
      </p:sp>
      <p:sp>
        <p:nvSpPr>
          <p:cNvPr id="4" name="txt-2"/>
          <p:cNvSpPr txBox="1"/>
          <p:nvPr/>
        </p:nvSpPr>
        <p:spPr>
          <a:xfrm>
            <a:off x="914400" y="365760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chemeClr val="accent1"/>
                </a:solidFill>
              </a:rPr>
              <a:t>Pink Box Project</a:t>
            </a:r>
            <a:endParaRPr lang="en-US" sz="2600" dirty="0"/>
          </a:p>
        </p:txBody>
      </p:sp>
      <p:sp>
        <p:nvSpPr>
          <p:cNvPr id="5" name="txt-3"/>
          <p:cNvSpPr txBox="1"/>
          <p:nvPr/>
        </p:nvSpPr>
        <p:spPr>
          <a:xfrm>
            <a:off x="914400" y="457200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같은 상자, 나만의 이야기 — 상상의 물건을 담는 패키지 디자인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-4"/>
          <p:cNvSpPr txBox="1"/>
          <p:nvPr/>
        </p:nvSpPr>
        <p:spPr>
          <a:xfrm>
            <a:off x="914400" y="2377440"/>
            <a:ext cx="103601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chemeClr val="tx1"/>
                </a:solidFill>
              </a:rPr>
              <a:t>딩동. 딩동.</a:t>
            </a:r>
            <a:endParaRPr lang="en-US" sz="4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chemeClr val="tx1"/>
                </a:solidFill>
              </a:rPr>
              <a:t>택배가 도착했습니다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5105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-5"/>
          <p:cNvSpPr txBox="1"/>
          <p:nvPr/>
        </p:nvSpPr>
        <p:spPr>
          <a:xfrm>
            <a:off x="914400" y="2743200"/>
            <a:ext cx="10360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어떤 물건이 도착했을까요?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5105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-6"/>
          <p:cNvSpPr txBox="1"/>
          <p:nvPr/>
        </p:nvSpPr>
        <p:spPr>
          <a:xfrm>
            <a:off x="914400" y="2194560"/>
            <a:ext cx="10360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chemeClr val="accent6"/>
                </a:solidFill>
              </a:rPr>
              <a:t>우리에게 꼭 필요한 것, 우리를 즐겁게 하는 것</a:t>
            </a:r>
            <a:endParaRPr lang="en-US" sz="2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chemeClr val="accent6"/>
                </a:solidFill>
              </a:rPr>
              <a:t>우리를 깜짝 놀라게 하는 것, 세상을 더 풍요롭게 만드는 것들을</a:t>
            </a:r>
            <a:endParaRPr lang="en-US" sz="2200" dirty="0"/>
          </a:p>
        </p:txBody>
      </p:sp>
      <p:sp>
        <p:nvSpPr>
          <p:cNvPr id="3" name="txt-7"/>
          <p:cNvSpPr txBox="1"/>
          <p:nvPr/>
        </p:nvSpPr>
        <p:spPr>
          <a:xfrm>
            <a:off x="914400" y="361188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상상해보세요.</a:t>
            </a:r>
            <a:endParaRPr lang="en-US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5105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-8"/>
          <p:cNvSpPr txBox="1"/>
          <p:nvPr/>
        </p:nvSpPr>
        <p:spPr>
          <a:xfrm>
            <a:off x="3566160" y="251460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600" b="1" dirty="0">
                <a:solidFill>
                  <a:schemeClr val="accent1"/>
                </a:solidFill>
              </a:rPr>
              <a:t>핑크</a:t>
            </a:r>
            <a:endParaRPr lang="en-US" sz="9600" dirty="0"/>
          </a:p>
        </p:txBody>
      </p:sp>
      <p:sp>
        <p:nvSpPr>
          <p:cNvPr id="3" name="pink-swatch"/>
          <p:cNvSpPr/>
          <p:nvPr/>
        </p:nvSpPr>
        <p:spPr>
          <a:xfrm>
            <a:off x="6583680" y="2514600"/>
            <a:ext cx="1828800" cy="18288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5105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822960" y="9144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왜 하필 핑크일까?</a:t>
            </a:r>
            <a:endParaRPr lang="en-US" sz="2800" dirty="0"/>
          </a:p>
        </p:txBody>
      </p:sp>
      <p:sp>
        <p:nvSpPr>
          <p:cNvPr id="3" name="txt-9"/>
          <p:cNvSpPr txBox="1"/>
          <p:nvPr/>
        </p:nvSpPr>
        <p:spPr>
          <a:xfrm>
            <a:off x="822960" y="1645920"/>
            <a:ext cx="10561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accent6"/>
                </a:solidFill>
              </a:rPr>
              <a:t>어느 설문 회사가 같은 설문지를 두 가지 봉투에 넣어 보냈습니다.</a:t>
            </a:r>
            <a:endParaRPr lang="en-US" sz="1700" dirty="0"/>
          </a:p>
        </p:txBody>
      </p:sp>
      <p:sp>
        <p:nvSpPr>
          <p:cNvPr id="4" name="env-10"/>
          <p:cNvSpPr/>
          <p:nvPr/>
        </p:nvSpPr>
        <p:spPr>
          <a:xfrm>
            <a:off x="2103120" y="2331720"/>
            <a:ext cx="274320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BBBBBB"/>
            </a:solidFill>
            <a:prstDash val="solid"/>
          </a:ln>
        </p:spPr>
      </p:sp>
      <p:sp>
        <p:nvSpPr>
          <p:cNvPr id="5" name="flap-11"/>
          <p:cNvSpPr/>
          <p:nvPr/>
        </p:nvSpPr>
        <p:spPr>
          <a:xfrm>
            <a:off x="2103120" y="2331720"/>
            <a:ext cx="2743200" cy="960120"/>
          </a:xfrm>
          <a:prstGeom prst="flowChartMerge">
            <a:avLst/>
          </a:prstGeom>
          <a:solidFill>
            <a:srgbClr val="F4F4F4"/>
          </a:solidFill>
          <a:ln w="19050">
            <a:solidFill>
              <a:srgbClr val="BBBBBB"/>
            </a:solidFill>
            <a:prstDash val="solid"/>
          </a:ln>
        </p:spPr>
      </p:sp>
      <p:sp>
        <p:nvSpPr>
          <p:cNvPr id="6" name="txt-12"/>
          <p:cNvSpPr txBox="1"/>
          <p:nvPr/>
        </p:nvSpPr>
        <p:spPr>
          <a:xfrm>
            <a:off x="1828800" y="42976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평범한 흰 봉투</a:t>
            </a:r>
            <a:endParaRPr lang="en-US" sz="1800" dirty="0"/>
          </a:p>
        </p:txBody>
      </p:sp>
      <p:sp>
        <p:nvSpPr>
          <p:cNvPr id="7" name="txt-13"/>
          <p:cNvSpPr txBox="1"/>
          <p:nvPr/>
        </p:nvSpPr>
        <p:spPr>
          <a:xfrm>
            <a:off x="1828800" y="47091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8A8A8A"/>
                </a:solidFill>
              </a:rPr>
              <a:t>회신 보통</a:t>
            </a:r>
            <a:endParaRPr lang="en-US" sz="1700" dirty="0"/>
          </a:p>
        </p:txBody>
      </p:sp>
      <p:sp>
        <p:nvSpPr>
          <p:cNvPr id="8" name="txt-14"/>
          <p:cNvSpPr txBox="1"/>
          <p:nvPr/>
        </p:nvSpPr>
        <p:spPr>
          <a:xfrm>
            <a:off x="5394960" y="288036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VS</a:t>
            </a:r>
            <a:endParaRPr lang="en-US" sz="2800" dirty="0"/>
          </a:p>
        </p:txBody>
      </p:sp>
      <p:sp>
        <p:nvSpPr>
          <p:cNvPr id="9" name="env-15"/>
          <p:cNvSpPr/>
          <p:nvPr/>
        </p:nvSpPr>
        <p:spPr>
          <a:xfrm>
            <a:off x="7360920" y="2331720"/>
            <a:ext cx="2743200" cy="1783080"/>
          </a:xfrm>
          <a:prstGeom prst="rect">
            <a:avLst/>
          </a:prstGeom>
          <a:solidFill>
            <a:srgbClr val="F9CFE0"/>
          </a:solidFill>
          <a:ln w="19050">
            <a:solidFill>
              <a:srgbClr val="E48CB0"/>
            </a:solidFill>
            <a:prstDash val="solid"/>
          </a:ln>
        </p:spPr>
      </p:sp>
      <p:sp>
        <p:nvSpPr>
          <p:cNvPr id="10" name="flap-16"/>
          <p:cNvSpPr/>
          <p:nvPr/>
        </p:nvSpPr>
        <p:spPr>
          <a:xfrm>
            <a:off x="7360920" y="2331720"/>
            <a:ext cx="2743200" cy="960120"/>
          </a:xfrm>
          <a:prstGeom prst="flowChartMerge">
            <a:avLst/>
          </a:prstGeom>
          <a:solidFill>
            <a:srgbClr val="F5B8D0"/>
          </a:solidFill>
          <a:ln w="19050">
            <a:solidFill>
              <a:srgbClr val="E48CB0"/>
            </a:solidFill>
            <a:prstDash val="solid"/>
          </a:ln>
        </p:spPr>
      </p:sp>
      <p:sp>
        <p:nvSpPr>
          <p:cNvPr id="11" name="txt-17"/>
          <p:cNvSpPr txBox="1"/>
          <p:nvPr/>
        </p:nvSpPr>
        <p:spPr>
          <a:xfrm>
            <a:off x="7086600" y="42976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핑크색 봉투</a:t>
            </a:r>
            <a:endParaRPr lang="en-US" sz="1800" dirty="0"/>
          </a:p>
        </p:txBody>
      </p:sp>
      <p:sp>
        <p:nvSpPr>
          <p:cNvPr id="12" name="txt-18"/>
          <p:cNvSpPr txBox="1"/>
          <p:nvPr/>
        </p:nvSpPr>
        <p:spPr>
          <a:xfrm>
            <a:off x="7086600" y="47091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회신율이 훨씬 높았다!</a:t>
            </a:r>
            <a:endParaRPr lang="en-US" sz="1700" dirty="0"/>
          </a:p>
        </p:txBody>
      </p:sp>
      <p:sp>
        <p:nvSpPr>
          <p:cNvPr id="13" name="box-19"/>
          <p:cNvSpPr/>
          <p:nvPr/>
        </p:nvSpPr>
        <p:spPr>
          <a:xfrm>
            <a:off x="822960" y="5303520"/>
            <a:ext cx="1056132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/>
        </p:spPr>
      </p:sp>
      <p:sp>
        <p:nvSpPr>
          <p:cNvPr id="14" name="txt-20"/>
          <p:cNvSpPr txBox="1"/>
          <p:nvPr/>
        </p:nvSpPr>
        <p:spPr>
          <a:xfrm>
            <a:off x="1097280" y="53035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핑크가 가진 긍정적인 힘</a:t>
            </a:r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— 열어 보고 싶고, 답하고 싶게 만드는 힘. 그래서 우리는 핑크 박스로 시작합니다.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5105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822960" y="9144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모두에게 똑같은 핑크 박스가 주어집니다</a:t>
            </a:r>
            <a:endParaRPr lang="en-US" sz="2800" dirty="0"/>
          </a:p>
        </p:txBody>
      </p:sp>
      <p:pic>
        <p:nvPicPr>
          <p:cNvPr id="3" name="img-21" descr="/home/claude/src/assets/img8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11680"/>
            <a:ext cx="5120640" cy="384048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4" name="dot-22"/>
          <p:cNvSpPr/>
          <p:nvPr/>
        </p:nvSpPr>
        <p:spPr>
          <a:xfrm>
            <a:off x="6400800" y="19659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xt-23"/>
          <p:cNvSpPr txBox="1"/>
          <p:nvPr/>
        </p:nvSpPr>
        <p:spPr>
          <a:xfrm>
            <a:off x="640080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xt-24"/>
          <p:cNvSpPr txBox="1"/>
          <p:nvPr/>
        </p:nvSpPr>
        <p:spPr>
          <a:xfrm>
            <a:off x="7178040" y="19202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같은 상자</a:t>
            </a:r>
            <a:endParaRPr lang="en-US" sz="2000" dirty="0"/>
          </a:p>
        </p:txBody>
      </p:sp>
      <p:sp>
        <p:nvSpPr>
          <p:cNvPr id="7" name="txt-25"/>
          <p:cNvSpPr txBox="1"/>
          <p:nvPr/>
        </p:nvSpPr>
        <p:spPr>
          <a:xfrm>
            <a:off x="7178040" y="235000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모두 같은 크기, 같은 색의 핑크 박스에서 출발합니다.</a:t>
            </a:r>
            <a:endParaRPr lang="en-US" sz="1500" dirty="0"/>
          </a:p>
        </p:txBody>
      </p:sp>
      <p:sp>
        <p:nvSpPr>
          <p:cNvPr id="8" name="dot-26"/>
          <p:cNvSpPr/>
          <p:nvPr/>
        </p:nvSpPr>
        <p:spPr>
          <a:xfrm>
            <a:off x="6400800" y="33375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xt-27"/>
          <p:cNvSpPr txBox="1"/>
          <p:nvPr/>
        </p:nvSpPr>
        <p:spPr>
          <a:xfrm>
            <a:off x="6400800" y="3337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xt-28"/>
          <p:cNvSpPr txBox="1"/>
          <p:nvPr/>
        </p:nvSpPr>
        <p:spPr>
          <a:xfrm>
            <a:off x="7178040" y="32918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다른 이야기</a:t>
            </a:r>
            <a:endParaRPr lang="en-US" sz="2000" dirty="0"/>
          </a:p>
        </p:txBody>
      </p:sp>
      <p:sp>
        <p:nvSpPr>
          <p:cNvPr id="11" name="txt-29"/>
          <p:cNvSpPr txBox="1"/>
          <p:nvPr/>
        </p:nvSpPr>
        <p:spPr>
          <a:xfrm>
            <a:off x="7178040" y="372160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그 안에 무엇이 들어 있는지, 누구에게 가는지는 내가 정합니다.</a:t>
            </a:r>
            <a:endParaRPr lang="en-US" sz="1500" dirty="0"/>
          </a:p>
        </p:txBody>
      </p:sp>
      <p:sp>
        <p:nvSpPr>
          <p:cNvPr id="12" name="dot-30"/>
          <p:cNvSpPr/>
          <p:nvPr/>
        </p:nvSpPr>
        <p:spPr>
          <a:xfrm>
            <a:off x="6400800" y="47091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xt-31"/>
          <p:cNvSpPr txBox="1"/>
          <p:nvPr/>
        </p:nvSpPr>
        <p:spPr>
          <a:xfrm>
            <a:off x="6400800" y="4709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xt-32"/>
          <p:cNvSpPr txBox="1"/>
          <p:nvPr/>
        </p:nvSpPr>
        <p:spPr>
          <a:xfrm>
            <a:off x="7178040" y="46634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상상의 물건도 OK</a:t>
            </a:r>
            <a:endParaRPr lang="en-US" sz="2000" dirty="0"/>
          </a:p>
        </p:txBody>
      </p:sp>
      <p:sp>
        <p:nvSpPr>
          <p:cNvPr id="15" name="txt-33"/>
          <p:cNvSpPr txBox="1"/>
          <p:nvPr/>
        </p:nvSpPr>
        <p:spPr>
          <a:xfrm>
            <a:off x="7178040" y="509320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실제로 없는 물건도 담을 수 있어요. 이야기가 디자인이 됩니다.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5105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822960" y="9144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상상의 물건도 담을 수 있어요</a:t>
            </a:r>
            <a:endParaRPr lang="en-US" sz="2800" dirty="0"/>
          </a:p>
        </p:txBody>
      </p:sp>
      <p:sp>
        <p:nvSpPr>
          <p:cNvPr id="3" name="box-34"/>
          <p:cNvSpPr/>
          <p:nvPr/>
        </p:nvSpPr>
        <p:spPr>
          <a:xfrm>
            <a:off x="822960" y="1874520"/>
            <a:ext cx="2423160" cy="324612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/>
        </p:spPr>
      </p:sp>
      <p:pic>
        <p:nvPicPr>
          <p:cNvPr id="4" name="icon-35" descr="/home/claude/src/assets/pinkb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194560"/>
            <a:ext cx="685800" cy="483326"/>
          </a:xfrm>
          <a:prstGeom prst="rect">
            <a:avLst/>
          </a:prstGeom>
        </p:spPr>
      </p:pic>
      <p:sp>
        <p:nvSpPr>
          <p:cNvPr id="5" name="txt-36"/>
          <p:cNvSpPr txBox="1"/>
          <p:nvPr/>
        </p:nvSpPr>
        <p:spPr>
          <a:xfrm>
            <a:off x="1097280" y="288036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지식을 주사하는 주사기</a:t>
            </a:r>
            <a:endParaRPr lang="en-US" sz="1800" dirty="0"/>
          </a:p>
        </p:txBody>
      </p:sp>
      <p:sp>
        <p:nvSpPr>
          <p:cNvPr id="6" name="txt-37"/>
          <p:cNvSpPr txBox="1"/>
          <p:nvPr/>
        </p:nvSpPr>
        <p:spPr>
          <a:xfrm>
            <a:off x="1097280" y="393192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한 번 맞으면 오늘 배운 내용이 머릿속에 쏙</a:t>
            </a:r>
            <a:endParaRPr lang="en-US" sz="1400" dirty="0"/>
          </a:p>
        </p:txBody>
      </p:sp>
      <p:sp>
        <p:nvSpPr>
          <p:cNvPr id="7" name="box-38"/>
          <p:cNvSpPr/>
          <p:nvPr/>
        </p:nvSpPr>
        <p:spPr>
          <a:xfrm>
            <a:off x="3520440" y="1874520"/>
            <a:ext cx="2423160" cy="324612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/>
        </p:spPr>
      </p:sp>
      <p:pic>
        <p:nvPicPr>
          <p:cNvPr id="8" name="icon-39" descr="/home/claude/src/assets/pinkbo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2194560"/>
            <a:ext cx="685800" cy="483326"/>
          </a:xfrm>
          <a:prstGeom prst="rect">
            <a:avLst/>
          </a:prstGeom>
        </p:spPr>
      </p:pic>
      <p:sp>
        <p:nvSpPr>
          <p:cNvPr id="9" name="txt-40"/>
          <p:cNvSpPr txBox="1"/>
          <p:nvPr/>
        </p:nvSpPr>
        <p:spPr>
          <a:xfrm>
            <a:off x="3794760" y="288036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어디든지 날아갈 수 있는 운동화</a:t>
            </a:r>
            <a:endParaRPr lang="en-US" sz="1800" dirty="0"/>
          </a:p>
        </p:txBody>
      </p:sp>
      <p:sp>
        <p:nvSpPr>
          <p:cNvPr id="10" name="txt-41"/>
          <p:cNvSpPr txBox="1"/>
          <p:nvPr/>
        </p:nvSpPr>
        <p:spPr>
          <a:xfrm>
            <a:off x="3794760" y="393192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끈을 묶는 순간, 가고 싶은 곳으로 출발</a:t>
            </a:r>
            <a:endParaRPr lang="en-US" sz="1400" dirty="0"/>
          </a:p>
        </p:txBody>
      </p:sp>
      <p:sp>
        <p:nvSpPr>
          <p:cNvPr id="11" name="box-42"/>
          <p:cNvSpPr/>
          <p:nvPr/>
        </p:nvSpPr>
        <p:spPr>
          <a:xfrm>
            <a:off x="6217920" y="1874520"/>
            <a:ext cx="2423160" cy="324612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/>
        </p:spPr>
      </p:sp>
      <p:pic>
        <p:nvPicPr>
          <p:cNvPr id="12" name="icon-43" descr="/home/claude/src/assets/pinkbo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194560"/>
            <a:ext cx="685800" cy="483326"/>
          </a:xfrm>
          <a:prstGeom prst="rect">
            <a:avLst/>
          </a:prstGeom>
        </p:spPr>
      </p:pic>
      <p:sp>
        <p:nvSpPr>
          <p:cNvPr id="13" name="txt-44"/>
          <p:cNvSpPr txBox="1"/>
          <p:nvPr/>
        </p:nvSpPr>
        <p:spPr>
          <a:xfrm>
            <a:off x="6492240" y="288036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화면 속 물건을 꺼낼 수 있는 TV</a:t>
            </a:r>
            <a:endParaRPr lang="en-US" sz="1800" dirty="0"/>
          </a:p>
        </p:txBody>
      </p:sp>
      <p:sp>
        <p:nvSpPr>
          <p:cNvPr id="14" name="txt-45"/>
          <p:cNvSpPr txBox="1"/>
          <p:nvPr/>
        </p:nvSpPr>
        <p:spPr>
          <a:xfrm>
            <a:off x="6492240" y="393192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광고에 나온 그 물건을 손으로 꺼내기</a:t>
            </a:r>
            <a:endParaRPr lang="en-US" sz="1400" dirty="0"/>
          </a:p>
        </p:txBody>
      </p:sp>
      <p:sp>
        <p:nvSpPr>
          <p:cNvPr id="15" name="box-46"/>
          <p:cNvSpPr/>
          <p:nvPr/>
        </p:nvSpPr>
        <p:spPr>
          <a:xfrm>
            <a:off x="8915400" y="1874520"/>
            <a:ext cx="2423160" cy="324612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/>
        </p:spPr>
      </p:sp>
      <p:pic>
        <p:nvPicPr>
          <p:cNvPr id="16" name="icon-47" descr="/home/claude/src/assets/pinkbox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0" y="2194560"/>
            <a:ext cx="685800" cy="483326"/>
          </a:xfrm>
          <a:prstGeom prst="rect">
            <a:avLst/>
          </a:prstGeom>
        </p:spPr>
      </p:pic>
      <p:sp>
        <p:nvSpPr>
          <p:cNvPr id="17" name="txt-48"/>
          <p:cNvSpPr txBox="1"/>
          <p:nvPr/>
        </p:nvSpPr>
        <p:spPr>
          <a:xfrm>
            <a:off x="9189720" y="288036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사랑이 가득 담긴 심장</a:t>
            </a:r>
            <a:endParaRPr lang="en-US" sz="1800" dirty="0"/>
          </a:p>
        </p:txBody>
      </p:sp>
      <p:sp>
        <p:nvSpPr>
          <p:cNvPr id="18" name="txt-49"/>
          <p:cNvSpPr txBox="1"/>
          <p:nvPr/>
        </p:nvSpPr>
        <p:spPr>
          <a:xfrm>
            <a:off x="9189720" y="393192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열어 보는 사람에게 마음을 전하는 상자</a:t>
            </a:r>
            <a:endParaRPr lang="en-US" sz="1400" dirty="0"/>
          </a:p>
        </p:txBody>
      </p:sp>
      <p:sp>
        <p:nvSpPr>
          <p:cNvPr id="19" name="txt-50"/>
          <p:cNvSpPr txBox="1"/>
          <p:nvPr/>
        </p:nvSpPr>
        <p:spPr>
          <a:xfrm>
            <a:off x="822960" y="5440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실제로 존재하지 않아도 괜찮아요. 중요한 것은 그 물건에 담긴 이야기입니다.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5105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822960" y="9144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일반 패키지 디자인과 무엇이 다를까?</a:t>
            </a:r>
            <a:endParaRPr lang="en-US" sz="2800" dirty="0"/>
          </a:p>
        </p:txBody>
      </p:sp>
      <p:sp>
        <p:nvSpPr>
          <p:cNvPr id="3" name="box-51"/>
          <p:cNvSpPr/>
          <p:nvPr/>
        </p:nvSpPr>
        <p:spPr>
          <a:xfrm>
            <a:off x="822960" y="1828800"/>
            <a:ext cx="5074920" cy="4069080"/>
          </a:xfrm>
          <a:prstGeom prst="roundRect">
            <a:avLst>
              <a:gd name="adj" fmla="val 2697"/>
            </a:avLst>
          </a:prstGeom>
          <a:solidFill>
            <a:schemeClr val="accent4"/>
          </a:solidFill>
          <a:ln/>
        </p:spPr>
      </p:sp>
      <p:sp>
        <p:nvSpPr>
          <p:cNvPr id="4" name="txt-52"/>
          <p:cNvSpPr txBox="1"/>
          <p:nvPr/>
        </p:nvSpPr>
        <p:spPr>
          <a:xfrm>
            <a:off x="1188720" y="205740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일반 패키지 디자인</a:t>
            </a:r>
            <a:endParaRPr lang="en-US" sz="2200" dirty="0"/>
          </a:p>
        </p:txBody>
      </p:sp>
      <p:sp>
        <p:nvSpPr>
          <p:cNvPr id="5" name="dot-53"/>
          <p:cNvSpPr/>
          <p:nvPr/>
        </p:nvSpPr>
        <p:spPr>
          <a:xfrm>
            <a:off x="1234440" y="2999232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txt-54"/>
          <p:cNvSpPr txBox="1"/>
          <p:nvPr/>
        </p:nvSpPr>
        <p:spPr>
          <a:xfrm>
            <a:off x="1600200" y="28803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실제로 판매되는 상품을 담는다</a:t>
            </a:r>
            <a:endParaRPr lang="en-US" sz="1700" dirty="0"/>
          </a:p>
        </p:txBody>
      </p:sp>
      <p:sp>
        <p:nvSpPr>
          <p:cNvPr id="7" name="dot-55"/>
          <p:cNvSpPr/>
          <p:nvPr/>
        </p:nvSpPr>
        <p:spPr>
          <a:xfrm>
            <a:off x="1234440" y="3913632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txt-56"/>
          <p:cNvSpPr txBox="1"/>
          <p:nvPr/>
        </p:nvSpPr>
        <p:spPr>
          <a:xfrm>
            <a:off x="1600200" y="37947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상품 정보와 브랜드를 알린다</a:t>
            </a:r>
            <a:endParaRPr lang="en-US" sz="1700" dirty="0"/>
          </a:p>
        </p:txBody>
      </p:sp>
      <p:sp>
        <p:nvSpPr>
          <p:cNvPr id="9" name="dot-57"/>
          <p:cNvSpPr/>
          <p:nvPr/>
        </p:nvSpPr>
        <p:spPr>
          <a:xfrm>
            <a:off x="1234440" y="4828032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xt-58"/>
          <p:cNvSpPr txBox="1"/>
          <p:nvPr/>
        </p:nvSpPr>
        <p:spPr>
          <a:xfrm>
            <a:off x="1600200" y="47091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사고 싶게 만드는 것이 목표</a:t>
            </a:r>
            <a:endParaRPr lang="en-US" sz="1700" dirty="0"/>
          </a:p>
        </p:txBody>
      </p:sp>
      <p:sp>
        <p:nvSpPr>
          <p:cNvPr id="11" name="box-59"/>
          <p:cNvSpPr/>
          <p:nvPr/>
        </p:nvSpPr>
        <p:spPr>
          <a:xfrm>
            <a:off x="6263640" y="1828800"/>
            <a:ext cx="5074920" cy="4069080"/>
          </a:xfrm>
          <a:prstGeom prst="roundRect">
            <a:avLst>
              <a:gd name="adj" fmla="val 2697"/>
            </a:avLst>
          </a:prstGeom>
          <a:solidFill>
            <a:schemeClr val="bg2"/>
          </a:solidFill>
          <a:ln/>
        </p:spPr>
      </p:sp>
      <p:sp>
        <p:nvSpPr>
          <p:cNvPr id="12" name="txt-60"/>
          <p:cNvSpPr txBox="1"/>
          <p:nvPr/>
        </p:nvSpPr>
        <p:spPr>
          <a:xfrm>
            <a:off x="6629400" y="205740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핑크박스 프로젝트</a:t>
            </a:r>
            <a:endParaRPr lang="en-US" sz="2200" dirty="0"/>
          </a:p>
        </p:txBody>
      </p:sp>
      <p:sp>
        <p:nvSpPr>
          <p:cNvPr id="13" name="dot-61"/>
          <p:cNvSpPr/>
          <p:nvPr/>
        </p:nvSpPr>
        <p:spPr>
          <a:xfrm>
            <a:off x="6675120" y="2999232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xt-62"/>
          <p:cNvSpPr txBox="1"/>
          <p:nvPr/>
        </p:nvSpPr>
        <p:spPr>
          <a:xfrm>
            <a:off x="7040880" y="28803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상상으로 만든 물건도 담는다</a:t>
            </a:r>
            <a:endParaRPr lang="en-US" sz="1700" dirty="0"/>
          </a:p>
        </p:txBody>
      </p:sp>
      <p:sp>
        <p:nvSpPr>
          <p:cNvPr id="15" name="dot-63"/>
          <p:cNvSpPr/>
          <p:nvPr/>
        </p:nvSpPr>
        <p:spPr>
          <a:xfrm>
            <a:off x="6675120" y="3913632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xt-64"/>
          <p:cNvSpPr txBox="1"/>
          <p:nvPr/>
        </p:nvSpPr>
        <p:spPr>
          <a:xfrm>
            <a:off x="7040880" y="37947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물건에 얽힌 나만의 이야기를 전한다</a:t>
            </a:r>
            <a:endParaRPr lang="en-US" sz="1700" dirty="0"/>
          </a:p>
        </p:txBody>
      </p:sp>
      <p:sp>
        <p:nvSpPr>
          <p:cNvPr id="17" name="dot-65"/>
          <p:cNvSpPr/>
          <p:nvPr/>
        </p:nvSpPr>
        <p:spPr>
          <a:xfrm>
            <a:off x="6675120" y="4828032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xt-66"/>
          <p:cNvSpPr txBox="1"/>
          <p:nvPr/>
        </p:nvSpPr>
        <p:spPr>
          <a:xfrm>
            <a:off x="7040880" y="47091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열어 보고 싶게 만드는 것이 목표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5105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822960" y="9144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수업 흐름 (5주 · 주 2시간)</a:t>
            </a:r>
            <a:endParaRPr lang="en-US" sz="2800" dirty="0"/>
          </a:p>
        </p:txBody>
      </p:sp>
      <p:sp>
        <p:nvSpPr>
          <p:cNvPr id="3" name="timeline"/>
          <p:cNvSpPr/>
          <p:nvPr/>
        </p:nvSpPr>
        <p:spPr>
          <a:xfrm>
            <a:off x="2040255" y="2377440"/>
            <a:ext cx="8126730" cy="0"/>
          </a:xfrm>
          <a:prstGeom prst="line">
            <a:avLst/>
          </a:prstGeom>
          <a:noFill/>
          <a:ln w="38100">
            <a:solidFill>
              <a:schemeClr val="accent4"/>
            </a:solidFill>
            <a:prstDash val="solid"/>
          </a:ln>
        </p:spPr>
      </p:sp>
      <p:sp>
        <p:nvSpPr>
          <p:cNvPr id="4" name="dot-67"/>
          <p:cNvSpPr/>
          <p:nvPr/>
        </p:nvSpPr>
        <p:spPr>
          <a:xfrm>
            <a:off x="1605915" y="194310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xt-68"/>
          <p:cNvSpPr txBox="1"/>
          <p:nvPr/>
        </p:nvSpPr>
        <p:spPr>
          <a:xfrm>
            <a:off x="1605915" y="19431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1주</a:t>
            </a:r>
            <a:endParaRPr lang="en-US" sz="1800" dirty="0"/>
          </a:p>
        </p:txBody>
      </p:sp>
      <p:sp>
        <p:nvSpPr>
          <p:cNvPr id="6" name="txt-69"/>
          <p:cNvSpPr txBox="1"/>
          <p:nvPr/>
        </p:nvSpPr>
        <p:spPr>
          <a:xfrm>
            <a:off x="822960" y="2926080"/>
            <a:ext cx="24345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8A8A"/>
                </a:solidFill>
              </a:rPr>
              <a:t>2시간</a:t>
            </a:r>
            <a:endParaRPr lang="en-US" sz="1300" dirty="0"/>
          </a:p>
        </p:txBody>
      </p:sp>
      <p:sp>
        <p:nvSpPr>
          <p:cNvPr id="7" name="txt-70"/>
          <p:cNvSpPr txBox="1"/>
          <p:nvPr/>
        </p:nvSpPr>
        <p:spPr>
          <a:xfrm>
            <a:off x="822960" y="3246120"/>
            <a:ext cx="24345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상상 열기</a:t>
            </a:r>
            <a:endParaRPr lang="en-US" sz="2000" dirty="0"/>
          </a:p>
        </p:txBody>
      </p:sp>
      <p:sp>
        <p:nvSpPr>
          <p:cNvPr id="8" name="txt-71"/>
          <p:cNvSpPr txBox="1"/>
          <p:nvPr/>
        </p:nvSpPr>
        <p:spPr>
          <a:xfrm>
            <a:off x="822960" y="3749040"/>
            <a:ext cx="243459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상상 열기 · 브레인스토밍</a:t>
            </a:r>
            <a:endParaRPr lang="en-US" sz="1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아이디어 스케치</a:t>
            </a:r>
            <a:endParaRPr lang="en-US" sz="1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(활동지 01~03)</a:t>
            </a:r>
            <a:endParaRPr lang="en-US" sz="1400" dirty="0"/>
          </a:p>
        </p:txBody>
      </p:sp>
      <p:sp>
        <p:nvSpPr>
          <p:cNvPr id="9" name="dot-72"/>
          <p:cNvSpPr/>
          <p:nvPr/>
        </p:nvSpPr>
        <p:spPr>
          <a:xfrm>
            <a:off x="4314825" y="194310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xt-73"/>
          <p:cNvSpPr txBox="1"/>
          <p:nvPr/>
        </p:nvSpPr>
        <p:spPr>
          <a:xfrm>
            <a:off x="4314825" y="19431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2주</a:t>
            </a:r>
            <a:endParaRPr lang="en-US" sz="1800" dirty="0"/>
          </a:p>
        </p:txBody>
      </p:sp>
      <p:sp>
        <p:nvSpPr>
          <p:cNvPr id="11" name="txt-74"/>
          <p:cNvSpPr txBox="1"/>
          <p:nvPr/>
        </p:nvSpPr>
        <p:spPr>
          <a:xfrm>
            <a:off x="3531870" y="2926080"/>
            <a:ext cx="24345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8A8A"/>
                </a:solidFill>
              </a:rPr>
              <a:t>2시간</a:t>
            </a:r>
            <a:endParaRPr lang="en-US" sz="1300" dirty="0"/>
          </a:p>
        </p:txBody>
      </p:sp>
      <p:sp>
        <p:nvSpPr>
          <p:cNvPr id="12" name="txt-75"/>
          <p:cNvSpPr txBox="1"/>
          <p:nvPr/>
        </p:nvSpPr>
        <p:spPr>
          <a:xfrm>
            <a:off x="3531870" y="3246120"/>
            <a:ext cx="24345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의견 나누기</a:t>
            </a:r>
            <a:endParaRPr lang="en-US" sz="2000" dirty="0"/>
          </a:p>
        </p:txBody>
      </p:sp>
      <p:sp>
        <p:nvSpPr>
          <p:cNvPr id="13" name="txt-76"/>
          <p:cNvSpPr txBox="1"/>
          <p:nvPr/>
        </p:nvSpPr>
        <p:spPr>
          <a:xfrm>
            <a:off x="3531870" y="3749040"/>
            <a:ext cx="243459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친구들과 의견 나누기</a:t>
            </a:r>
            <a:endParaRPr lang="en-US" sz="1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피드백 · 확정 스케치</a:t>
            </a:r>
            <a:endParaRPr lang="en-US" sz="1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(활동지 04)</a:t>
            </a:r>
            <a:endParaRPr lang="en-US" sz="1400" dirty="0"/>
          </a:p>
        </p:txBody>
      </p:sp>
      <p:sp>
        <p:nvSpPr>
          <p:cNvPr id="14" name="dot-77"/>
          <p:cNvSpPr/>
          <p:nvPr/>
        </p:nvSpPr>
        <p:spPr>
          <a:xfrm>
            <a:off x="7023735" y="194310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txt-78"/>
          <p:cNvSpPr txBox="1"/>
          <p:nvPr/>
        </p:nvSpPr>
        <p:spPr>
          <a:xfrm>
            <a:off x="7023735" y="19431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3~4주</a:t>
            </a:r>
            <a:endParaRPr lang="en-US" sz="1500" dirty="0"/>
          </a:p>
        </p:txBody>
      </p:sp>
      <p:sp>
        <p:nvSpPr>
          <p:cNvPr id="16" name="txt-79"/>
          <p:cNvSpPr txBox="1"/>
          <p:nvPr/>
        </p:nvSpPr>
        <p:spPr>
          <a:xfrm>
            <a:off x="6240780" y="2926080"/>
            <a:ext cx="24345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8A8A"/>
                </a:solidFill>
              </a:rPr>
              <a:t>4시간</a:t>
            </a:r>
            <a:endParaRPr lang="en-US" sz="1300" dirty="0"/>
          </a:p>
        </p:txBody>
      </p:sp>
      <p:sp>
        <p:nvSpPr>
          <p:cNvPr id="17" name="txt-80"/>
          <p:cNvSpPr txBox="1"/>
          <p:nvPr/>
        </p:nvSpPr>
        <p:spPr>
          <a:xfrm>
            <a:off x="6240780" y="3246120"/>
            <a:ext cx="24345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직접 제작하기</a:t>
            </a:r>
            <a:endParaRPr lang="en-US" sz="2000" dirty="0"/>
          </a:p>
        </p:txBody>
      </p:sp>
      <p:sp>
        <p:nvSpPr>
          <p:cNvPr id="18" name="txt-81"/>
          <p:cNvSpPr txBox="1"/>
          <p:nvPr/>
        </p:nvSpPr>
        <p:spPr>
          <a:xfrm>
            <a:off x="6240780" y="3749040"/>
            <a:ext cx="243459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재료 연구</a:t>
            </a:r>
            <a:endParaRPr lang="en-US" sz="1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핑크 박스에 직접 만들기</a:t>
            </a:r>
            <a:endParaRPr lang="en-US" sz="1400" dirty="0"/>
          </a:p>
        </p:txBody>
      </p:sp>
      <p:sp>
        <p:nvSpPr>
          <p:cNvPr id="19" name="dot-82"/>
          <p:cNvSpPr/>
          <p:nvPr/>
        </p:nvSpPr>
        <p:spPr>
          <a:xfrm>
            <a:off x="9732645" y="194310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txt-83"/>
          <p:cNvSpPr txBox="1"/>
          <p:nvPr/>
        </p:nvSpPr>
        <p:spPr>
          <a:xfrm>
            <a:off x="9732645" y="19431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5주</a:t>
            </a:r>
            <a:endParaRPr lang="en-US" sz="1800" dirty="0"/>
          </a:p>
        </p:txBody>
      </p:sp>
      <p:sp>
        <p:nvSpPr>
          <p:cNvPr id="21" name="txt-84"/>
          <p:cNvSpPr txBox="1"/>
          <p:nvPr/>
        </p:nvSpPr>
        <p:spPr>
          <a:xfrm>
            <a:off x="8949690" y="2926080"/>
            <a:ext cx="24345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8A8A"/>
                </a:solidFill>
              </a:rPr>
              <a:t>2시간</a:t>
            </a:r>
            <a:endParaRPr lang="en-US" sz="1300" dirty="0"/>
          </a:p>
        </p:txBody>
      </p:sp>
      <p:sp>
        <p:nvSpPr>
          <p:cNvPr id="22" name="txt-85"/>
          <p:cNvSpPr txBox="1"/>
          <p:nvPr/>
        </p:nvSpPr>
        <p:spPr>
          <a:xfrm>
            <a:off x="8949690" y="3246120"/>
            <a:ext cx="24345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발표 및 감상</a:t>
            </a:r>
            <a:endParaRPr lang="en-US" sz="2000" dirty="0"/>
          </a:p>
        </p:txBody>
      </p:sp>
      <p:sp>
        <p:nvSpPr>
          <p:cNvPr id="23" name="txt-86"/>
          <p:cNvSpPr txBox="1"/>
          <p:nvPr/>
        </p:nvSpPr>
        <p:spPr>
          <a:xfrm>
            <a:off x="8949690" y="3749040"/>
            <a:ext cx="243459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작품 발표</a:t>
            </a:r>
            <a:endParaRPr lang="en-US" sz="1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감상문 쓰기</a:t>
            </a:r>
            <a:endParaRPr lang="en-US" sz="1400" dirty="0"/>
          </a:p>
        </p:txBody>
      </p:sp>
      <p:sp>
        <p:nvSpPr>
          <p:cNvPr id="24" name="box-87"/>
          <p:cNvSpPr/>
          <p:nvPr/>
        </p:nvSpPr>
        <p:spPr>
          <a:xfrm>
            <a:off x="822960" y="5120640"/>
            <a:ext cx="1056132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</p:sp>
      <p:sp>
        <p:nvSpPr>
          <p:cNvPr id="25" name="txt-88"/>
          <p:cNvSpPr txBox="1"/>
          <p:nvPr/>
        </p:nvSpPr>
        <p:spPr>
          <a:xfrm>
            <a:off x="1097280" y="5120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Part 1 </a:t>
            </a:r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1~2주 (4시간) 아이디어 만들기        </a:t>
            </a:r>
            <a:pPr algn="ctr"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Part 2 </a:t>
            </a:r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3~5주 (6시간) 만들고 발표하기        </a:t>
            </a:r>
            <a:pPr algn="ctr" indent="0" marL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총 5주 10시간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5105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822960" y="9144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모둠으로? 개인으로?</a:t>
            </a:r>
            <a:endParaRPr lang="en-US" sz="2800" dirty="0"/>
          </a:p>
        </p:txBody>
      </p:sp>
      <p:sp>
        <p:nvSpPr>
          <p:cNvPr id="3" name="box-89"/>
          <p:cNvSpPr/>
          <p:nvPr/>
        </p:nvSpPr>
        <p:spPr>
          <a:xfrm>
            <a:off x="822960" y="1828800"/>
            <a:ext cx="5074920" cy="4069080"/>
          </a:xfrm>
          <a:prstGeom prst="roundRect">
            <a:avLst>
              <a:gd name="adj" fmla="val 2697"/>
            </a:avLst>
          </a:prstGeom>
          <a:solidFill>
            <a:schemeClr val="bg2"/>
          </a:solidFill>
          <a:ln/>
        </p:spPr>
      </p:sp>
      <p:sp>
        <p:nvSpPr>
          <p:cNvPr id="4" name="txt-90"/>
          <p:cNvSpPr txBox="1"/>
          <p:nvPr/>
        </p:nvSpPr>
        <p:spPr>
          <a:xfrm>
            <a:off x="1188720" y="205740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모둠별 1상자</a:t>
            </a:r>
            <a:endParaRPr lang="en-US" sz="2400" dirty="0"/>
          </a:p>
        </p:txBody>
      </p:sp>
      <p:sp>
        <p:nvSpPr>
          <p:cNvPr id="5" name="txt-91"/>
          <p:cNvSpPr txBox="1"/>
          <p:nvPr/>
        </p:nvSpPr>
        <p:spPr>
          <a:xfrm>
            <a:off x="1188720" y="26060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함께 하나의 이야기를 만듭니다</a:t>
            </a:r>
            <a:endParaRPr lang="en-US" sz="1500" dirty="0"/>
          </a:p>
        </p:txBody>
      </p:sp>
      <p:sp>
        <p:nvSpPr>
          <p:cNvPr id="6" name="txt-92"/>
          <p:cNvSpPr txBox="1"/>
          <p:nvPr/>
        </p:nvSpPr>
        <p:spPr>
          <a:xfrm>
            <a:off x="1188720" y="3200400"/>
            <a:ext cx="4389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이야기 작가 — 물건과 사연 정하기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디자이너 — 스케치와 색 정하기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제작 — 재료 준비와 만들기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발표 — 우리 상자 소개하기</a:t>
            </a:r>
            <a:endParaRPr lang="en-US" sz="1600" dirty="0"/>
          </a:p>
        </p:txBody>
      </p:sp>
      <p:sp>
        <p:nvSpPr>
          <p:cNvPr id="7" name="box-93"/>
          <p:cNvSpPr/>
          <p:nvPr/>
        </p:nvSpPr>
        <p:spPr>
          <a:xfrm>
            <a:off x="6263640" y="1828800"/>
            <a:ext cx="5074920" cy="4069080"/>
          </a:xfrm>
          <a:prstGeom prst="roundRect">
            <a:avLst>
              <a:gd name="adj" fmla="val 2697"/>
            </a:avLst>
          </a:prstGeom>
          <a:solidFill>
            <a:schemeClr val="accent4"/>
          </a:solidFill>
          <a:ln/>
        </p:spPr>
      </p:sp>
      <p:sp>
        <p:nvSpPr>
          <p:cNvPr id="8" name="txt-94"/>
          <p:cNvSpPr txBox="1"/>
          <p:nvPr/>
        </p:nvSpPr>
        <p:spPr>
          <a:xfrm>
            <a:off x="6629400" y="205740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개인별 1상자</a:t>
            </a:r>
            <a:endParaRPr lang="en-US" sz="2400" dirty="0"/>
          </a:p>
        </p:txBody>
      </p:sp>
      <p:sp>
        <p:nvSpPr>
          <p:cNvPr id="9" name="txt-95"/>
          <p:cNvSpPr txBox="1"/>
          <p:nvPr/>
        </p:nvSpPr>
        <p:spPr>
          <a:xfrm>
            <a:off x="6629400" y="26060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나만의 이야기를 끝까지 밀고 갑니다</a:t>
            </a:r>
            <a:endParaRPr lang="en-US" sz="1500" dirty="0"/>
          </a:p>
        </p:txBody>
      </p:sp>
      <p:sp>
        <p:nvSpPr>
          <p:cNvPr id="10" name="txt-96"/>
          <p:cNvSpPr txBox="1"/>
          <p:nvPr/>
        </p:nvSpPr>
        <p:spPr>
          <a:xfrm>
            <a:off x="6629400" y="3200400"/>
            <a:ext cx="4389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활동지 01~04를 혼자 완성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모둠은 브레인스토밍·피드백 때 함께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제작과 발표는 각자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감상문으로 과정 돌아보기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5105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914400" y="324612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이렇게 완성되었어요</a:t>
            </a:r>
            <a:endParaRPr lang="en-US" sz="4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914400" y="41605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A8A8A"/>
                </a:solidFill>
              </a:rPr>
              <a:t>같은 핑크 박스, 전혀 다른 이야기</a:t>
            </a:r>
            <a:endParaRPr lang="en-US" sz="1800" dirty="0"/>
          </a:p>
        </p:txBody>
      </p:sp>
      <p:pic>
        <p:nvPicPr>
          <p:cNvPr id="4" name="sec-box" descr="/home/claude/src/assets/pinkb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7208" y="2194560"/>
            <a:ext cx="1097280" cy="77332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5105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g-97" descr="/home/claude/src/assets/img9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83375"/>
            <a:ext cx="5120640" cy="3285411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3" name="txt-98"/>
          <p:cNvSpPr txBox="1"/>
          <p:nvPr/>
        </p:nvSpPr>
        <p:spPr>
          <a:xfrm>
            <a:off x="822960" y="48920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사랑은 비행기를 타고</a:t>
            </a:r>
            <a:endParaRPr lang="en-US" sz="2000" dirty="0"/>
          </a:p>
        </p:txBody>
      </p:sp>
      <p:sp>
        <p:nvSpPr>
          <p:cNvPr id="4" name="txt-99"/>
          <p:cNvSpPr txBox="1"/>
          <p:nvPr/>
        </p:nvSpPr>
        <p:spPr>
          <a:xfrm>
            <a:off x="822960" y="5376672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accent6"/>
                </a:solidFill>
              </a:rPr>
              <a:t>부모님께 드릴 비행기 왕복 항공권이 들어 있는 상자</a:t>
            </a:r>
            <a:endParaRPr lang="en-US" sz="1400" dirty="0"/>
          </a:p>
        </p:txBody>
      </p:sp>
      <p:pic>
        <p:nvPicPr>
          <p:cNvPr id="5" name="img-100" descr="/home/claude/src/assets/img12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5560" y="1097280"/>
            <a:ext cx="4876800" cy="36576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6" name="txt-101"/>
          <p:cNvSpPr txBox="1"/>
          <p:nvPr/>
        </p:nvSpPr>
        <p:spPr>
          <a:xfrm>
            <a:off x="6263640" y="48920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내 별 소유 증명서</a:t>
            </a:r>
            <a:endParaRPr lang="en-US" sz="2000" dirty="0"/>
          </a:p>
        </p:txBody>
      </p:sp>
      <p:sp>
        <p:nvSpPr>
          <p:cNvPr id="7" name="txt-102"/>
          <p:cNvSpPr txBox="1"/>
          <p:nvPr/>
        </p:nvSpPr>
        <p:spPr>
          <a:xfrm>
            <a:off x="6263640" y="5376672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accent6"/>
                </a:solidFill>
              </a:rPr>
              <a:t>실제로 갈 일은 없어도 우주에 내 별 하나쯤 있다는 증명서가 온다면 낭만적일 것 같아서, 우주 느낌으로 디자인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5105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g-103" descr="/home/claude/src/assets/img10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1097280"/>
            <a:ext cx="4876800" cy="36576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pic>
        <p:nvPicPr>
          <p:cNvPr id="3" name="img-104" descr="/home/claude/src/assets/img11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5560" y="1097280"/>
            <a:ext cx="4876800" cy="36576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4" name="txt-105"/>
          <p:cNvSpPr txBox="1"/>
          <p:nvPr/>
        </p:nvSpPr>
        <p:spPr>
          <a:xfrm>
            <a:off x="822960" y="4892040"/>
            <a:ext cx="10561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날아라 스니커즈</a:t>
            </a:r>
            <a:endParaRPr lang="en-US" sz="2000" dirty="0"/>
          </a:p>
        </p:txBody>
      </p:sp>
      <p:sp>
        <p:nvSpPr>
          <p:cNvPr id="5" name="txt-106"/>
          <p:cNvSpPr txBox="1"/>
          <p:nvPr/>
        </p:nvSpPr>
        <p:spPr>
          <a:xfrm>
            <a:off x="822960" y="5376672"/>
            <a:ext cx="10561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accent6"/>
                </a:solidFill>
              </a:rPr>
              <a:t>매일 지각하는 친구가 받고 싶은 선물. 신기만 하면 금방 날아올라 학교까지 바로 올 수 있는 신발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5105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g-107" descr="/home/claude/src/assets/img13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1097280"/>
            <a:ext cx="4876800" cy="36576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3" name="txt-108"/>
          <p:cNvSpPr txBox="1"/>
          <p:nvPr/>
        </p:nvSpPr>
        <p:spPr>
          <a:xfrm>
            <a:off x="822960" y="48920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마법의 옷장</a:t>
            </a:r>
            <a:endParaRPr lang="en-US" sz="2000" dirty="0"/>
          </a:p>
        </p:txBody>
      </p:sp>
      <p:sp>
        <p:nvSpPr>
          <p:cNvPr id="4" name="txt-109"/>
          <p:cNvSpPr txBox="1"/>
          <p:nvPr/>
        </p:nvSpPr>
        <p:spPr>
          <a:xfrm>
            <a:off x="822960" y="5376672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accent6"/>
                </a:solidFill>
              </a:rPr>
              <a:t>원하는 옷이 척척 나오는 옷장. 이런 선물을 받으면 언니랑 옷 때문에 싸우지 않아도 될 것 같아서</a:t>
            </a:r>
            <a:endParaRPr lang="en-US" sz="1400" dirty="0"/>
          </a:p>
        </p:txBody>
      </p:sp>
      <p:pic>
        <p:nvPicPr>
          <p:cNvPr id="5" name="img-110" descr="/home/claude/src/assets/img14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5560" y="1097280"/>
            <a:ext cx="4876800" cy="36576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6" name="txt-111"/>
          <p:cNvSpPr txBox="1"/>
          <p:nvPr/>
        </p:nvSpPr>
        <p:spPr>
          <a:xfrm>
            <a:off x="6263640" y="48920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가장 아름다운 소리를 내는 오카리나</a:t>
            </a:r>
            <a:endParaRPr lang="en-US" sz="2000" dirty="0"/>
          </a:p>
        </p:txBody>
      </p:sp>
      <p:sp>
        <p:nvSpPr>
          <p:cNvPr id="7" name="txt-112"/>
          <p:cNvSpPr txBox="1"/>
          <p:nvPr/>
        </p:nvSpPr>
        <p:spPr>
          <a:xfrm>
            <a:off x="6263640" y="5376672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accent6"/>
                </a:solidFill>
              </a:rPr>
              <a:t>세상에서 가장 아름다운 소리를 내는 오카리나를 담은 핑크박스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5105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822960" y="9144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프로젝트는 두 부분으로 진행됩니다</a:t>
            </a:r>
            <a:endParaRPr lang="en-US" sz="2800" dirty="0"/>
          </a:p>
        </p:txBody>
      </p:sp>
      <p:sp>
        <p:nvSpPr>
          <p:cNvPr id="3" name="txt-113"/>
          <p:cNvSpPr txBox="1"/>
          <p:nvPr/>
        </p:nvSpPr>
        <p:spPr>
          <a:xfrm>
            <a:off x="822960" y="1828800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Part 1  아이디어 만들기</a:t>
            </a:r>
            <a:endParaRPr lang="en-US" sz="2000" dirty="0"/>
          </a:p>
        </p:txBody>
      </p:sp>
      <p:sp>
        <p:nvSpPr>
          <p:cNvPr id="4" name="box-114"/>
          <p:cNvSpPr/>
          <p:nvPr/>
        </p:nvSpPr>
        <p:spPr>
          <a:xfrm>
            <a:off x="822960" y="2331720"/>
            <a:ext cx="5074920" cy="3611880"/>
          </a:xfrm>
          <a:prstGeom prst="roundRect">
            <a:avLst>
              <a:gd name="adj" fmla="val 3038"/>
            </a:avLst>
          </a:prstGeom>
          <a:solidFill>
            <a:schemeClr val="accent2"/>
          </a:solidFill>
          <a:ln/>
        </p:spPr>
      </p:sp>
      <p:sp>
        <p:nvSpPr>
          <p:cNvPr id="5" name="txt-115"/>
          <p:cNvSpPr txBox="1"/>
          <p:nvPr/>
        </p:nvSpPr>
        <p:spPr>
          <a:xfrm>
            <a:off x="1097280" y="2514600"/>
            <a:ext cx="46177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01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내게 도착하면 좋을 물건들 상상</a:t>
            </a:r>
            <a:endParaRPr lang="en-US" sz="1300" dirty="0"/>
          </a:p>
        </p:txBody>
      </p:sp>
      <p:sp>
        <p:nvSpPr>
          <p:cNvPr id="6" name="txt-116"/>
          <p:cNvSpPr txBox="1"/>
          <p:nvPr/>
        </p:nvSpPr>
        <p:spPr>
          <a:xfrm>
            <a:off x="1097280" y="3163824"/>
            <a:ext cx="46177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02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브레인스토밍을 통한 아이디어 확장</a:t>
            </a:r>
            <a:endParaRPr lang="en-US" sz="1300" dirty="0"/>
          </a:p>
        </p:txBody>
      </p:sp>
      <p:sp>
        <p:nvSpPr>
          <p:cNvPr id="7" name="txt-117"/>
          <p:cNvSpPr txBox="1"/>
          <p:nvPr/>
        </p:nvSpPr>
        <p:spPr>
          <a:xfrm>
            <a:off x="1097280" y="3813048"/>
            <a:ext cx="46177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03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기초 스케치 4장</a:t>
            </a:r>
            <a:endParaRPr lang="en-US" sz="1300" dirty="0"/>
          </a:p>
        </p:txBody>
      </p:sp>
      <p:sp>
        <p:nvSpPr>
          <p:cNvPr id="8" name="txt-118"/>
          <p:cNvSpPr txBox="1"/>
          <p:nvPr/>
        </p:nvSpPr>
        <p:spPr>
          <a:xfrm>
            <a:off x="1097280" y="4462272"/>
            <a:ext cx="46177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토의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모둠별 토의를 통한 주제 결정</a:t>
            </a:r>
            <a:endParaRPr lang="en-US" sz="1300" dirty="0"/>
          </a:p>
        </p:txBody>
      </p:sp>
      <p:sp>
        <p:nvSpPr>
          <p:cNvPr id="9" name="txt-119"/>
          <p:cNvSpPr txBox="1"/>
          <p:nvPr/>
        </p:nvSpPr>
        <p:spPr>
          <a:xfrm>
            <a:off x="1097280" y="5111496"/>
            <a:ext cx="46177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04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확정 스케치 (전개도 · 투상도)</a:t>
            </a:r>
            <a:endParaRPr lang="en-US" sz="1300" dirty="0"/>
          </a:p>
        </p:txBody>
      </p:sp>
      <p:sp>
        <p:nvSpPr>
          <p:cNvPr id="10" name="txt-120"/>
          <p:cNvSpPr txBox="1"/>
          <p:nvPr/>
        </p:nvSpPr>
        <p:spPr>
          <a:xfrm>
            <a:off x="6309360" y="1828800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Part 2  만들고 발표하기</a:t>
            </a:r>
            <a:endParaRPr lang="en-US" sz="2000" dirty="0"/>
          </a:p>
        </p:txBody>
      </p:sp>
      <p:sp>
        <p:nvSpPr>
          <p:cNvPr id="11" name="box-121"/>
          <p:cNvSpPr/>
          <p:nvPr/>
        </p:nvSpPr>
        <p:spPr>
          <a:xfrm>
            <a:off x="6309360" y="2331720"/>
            <a:ext cx="5074920" cy="3611880"/>
          </a:xfrm>
          <a:prstGeom prst="roundRect">
            <a:avLst>
              <a:gd name="adj" fmla="val 3038"/>
            </a:avLst>
          </a:prstGeom>
          <a:solidFill>
            <a:schemeClr val="accent2"/>
          </a:solidFill>
          <a:ln/>
        </p:spPr>
      </p:sp>
      <p:sp>
        <p:nvSpPr>
          <p:cNvPr id="12" name="txt-122"/>
          <p:cNvSpPr txBox="1"/>
          <p:nvPr/>
        </p:nvSpPr>
        <p:spPr>
          <a:xfrm>
            <a:off x="6583680" y="2514600"/>
            <a:ext cx="461772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01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재료 연구 — 아크릴로 색칠하기, 지점토로 붙이기,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기존 물건 콜라주도 가능. 나만의 다양한 방식으로 작품 구현하기</a:t>
            </a:r>
            <a:endParaRPr lang="en-US" sz="1300" dirty="0"/>
          </a:p>
        </p:txBody>
      </p:sp>
      <p:sp>
        <p:nvSpPr>
          <p:cNvPr id="13" name="txt-123"/>
          <p:cNvSpPr txBox="1"/>
          <p:nvPr/>
        </p:nvSpPr>
        <p:spPr>
          <a:xfrm>
            <a:off x="6583680" y="3596640"/>
            <a:ext cx="461772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02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실제 제작</a:t>
            </a:r>
            <a:endParaRPr lang="en-US" sz="1300" dirty="0"/>
          </a:p>
        </p:txBody>
      </p:sp>
      <p:sp>
        <p:nvSpPr>
          <p:cNvPr id="14" name="txt-124"/>
          <p:cNvSpPr txBox="1"/>
          <p:nvPr/>
        </p:nvSpPr>
        <p:spPr>
          <a:xfrm>
            <a:off x="6583680" y="4678680"/>
            <a:ext cx="461772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03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감상문 — 친구 작품 평가와 내 작품 제작 과정 자기 평가 쓰기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5105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-125"/>
          <p:cNvSpPr txBox="1"/>
          <p:nvPr/>
        </p:nvSpPr>
        <p:spPr>
          <a:xfrm>
            <a:off x="822960" y="1097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Part 1</a:t>
            </a:r>
            <a:endParaRPr lang="en-US" sz="2000" dirty="0"/>
          </a:p>
        </p:txBody>
      </p:sp>
      <p:sp>
        <p:nvSpPr>
          <p:cNvPr id="3" name="box-126"/>
          <p:cNvSpPr/>
          <p:nvPr/>
        </p:nvSpPr>
        <p:spPr>
          <a:xfrm>
            <a:off x="822960" y="1600200"/>
            <a:ext cx="3017520" cy="4434840"/>
          </a:xfrm>
          <a:prstGeom prst="roundRect">
            <a:avLst>
              <a:gd name="adj" fmla="val 3636"/>
            </a:avLst>
          </a:prstGeom>
          <a:solidFill>
            <a:schemeClr val="accent2"/>
          </a:solidFill>
          <a:ln/>
        </p:spPr>
      </p:sp>
      <p:sp>
        <p:nvSpPr>
          <p:cNvPr id="4" name="box-127"/>
          <p:cNvSpPr/>
          <p:nvPr/>
        </p:nvSpPr>
        <p:spPr>
          <a:xfrm>
            <a:off x="932688" y="1764792"/>
            <a:ext cx="2798064" cy="758952"/>
          </a:xfrm>
          <a:prstGeom prst="roundRect">
            <a:avLst>
              <a:gd name="adj" fmla="val 9639"/>
            </a:avLst>
          </a:prstGeom>
          <a:solidFill>
            <a:schemeClr val="accent1"/>
          </a:solidFill>
          <a:ln/>
        </p:spPr>
      </p:sp>
      <p:sp>
        <p:nvSpPr>
          <p:cNvPr id="5" name="txt-128"/>
          <p:cNvSpPr txBox="1"/>
          <p:nvPr/>
        </p:nvSpPr>
        <p:spPr>
          <a:xfrm>
            <a:off x="1097280" y="1783080"/>
            <a:ext cx="25603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01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내게 도착하면 좋을 물건들 상상</a:t>
            </a:r>
            <a:endParaRPr lang="en-US" sz="1300" dirty="0"/>
          </a:p>
        </p:txBody>
      </p:sp>
      <p:sp>
        <p:nvSpPr>
          <p:cNvPr id="6" name="txt-129"/>
          <p:cNvSpPr txBox="1"/>
          <p:nvPr/>
        </p:nvSpPr>
        <p:spPr>
          <a:xfrm>
            <a:off x="1097280" y="2596896"/>
            <a:ext cx="25603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>
                    <a:alpha val="75000"/>
                  </a:schemeClr>
                </a:solidFill>
              </a:rPr>
              <a:t>02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>
                    <a:alpha val="75000"/>
                  </a:schemeClr>
                </a:solidFill>
              </a:rPr>
              <a:t>브레인스토밍을 통한 아이디어 확장</a:t>
            </a:r>
            <a:endParaRPr lang="en-US" sz="1300" dirty="0"/>
          </a:p>
        </p:txBody>
      </p:sp>
      <p:sp>
        <p:nvSpPr>
          <p:cNvPr id="7" name="txt-130"/>
          <p:cNvSpPr txBox="1"/>
          <p:nvPr/>
        </p:nvSpPr>
        <p:spPr>
          <a:xfrm>
            <a:off x="1097280" y="3410712"/>
            <a:ext cx="25603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>
                    <a:alpha val="75000"/>
                  </a:schemeClr>
                </a:solidFill>
              </a:rPr>
              <a:t>03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>
                    <a:alpha val="75000"/>
                  </a:schemeClr>
                </a:solidFill>
              </a:rPr>
              <a:t>기초 스케치 4장</a:t>
            </a:r>
            <a:endParaRPr lang="en-US" sz="1300" dirty="0"/>
          </a:p>
        </p:txBody>
      </p:sp>
      <p:sp>
        <p:nvSpPr>
          <p:cNvPr id="8" name="txt-131"/>
          <p:cNvSpPr txBox="1"/>
          <p:nvPr/>
        </p:nvSpPr>
        <p:spPr>
          <a:xfrm>
            <a:off x="1097280" y="4224528"/>
            <a:ext cx="25603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>
                    <a:alpha val="75000"/>
                  </a:schemeClr>
                </a:solidFill>
              </a:rPr>
              <a:t>토의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>
                    <a:alpha val="75000"/>
                  </a:schemeClr>
                </a:solidFill>
              </a:rPr>
              <a:t>모둠별 토의를 통한 주제 결정</a:t>
            </a:r>
            <a:endParaRPr lang="en-US" sz="1300" dirty="0"/>
          </a:p>
        </p:txBody>
      </p:sp>
      <p:sp>
        <p:nvSpPr>
          <p:cNvPr id="9" name="txt-132"/>
          <p:cNvSpPr txBox="1"/>
          <p:nvPr/>
        </p:nvSpPr>
        <p:spPr>
          <a:xfrm>
            <a:off x="1097280" y="5038344"/>
            <a:ext cx="25603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>
                    <a:alpha val="75000"/>
                  </a:schemeClr>
                </a:solidFill>
              </a:rPr>
              <a:t>04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>
                    <a:alpha val="75000"/>
                  </a:schemeClr>
                </a:solidFill>
              </a:rPr>
              <a:t>확정 스케치 (전개도 · 투상도)</a:t>
            </a:r>
            <a:endParaRPr lang="en-US" sz="1300" dirty="0"/>
          </a:p>
        </p:txBody>
      </p:sp>
      <p:sp>
        <p:nvSpPr>
          <p:cNvPr id="10" name="txt-133"/>
          <p:cNvSpPr txBox="1"/>
          <p:nvPr/>
        </p:nvSpPr>
        <p:spPr>
          <a:xfrm>
            <a:off x="4206240" y="10972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01</a:t>
            </a:r>
            <a:endParaRPr lang="en-US" sz="5400" dirty="0"/>
          </a:p>
        </p:txBody>
      </p:sp>
      <p:sp>
        <p:nvSpPr>
          <p:cNvPr id="11" name="txt-134"/>
          <p:cNvSpPr txBox="1"/>
          <p:nvPr/>
        </p:nvSpPr>
        <p:spPr>
          <a:xfrm>
            <a:off x="4206240" y="20574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내게 도착하면 좋을 물건들 상상하기</a:t>
            </a:r>
            <a:endParaRPr lang="en-US" sz="2100" dirty="0"/>
          </a:p>
        </p:txBody>
      </p:sp>
      <p:sp>
        <p:nvSpPr>
          <p:cNvPr id="12" name="txt-135"/>
          <p:cNvSpPr txBox="1"/>
          <p:nvPr/>
        </p:nvSpPr>
        <p:spPr>
          <a:xfrm>
            <a:off x="4206240" y="2971800"/>
            <a:ext cx="3566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accent6"/>
                </a:solidFill>
              </a:rPr>
              <a:t>과거: 나는 무엇을 받을 때 가장 즐거웠나?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accent6"/>
                </a:solidFill>
              </a:rPr>
              <a:t>미래: 나는 무엇을 받을 때 가장 즐거울까?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accent6"/>
                </a:solidFill>
              </a:rPr>
              <a:t>내가 정말 갖고 싶은 것, 원하는 것, 꿈꾸는 것을 그림과 글로</a:t>
            </a:r>
            <a:endParaRPr lang="en-US" sz="1500" dirty="0"/>
          </a:p>
        </p:txBody>
      </p:sp>
      <p:pic>
        <p:nvPicPr>
          <p:cNvPr id="13" name="img-136" descr="/home/claude/src/assets/ws1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140929"/>
            <a:ext cx="3611880" cy="4941902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5105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-137"/>
          <p:cNvSpPr txBox="1"/>
          <p:nvPr/>
        </p:nvSpPr>
        <p:spPr>
          <a:xfrm>
            <a:off x="822960" y="1097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Part 1</a:t>
            </a:r>
            <a:endParaRPr lang="en-US" sz="2000" dirty="0"/>
          </a:p>
        </p:txBody>
      </p:sp>
      <p:sp>
        <p:nvSpPr>
          <p:cNvPr id="3" name="box-138"/>
          <p:cNvSpPr/>
          <p:nvPr/>
        </p:nvSpPr>
        <p:spPr>
          <a:xfrm>
            <a:off x="822960" y="1600200"/>
            <a:ext cx="3017520" cy="4434840"/>
          </a:xfrm>
          <a:prstGeom prst="roundRect">
            <a:avLst>
              <a:gd name="adj" fmla="val 3636"/>
            </a:avLst>
          </a:prstGeom>
          <a:solidFill>
            <a:schemeClr val="accent2"/>
          </a:solidFill>
          <a:ln/>
        </p:spPr>
      </p:sp>
      <p:sp>
        <p:nvSpPr>
          <p:cNvPr id="4" name="txt-139"/>
          <p:cNvSpPr txBox="1"/>
          <p:nvPr/>
        </p:nvSpPr>
        <p:spPr>
          <a:xfrm>
            <a:off x="1097280" y="1783080"/>
            <a:ext cx="25603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>
                    <a:alpha val="75000"/>
                  </a:schemeClr>
                </a:solidFill>
              </a:rPr>
              <a:t>01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>
                    <a:alpha val="75000"/>
                  </a:schemeClr>
                </a:solidFill>
              </a:rPr>
              <a:t>내게 도착하면 좋을 물건들 상상</a:t>
            </a:r>
            <a:endParaRPr lang="en-US" sz="1300" dirty="0"/>
          </a:p>
        </p:txBody>
      </p:sp>
      <p:sp>
        <p:nvSpPr>
          <p:cNvPr id="5" name="box-140"/>
          <p:cNvSpPr/>
          <p:nvPr/>
        </p:nvSpPr>
        <p:spPr>
          <a:xfrm>
            <a:off x="932688" y="2578608"/>
            <a:ext cx="2798064" cy="758952"/>
          </a:xfrm>
          <a:prstGeom prst="roundRect">
            <a:avLst>
              <a:gd name="adj" fmla="val 9639"/>
            </a:avLst>
          </a:prstGeom>
          <a:solidFill>
            <a:schemeClr val="accent1"/>
          </a:solidFill>
          <a:ln/>
        </p:spPr>
      </p:sp>
      <p:sp>
        <p:nvSpPr>
          <p:cNvPr id="6" name="txt-141"/>
          <p:cNvSpPr txBox="1"/>
          <p:nvPr/>
        </p:nvSpPr>
        <p:spPr>
          <a:xfrm>
            <a:off x="1097280" y="2596896"/>
            <a:ext cx="25603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02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브레인스토밍을 통한 아이디어 확장</a:t>
            </a:r>
            <a:endParaRPr lang="en-US" sz="1300" dirty="0"/>
          </a:p>
        </p:txBody>
      </p:sp>
      <p:sp>
        <p:nvSpPr>
          <p:cNvPr id="7" name="txt-142"/>
          <p:cNvSpPr txBox="1"/>
          <p:nvPr/>
        </p:nvSpPr>
        <p:spPr>
          <a:xfrm>
            <a:off x="1097280" y="3410712"/>
            <a:ext cx="25603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>
                    <a:alpha val="75000"/>
                  </a:schemeClr>
                </a:solidFill>
              </a:rPr>
              <a:t>03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>
                    <a:alpha val="75000"/>
                  </a:schemeClr>
                </a:solidFill>
              </a:rPr>
              <a:t>기초 스케치 4장</a:t>
            </a:r>
            <a:endParaRPr lang="en-US" sz="1300" dirty="0"/>
          </a:p>
        </p:txBody>
      </p:sp>
      <p:sp>
        <p:nvSpPr>
          <p:cNvPr id="8" name="txt-143"/>
          <p:cNvSpPr txBox="1"/>
          <p:nvPr/>
        </p:nvSpPr>
        <p:spPr>
          <a:xfrm>
            <a:off x="1097280" y="4224528"/>
            <a:ext cx="25603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>
                    <a:alpha val="75000"/>
                  </a:schemeClr>
                </a:solidFill>
              </a:rPr>
              <a:t>토의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>
                    <a:alpha val="75000"/>
                  </a:schemeClr>
                </a:solidFill>
              </a:rPr>
              <a:t>모둠별 토의를 통한 주제 결정</a:t>
            </a:r>
            <a:endParaRPr lang="en-US" sz="1300" dirty="0"/>
          </a:p>
        </p:txBody>
      </p:sp>
      <p:sp>
        <p:nvSpPr>
          <p:cNvPr id="9" name="txt-144"/>
          <p:cNvSpPr txBox="1"/>
          <p:nvPr/>
        </p:nvSpPr>
        <p:spPr>
          <a:xfrm>
            <a:off x="1097280" y="5038344"/>
            <a:ext cx="25603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>
                    <a:alpha val="75000"/>
                  </a:schemeClr>
                </a:solidFill>
              </a:rPr>
              <a:t>04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>
                    <a:alpha val="75000"/>
                  </a:schemeClr>
                </a:solidFill>
              </a:rPr>
              <a:t>확정 스케치 (전개도 · 투상도)</a:t>
            </a:r>
            <a:endParaRPr lang="en-US" sz="1300" dirty="0"/>
          </a:p>
        </p:txBody>
      </p:sp>
      <p:sp>
        <p:nvSpPr>
          <p:cNvPr id="10" name="txt-145"/>
          <p:cNvSpPr txBox="1"/>
          <p:nvPr/>
        </p:nvSpPr>
        <p:spPr>
          <a:xfrm>
            <a:off x="4206240" y="10972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02</a:t>
            </a:r>
            <a:endParaRPr lang="en-US" sz="5400" dirty="0"/>
          </a:p>
        </p:txBody>
      </p:sp>
      <p:sp>
        <p:nvSpPr>
          <p:cNvPr id="11" name="txt-146"/>
          <p:cNvSpPr txBox="1"/>
          <p:nvPr/>
        </p:nvSpPr>
        <p:spPr>
          <a:xfrm>
            <a:off x="4206240" y="20574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브레인스토밍으로 생각 넓히기</a:t>
            </a:r>
            <a:endParaRPr lang="en-US" sz="2100" dirty="0"/>
          </a:p>
        </p:txBody>
      </p:sp>
      <p:sp>
        <p:nvSpPr>
          <p:cNvPr id="12" name="txt-147"/>
          <p:cNvSpPr txBox="1"/>
          <p:nvPr/>
        </p:nvSpPr>
        <p:spPr>
          <a:xfrm>
            <a:off x="4206240" y="2971800"/>
            <a:ext cx="3566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accent6"/>
                </a:solidFill>
              </a:rPr>
              <a:t>브레인스토밍 키워드 적기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accent6"/>
                </a:solidFill>
              </a:rPr>
              <a:t>두 개의 주제를 골라 생각 그물 펼치기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accent6"/>
                </a:solidFill>
              </a:rPr>
              <a:t>모둠 친구들과 키워드를 덧붙여 확장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accent6"/>
                </a:solidFill>
              </a:rPr>
              <a:t>엉뚱한 연결일수록 좋은 출발점</a:t>
            </a:r>
            <a:endParaRPr lang="en-US" sz="1500" dirty="0"/>
          </a:p>
        </p:txBody>
      </p:sp>
      <p:pic>
        <p:nvPicPr>
          <p:cNvPr id="13" name="img-148" descr="/home/claude/src/assets/ws2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140929"/>
            <a:ext cx="3611880" cy="4941902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5105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-149"/>
          <p:cNvSpPr txBox="1"/>
          <p:nvPr/>
        </p:nvSpPr>
        <p:spPr>
          <a:xfrm>
            <a:off x="822960" y="1097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Part 1</a:t>
            </a:r>
            <a:endParaRPr lang="en-US" sz="2000" dirty="0"/>
          </a:p>
        </p:txBody>
      </p:sp>
      <p:sp>
        <p:nvSpPr>
          <p:cNvPr id="3" name="box-150"/>
          <p:cNvSpPr/>
          <p:nvPr/>
        </p:nvSpPr>
        <p:spPr>
          <a:xfrm>
            <a:off x="822960" y="1600200"/>
            <a:ext cx="3017520" cy="4434840"/>
          </a:xfrm>
          <a:prstGeom prst="roundRect">
            <a:avLst>
              <a:gd name="adj" fmla="val 3636"/>
            </a:avLst>
          </a:prstGeom>
          <a:solidFill>
            <a:schemeClr val="accent2"/>
          </a:solidFill>
          <a:ln/>
        </p:spPr>
      </p:sp>
      <p:sp>
        <p:nvSpPr>
          <p:cNvPr id="4" name="txt-151"/>
          <p:cNvSpPr txBox="1"/>
          <p:nvPr/>
        </p:nvSpPr>
        <p:spPr>
          <a:xfrm>
            <a:off x="1097280" y="1783080"/>
            <a:ext cx="25603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>
                    <a:alpha val="75000"/>
                  </a:schemeClr>
                </a:solidFill>
              </a:rPr>
              <a:t>01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>
                    <a:alpha val="75000"/>
                  </a:schemeClr>
                </a:solidFill>
              </a:rPr>
              <a:t>내게 도착하면 좋을 물건들 상상</a:t>
            </a:r>
            <a:endParaRPr lang="en-US" sz="1300" dirty="0"/>
          </a:p>
        </p:txBody>
      </p:sp>
      <p:sp>
        <p:nvSpPr>
          <p:cNvPr id="5" name="txt-152"/>
          <p:cNvSpPr txBox="1"/>
          <p:nvPr/>
        </p:nvSpPr>
        <p:spPr>
          <a:xfrm>
            <a:off x="1097280" y="2596896"/>
            <a:ext cx="25603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>
                    <a:alpha val="75000"/>
                  </a:schemeClr>
                </a:solidFill>
              </a:rPr>
              <a:t>02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>
                    <a:alpha val="75000"/>
                  </a:schemeClr>
                </a:solidFill>
              </a:rPr>
              <a:t>브레인스토밍을 통한 아이디어 확장</a:t>
            </a:r>
            <a:endParaRPr lang="en-US" sz="1300" dirty="0"/>
          </a:p>
        </p:txBody>
      </p:sp>
      <p:sp>
        <p:nvSpPr>
          <p:cNvPr id="6" name="box-153"/>
          <p:cNvSpPr/>
          <p:nvPr/>
        </p:nvSpPr>
        <p:spPr>
          <a:xfrm>
            <a:off x="932688" y="3392424"/>
            <a:ext cx="2798064" cy="758952"/>
          </a:xfrm>
          <a:prstGeom prst="roundRect">
            <a:avLst>
              <a:gd name="adj" fmla="val 9639"/>
            </a:avLst>
          </a:prstGeom>
          <a:solidFill>
            <a:schemeClr val="accent1"/>
          </a:solidFill>
          <a:ln/>
        </p:spPr>
      </p:sp>
      <p:sp>
        <p:nvSpPr>
          <p:cNvPr id="7" name="txt-154"/>
          <p:cNvSpPr txBox="1"/>
          <p:nvPr/>
        </p:nvSpPr>
        <p:spPr>
          <a:xfrm>
            <a:off x="1097280" y="3410712"/>
            <a:ext cx="25603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03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기초 스케치 4장</a:t>
            </a:r>
            <a:endParaRPr lang="en-US" sz="1300" dirty="0"/>
          </a:p>
        </p:txBody>
      </p:sp>
      <p:sp>
        <p:nvSpPr>
          <p:cNvPr id="8" name="txt-155"/>
          <p:cNvSpPr txBox="1"/>
          <p:nvPr/>
        </p:nvSpPr>
        <p:spPr>
          <a:xfrm>
            <a:off x="1097280" y="4224528"/>
            <a:ext cx="25603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>
                    <a:alpha val="75000"/>
                  </a:schemeClr>
                </a:solidFill>
              </a:rPr>
              <a:t>토의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>
                    <a:alpha val="75000"/>
                  </a:schemeClr>
                </a:solidFill>
              </a:rPr>
              <a:t>모둠별 토의를 통한 주제 결정</a:t>
            </a:r>
            <a:endParaRPr lang="en-US" sz="1300" dirty="0"/>
          </a:p>
        </p:txBody>
      </p:sp>
      <p:sp>
        <p:nvSpPr>
          <p:cNvPr id="9" name="txt-156"/>
          <p:cNvSpPr txBox="1"/>
          <p:nvPr/>
        </p:nvSpPr>
        <p:spPr>
          <a:xfrm>
            <a:off x="1097280" y="5038344"/>
            <a:ext cx="25603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>
                    <a:alpha val="75000"/>
                  </a:schemeClr>
                </a:solidFill>
              </a:rPr>
              <a:t>04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>
                    <a:alpha val="75000"/>
                  </a:schemeClr>
                </a:solidFill>
              </a:rPr>
              <a:t>확정 스케치 (전개도 · 투상도)</a:t>
            </a:r>
            <a:endParaRPr lang="en-US" sz="1300" dirty="0"/>
          </a:p>
        </p:txBody>
      </p:sp>
      <p:sp>
        <p:nvSpPr>
          <p:cNvPr id="10" name="txt-157"/>
          <p:cNvSpPr txBox="1"/>
          <p:nvPr/>
        </p:nvSpPr>
        <p:spPr>
          <a:xfrm>
            <a:off x="4206240" y="10972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03</a:t>
            </a:r>
            <a:endParaRPr lang="en-US" sz="5400" dirty="0"/>
          </a:p>
        </p:txBody>
      </p:sp>
      <p:sp>
        <p:nvSpPr>
          <p:cNvPr id="11" name="txt-158"/>
          <p:cNvSpPr txBox="1"/>
          <p:nvPr/>
        </p:nvSpPr>
        <p:spPr>
          <a:xfrm>
            <a:off x="4206240" y="20574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기초 스케치 4장</a:t>
            </a:r>
            <a:endParaRPr lang="en-US" sz="2100" dirty="0"/>
          </a:p>
        </p:txBody>
      </p:sp>
      <p:sp>
        <p:nvSpPr>
          <p:cNvPr id="12" name="txt-159"/>
          <p:cNvSpPr txBox="1"/>
          <p:nvPr/>
        </p:nvSpPr>
        <p:spPr>
          <a:xfrm>
            <a:off x="4206240" y="2971800"/>
            <a:ext cx="3566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accent6"/>
                </a:solidFill>
              </a:rPr>
              <a:t>같은 상자 투상도에 아이디어 4가지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accent6"/>
                </a:solidFill>
              </a:rPr>
              <a:t>윗면·옆면·여는 방식까지 상자 전체를 활용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accent6"/>
                </a:solidFill>
              </a:rPr>
              <a:t>스케치마다 짧은 설명 메모</a:t>
            </a:r>
            <a:endParaRPr lang="en-US" sz="1500" dirty="0"/>
          </a:p>
        </p:txBody>
      </p:sp>
      <p:pic>
        <p:nvPicPr>
          <p:cNvPr id="13" name="img-160" descr="/home/claude/src/assets/ws2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140929"/>
            <a:ext cx="3611880" cy="4941902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5105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-161"/>
          <p:cNvSpPr txBox="1"/>
          <p:nvPr/>
        </p:nvSpPr>
        <p:spPr>
          <a:xfrm>
            <a:off x="822960" y="1097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Part 1</a:t>
            </a:r>
            <a:endParaRPr lang="en-US" sz="2000" dirty="0"/>
          </a:p>
        </p:txBody>
      </p:sp>
      <p:sp>
        <p:nvSpPr>
          <p:cNvPr id="3" name="box-162"/>
          <p:cNvSpPr/>
          <p:nvPr/>
        </p:nvSpPr>
        <p:spPr>
          <a:xfrm>
            <a:off x="822960" y="1600200"/>
            <a:ext cx="3017520" cy="4434840"/>
          </a:xfrm>
          <a:prstGeom prst="roundRect">
            <a:avLst>
              <a:gd name="adj" fmla="val 3636"/>
            </a:avLst>
          </a:prstGeom>
          <a:solidFill>
            <a:schemeClr val="accent2"/>
          </a:solidFill>
          <a:ln/>
        </p:spPr>
      </p:sp>
      <p:sp>
        <p:nvSpPr>
          <p:cNvPr id="4" name="txt-163"/>
          <p:cNvSpPr txBox="1"/>
          <p:nvPr/>
        </p:nvSpPr>
        <p:spPr>
          <a:xfrm>
            <a:off x="1097280" y="1783080"/>
            <a:ext cx="25603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>
                    <a:alpha val="75000"/>
                  </a:schemeClr>
                </a:solidFill>
              </a:rPr>
              <a:t>01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>
                    <a:alpha val="75000"/>
                  </a:schemeClr>
                </a:solidFill>
              </a:rPr>
              <a:t>내게 도착하면 좋을 물건들 상상</a:t>
            </a:r>
            <a:endParaRPr lang="en-US" sz="1300" dirty="0"/>
          </a:p>
        </p:txBody>
      </p:sp>
      <p:sp>
        <p:nvSpPr>
          <p:cNvPr id="5" name="txt-164"/>
          <p:cNvSpPr txBox="1"/>
          <p:nvPr/>
        </p:nvSpPr>
        <p:spPr>
          <a:xfrm>
            <a:off x="1097280" y="2596896"/>
            <a:ext cx="25603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>
                    <a:alpha val="75000"/>
                  </a:schemeClr>
                </a:solidFill>
              </a:rPr>
              <a:t>02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>
                    <a:alpha val="75000"/>
                  </a:schemeClr>
                </a:solidFill>
              </a:rPr>
              <a:t>브레인스토밍을 통한 아이디어 확장</a:t>
            </a:r>
            <a:endParaRPr lang="en-US" sz="1300" dirty="0"/>
          </a:p>
        </p:txBody>
      </p:sp>
      <p:sp>
        <p:nvSpPr>
          <p:cNvPr id="6" name="txt-165"/>
          <p:cNvSpPr txBox="1"/>
          <p:nvPr/>
        </p:nvSpPr>
        <p:spPr>
          <a:xfrm>
            <a:off x="1097280" y="3410712"/>
            <a:ext cx="25603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>
                    <a:alpha val="75000"/>
                  </a:schemeClr>
                </a:solidFill>
              </a:rPr>
              <a:t>03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>
                    <a:alpha val="75000"/>
                  </a:schemeClr>
                </a:solidFill>
              </a:rPr>
              <a:t>기초 스케치 4장</a:t>
            </a:r>
            <a:endParaRPr lang="en-US" sz="1300" dirty="0"/>
          </a:p>
        </p:txBody>
      </p:sp>
      <p:sp>
        <p:nvSpPr>
          <p:cNvPr id="7" name="box-166"/>
          <p:cNvSpPr/>
          <p:nvPr/>
        </p:nvSpPr>
        <p:spPr>
          <a:xfrm>
            <a:off x="932688" y="4206240"/>
            <a:ext cx="2798064" cy="758952"/>
          </a:xfrm>
          <a:prstGeom prst="roundRect">
            <a:avLst>
              <a:gd name="adj" fmla="val 9639"/>
            </a:avLst>
          </a:prstGeom>
          <a:solidFill>
            <a:schemeClr val="accent1"/>
          </a:solidFill>
          <a:ln/>
        </p:spPr>
      </p:sp>
      <p:sp>
        <p:nvSpPr>
          <p:cNvPr id="8" name="txt-167"/>
          <p:cNvSpPr txBox="1"/>
          <p:nvPr/>
        </p:nvSpPr>
        <p:spPr>
          <a:xfrm>
            <a:off x="1097280" y="4224528"/>
            <a:ext cx="25603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토의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모둠별 토의를 통한 주제 결정</a:t>
            </a:r>
            <a:endParaRPr lang="en-US" sz="1300" dirty="0"/>
          </a:p>
        </p:txBody>
      </p:sp>
      <p:sp>
        <p:nvSpPr>
          <p:cNvPr id="9" name="txt-168"/>
          <p:cNvSpPr txBox="1"/>
          <p:nvPr/>
        </p:nvSpPr>
        <p:spPr>
          <a:xfrm>
            <a:off x="1097280" y="5038344"/>
            <a:ext cx="25603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>
                    <a:alpha val="75000"/>
                  </a:schemeClr>
                </a:solidFill>
              </a:rPr>
              <a:t>04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>
                    <a:alpha val="75000"/>
                  </a:schemeClr>
                </a:solidFill>
              </a:rPr>
              <a:t>확정 스케치 (전개도 · 투상도)</a:t>
            </a:r>
            <a:endParaRPr lang="en-US" sz="1300" dirty="0"/>
          </a:p>
        </p:txBody>
      </p:sp>
      <p:sp>
        <p:nvSpPr>
          <p:cNvPr id="10" name="txt-169"/>
          <p:cNvSpPr txBox="1"/>
          <p:nvPr/>
        </p:nvSpPr>
        <p:spPr>
          <a:xfrm>
            <a:off x="4206240" y="10972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토의</a:t>
            </a:r>
            <a:endParaRPr lang="en-US" sz="5400" dirty="0"/>
          </a:p>
        </p:txBody>
      </p:sp>
      <p:sp>
        <p:nvSpPr>
          <p:cNvPr id="11" name="txt-170"/>
          <p:cNvSpPr txBox="1"/>
          <p:nvPr/>
        </p:nvSpPr>
        <p:spPr>
          <a:xfrm>
            <a:off x="4206240" y="20574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모둠 토의로 주제 정하기</a:t>
            </a:r>
            <a:endParaRPr lang="en-US" sz="2100" dirty="0"/>
          </a:p>
        </p:txBody>
      </p:sp>
      <p:sp>
        <p:nvSpPr>
          <p:cNvPr id="12" name="box-171"/>
          <p:cNvSpPr/>
          <p:nvPr/>
        </p:nvSpPr>
        <p:spPr>
          <a:xfrm>
            <a:off x="4206240" y="2926080"/>
            <a:ext cx="356616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3" name="dot-172"/>
          <p:cNvSpPr/>
          <p:nvPr/>
        </p:nvSpPr>
        <p:spPr>
          <a:xfrm>
            <a:off x="4370832" y="3081528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xt-173"/>
          <p:cNvSpPr txBox="1"/>
          <p:nvPr/>
        </p:nvSpPr>
        <p:spPr>
          <a:xfrm>
            <a:off x="4370832" y="3081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5" name="txt-174"/>
          <p:cNvSpPr txBox="1"/>
          <p:nvPr/>
        </p:nvSpPr>
        <p:spPr>
          <a:xfrm>
            <a:off x="4800600" y="303580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개별로 1개 제작할 때</a:t>
            </a:r>
            <a:endParaRPr lang="en-US" sz="1500" dirty="0"/>
          </a:p>
        </p:txBody>
      </p:sp>
      <p:sp>
        <p:nvSpPr>
          <p:cNvPr id="16" name="txt-175"/>
          <p:cNvSpPr txBox="1"/>
          <p:nvPr/>
        </p:nvSpPr>
        <p:spPr>
          <a:xfrm>
            <a:off x="4389120" y="3493008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accent6"/>
                </a:solidFill>
              </a:rPr>
              <a:t>모둠 친구들에게 내 아이디어(스케치 4개)를 말하고 피드백 받기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accent6"/>
                </a:solidFill>
              </a:rPr>
              <a:t>피드백을 반영해 최종 주제와 제목 정하기</a:t>
            </a:r>
            <a:endParaRPr lang="en-US" sz="1200" dirty="0"/>
          </a:p>
        </p:txBody>
      </p:sp>
      <p:sp>
        <p:nvSpPr>
          <p:cNvPr id="17" name="box-176"/>
          <p:cNvSpPr/>
          <p:nvPr/>
        </p:nvSpPr>
        <p:spPr>
          <a:xfrm>
            <a:off x="4206240" y="4526280"/>
            <a:ext cx="356616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18" name="dot-177"/>
          <p:cNvSpPr/>
          <p:nvPr/>
        </p:nvSpPr>
        <p:spPr>
          <a:xfrm>
            <a:off x="4370832" y="4681728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9" name="txt-178"/>
          <p:cNvSpPr txBox="1"/>
          <p:nvPr/>
        </p:nvSpPr>
        <p:spPr>
          <a:xfrm>
            <a:off x="4370832" y="46817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20" name="txt-179"/>
          <p:cNvSpPr txBox="1"/>
          <p:nvPr/>
        </p:nvSpPr>
        <p:spPr>
          <a:xfrm>
            <a:off x="4800600" y="463600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모둠별로 1개 제작할 때</a:t>
            </a:r>
            <a:endParaRPr lang="en-US" sz="1500" dirty="0"/>
          </a:p>
        </p:txBody>
      </p:sp>
      <p:sp>
        <p:nvSpPr>
          <p:cNvPr id="21" name="txt-180"/>
          <p:cNvSpPr txBox="1"/>
          <p:nvPr/>
        </p:nvSpPr>
        <p:spPr>
          <a:xfrm>
            <a:off x="4389120" y="5093208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accent6"/>
                </a:solidFill>
              </a:rPr>
              <a:t>모둠원들의 스케치 4개를 바탕으로, 어떤 주제가 모둠 작품으로 가장 좋을지 토의하기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accent6"/>
                </a:solidFill>
              </a:rPr>
              <a:t>토의를 거쳐 모둠의 주제 하나로 결정하기</a:t>
            </a:r>
            <a:endParaRPr lang="en-US" sz="1200" dirty="0"/>
          </a:p>
        </p:txBody>
      </p:sp>
      <p:sp>
        <p:nvSpPr>
          <p:cNvPr id="22" name="box-181"/>
          <p:cNvSpPr/>
          <p:nvPr/>
        </p:nvSpPr>
        <p:spPr>
          <a:xfrm>
            <a:off x="8001000" y="1280160"/>
            <a:ext cx="3611880" cy="4754880"/>
          </a:xfrm>
          <a:prstGeom prst="roundRect">
            <a:avLst>
              <a:gd name="adj" fmla="val 3038"/>
            </a:avLst>
          </a:prstGeom>
          <a:solidFill>
            <a:schemeClr val="bg2"/>
          </a:solidFill>
          <a:ln/>
        </p:spPr>
      </p:sp>
      <p:sp>
        <p:nvSpPr>
          <p:cNvPr id="23" name="txt-182"/>
          <p:cNvSpPr txBox="1"/>
          <p:nvPr/>
        </p:nvSpPr>
        <p:spPr>
          <a:xfrm>
            <a:off x="8321040" y="1508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피드백은 이렇게</a:t>
            </a:r>
            <a:endParaRPr lang="en-US" sz="1900" dirty="0"/>
          </a:p>
        </p:txBody>
      </p:sp>
      <p:sp>
        <p:nvSpPr>
          <p:cNvPr id="24" name="dot-183"/>
          <p:cNvSpPr/>
          <p:nvPr/>
        </p:nvSpPr>
        <p:spPr>
          <a:xfrm>
            <a:off x="8321040" y="22402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xt-184"/>
          <p:cNvSpPr txBox="1"/>
          <p:nvPr/>
        </p:nvSpPr>
        <p:spPr>
          <a:xfrm>
            <a:off x="832104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26" name="txt-185"/>
          <p:cNvSpPr txBox="1"/>
          <p:nvPr/>
        </p:nvSpPr>
        <p:spPr>
          <a:xfrm>
            <a:off x="8915400" y="222199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좋은 점</a:t>
            </a:r>
            <a:endParaRPr lang="en-US" sz="1600" dirty="0"/>
          </a:p>
        </p:txBody>
      </p:sp>
      <p:sp>
        <p:nvSpPr>
          <p:cNvPr id="27" name="txt-186"/>
          <p:cNvSpPr txBox="1"/>
          <p:nvPr/>
        </p:nvSpPr>
        <p:spPr>
          <a:xfrm>
            <a:off x="8915400" y="265176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가장 마음에 드는 아이디어와 이유</a:t>
            </a:r>
            <a:endParaRPr lang="en-US" sz="1300" dirty="0"/>
          </a:p>
        </p:txBody>
      </p:sp>
      <p:sp>
        <p:nvSpPr>
          <p:cNvPr id="28" name="dot-187"/>
          <p:cNvSpPr/>
          <p:nvPr/>
        </p:nvSpPr>
        <p:spPr>
          <a:xfrm>
            <a:off x="8321040" y="34290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9" name="txt-188"/>
          <p:cNvSpPr txBox="1"/>
          <p:nvPr/>
        </p:nvSpPr>
        <p:spPr>
          <a:xfrm>
            <a:off x="832104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30" name="txt-189"/>
          <p:cNvSpPr txBox="1"/>
          <p:nvPr/>
        </p:nvSpPr>
        <p:spPr>
          <a:xfrm>
            <a:off x="8915400" y="341071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궁금한 점</a:t>
            </a:r>
            <a:endParaRPr lang="en-US" sz="1600" dirty="0"/>
          </a:p>
        </p:txBody>
      </p:sp>
      <p:sp>
        <p:nvSpPr>
          <p:cNvPr id="31" name="txt-190"/>
          <p:cNvSpPr txBox="1"/>
          <p:nvPr/>
        </p:nvSpPr>
        <p:spPr>
          <a:xfrm>
            <a:off x="8915400" y="384048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더 알고 싶은 이야기나 기능</a:t>
            </a:r>
            <a:endParaRPr lang="en-US" sz="1300" dirty="0"/>
          </a:p>
        </p:txBody>
      </p:sp>
      <p:sp>
        <p:nvSpPr>
          <p:cNvPr id="32" name="dot-191"/>
          <p:cNvSpPr/>
          <p:nvPr/>
        </p:nvSpPr>
        <p:spPr>
          <a:xfrm>
            <a:off x="8321040" y="46177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3" name="txt-192"/>
          <p:cNvSpPr txBox="1"/>
          <p:nvPr/>
        </p:nvSpPr>
        <p:spPr>
          <a:xfrm>
            <a:off x="832104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34" name="txt-193"/>
          <p:cNvSpPr txBox="1"/>
          <p:nvPr/>
        </p:nvSpPr>
        <p:spPr>
          <a:xfrm>
            <a:off x="8915400" y="459943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제안</a:t>
            </a:r>
            <a:endParaRPr lang="en-US" sz="1600" dirty="0"/>
          </a:p>
        </p:txBody>
      </p:sp>
      <p:sp>
        <p:nvSpPr>
          <p:cNvPr id="35" name="txt-194"/>
          <p:cNvSpPr txBox="1"/>
          <p:nvPr/>
        </p:nvSpPr>
        <p:spPr>
          <a:xfrm>
            <a:off x="8915400" y="502920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이렇게 바꾸면 더 좋을 것 같은 점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5105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-195"/>
          <p:cNvSpPr txBox="1"/>
          <p:nvPr/>
        </p:nvSpPr>
        <p:spPr>
          <a:xfrm>
            <a:off x="822960" y="1097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Part 1</a:t>
            </a:r>
            <a:endParaRPr lang="en-US" sz="2000" dirty="0"/>
          </a:p>
        </p:txBody>
      </p:sp>
      <p:sp>
        <p:nvSpPr>
          <p:cNvPr id="3" name="box-196"/>
          <p:cNvSpPr/>
          <p:nvPr/>
        </p:nvSpPr>
        <p:spPr>
          <a:xfrm>
            <a:off x="822960" y="1600200"/>
            <a:ext cx="3017520" cy="4434840"/>
          </a:xfrm>
          <a:prstGeom prst="roundRect">
            <a:avLst>
              <a:gd name="adj" fmla="val 3636"/>
            </a:avLst>
          </a:prstGeom>
          <a:solidFill>
            <a:schemeClr val="accent2"/>
          </a:solidFill>
          <a:ln/>
        </p:spPr>
      </p:sp>
      <p:sp>
        <p:nvSpPr>
          <p:cNvPr id="4" name="txt-197"/>
          <p:cNvSpPr txBox="1"/>
          <p:nvPr/>
        </p:nvSpPr>
        <p:spPr>
          <a:xfrm>
            <a:off x="1097280" y="1783080"/>
            <a:ext cx="25603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>
                    <a:alpha val="75000"/>
                  </a:schemeClr>
                </a:solidFill>
              </a:rPr>
              <a:t>01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>
                    <a:alpha val="75000"/>
                  </a:schemeClr>
                </a:solidFill>
              </a:rPr>
              <a:t>내게 도착하면 좋을 물건들 상상</a:t>
            </a:r>
            <a:endParaRPr lang="en-US" sz="1300" dirty="0"/>
          </a:p>
        </p:txBody>
      </p:sp>
      <p:sp>
        <p:nvSpPr>
          <p:cNvPr id="5" name="txt-198"/>
          <p:cNvSpPr txBox="1"/>
          <p:nvPr/>
        </p:nvSpPr>
        <p:spPr>
          <a:xfrm>
            <a:off x="1097280" y="2596896"/>
            <a:ext cx="25603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>
                    <a:alpha val="75000"/>
                  </a:schemeClr>
                </a:solidFill>
              </a:rPr>
              <a:t>02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>
                    <a:alpha val="75000"/>
                  </a:schemeClr>
                </a:solidFill>
              </a:rPr>
              <a:t>브레인스토밍을 통한 아이디어 확장</a:t>
            </a:r>
            <a:endParaRPr lang="en-US" sz="1300" dirty="0"/>
          </a:p>
        </p:txBody>
      </p:sp>
      <p:sp>
        <p:nvSpPr>
          <p:cNvPr id="6" name="txt-199"/>
          <p:cNvSpPr txBox="1"/>
          <p:nvPr/>
        </p:nvSpPr>
        <p:spPr>
          <a:xfrm>
            <a:off x="1097280" y="3410712"/>
            <a:ext cx="25603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>
                    <a:alpha val="75000"/>
                  </a:schemeClr>
                </a:solidFill>
              </a:rPr>
              <a:t>03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>
                    <a:alpha val="75000"/>
                  </a:schemeClr>
                </a:solidFill>
              </a:rPr>
              <a:t>기초 스케치 4장</a:t>
            </a:r>
            <a:endParaRPr lang="en-US" sz="1300" dirty="0"/>
          </a:p>
        </p:txBody>
      </p:sp>
      <p:sp>
        <p:nvSpPr>
          <p:cNvPr id="7" name="txt-200"/>
          <p:cNvSpPr txBox="1"/>
          <p:nvPr/>
        </p:nvSpPr>
        <p:spPr>
          <a:xfrm>
            <a:off x="1097280" y="4224528"/>
            <a:ext cx="25603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>
                    <a:alpha val="75000"/>
                  </a:schemeClr>
                </a:solidFill>
              </a:rPr>
              <a:t>토의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>
                    <a:alpha val="75000"/>
                  </a:schemeClr>
                </a:solidFill>
              </a:rPr>
              <a:t>모둠별 토의를 통한 주제 결정</a:t>
            </a:r>
            <a:endParaRPr lang="en-US" sz="1300" dirty="0"/>
          </a:p>
        </p:txBody>
      </p:sp>
      <p:sp>
        <p:nvSpPr>
          <p:cNvPr id="8" name="box-201"/>
          <p:cNvSpPr/>
          <p:nvPr/>
        </p:nvSpPr>
        <p:spPr>
          <a:xfrm>
            <a:off x="932688" y="5020056"/>
            <a:ext cx="2798064" cy="758952"/>
          </a:xfrm>
          <a:prstGeom prst="roundRect">
            <a:avLst>
              <a:gd name="adj" fmla="val 9639"/>
            </a:avLst>
          </a:prstGeom>
          <a:solidFill>
            <a:schemeClr val="accent1"/>
          </a:solidFill>
          <a:ln/>
        </p:spPr>
      </p:sp>
      <p:sp>
        <p:nvSpPr>
          <p:cNvPr id="9" name="txt-202"/>
          <p:cNvSpPr txBox="1"/>
          <p:nvPr/>
        </p:nvSpPr>
        <p:spPr>
          <a:xfrm>
            <a:off x="1097280" y="5038344"/>
            <a:ext cx="25603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04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확정 스케치 (전개도 · 투상도)</a:t>
            </a:r>
            <a:endParaRPr lang="en-US" sz="1300" dirty="0"/>
          </a:p>
        </p:txBody>
      </p:sp>
      <p:sp>
        <p:nvSpPr>
          <p:cNvPr id="10" name="txt-203"/>
          <p:cNvSpPr txBox="1"/>
          <p:nvPr/>
        </p:nvSpPr>
        <p:spPr>
          <a:xfrm>
            <a:off x="4206240" y="10972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04</a:t>
            </a:r>
            <a:endParaRPr lang="en-US" sz="5400" dirty="0"/>
          </a:p>
        </p:txBody>
      </p:sp>
      <p:sp>
        <p:nvSpPr>
          <p:cNvPr id="11" name="txt-204"/>
          <p:cNvSpPr txBox="1"/>
          <p:nvPr/>
        </p:nvSpPr>
        <p:spPr>
          <a:xfrm>
            <a:off x="4206240" y="20574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확정 스케치 그리기</a:t>
            </a:r>
            <a:endParaRPr lang="en-US" sz="2100" dirty="0"/>
          </a:p>
        </p:txBody>
      </p:sp>
      <p:sp>
        <p:nvSpPr>
          <p:cNvPr id="12" name="txt-205"/>
          <p:cNvSpPr txBox="1"/>
          <p:nvPr/>
        </p:nvSpPr>
        <p:spPr>
          <a:xfrm>
            <a:off x="4206240" y="2971800"/>
            <a:ext cx="3566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accent6"/>
                </a:solidFill>
              </a:rPr>
              <a:t>전개도와 투상도 중 하나를 골라 그리기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accent6"/>
                </a:solidFill>
              </a:rPr>
              <a:t>최종 디자인을 자세히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accent6"/>
                </a:solidFill>
              </a:rPr>
              <a:t>색, 재료, 여는 방법을 표시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accent6"/>
                </a:solidFill>
              </a:rPr>
              <a:t>물건의 이름과 이야기를 함께 적기</a:t>
            </a:r>
            <a:endParaRPr lang="en-US" sz="1500" dirty="0"/>
          </a:p>
        </p:txBody>
      </p:sp>
      <p:pic>
        <p:nvPicPr>
          <p:cNvPr id="13" name="img-206" descr="/home/claude/src/assets/ws2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140929"/>
            <a:ext cx="3611880" cy="4941902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5105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914400" y="324612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아이디어가 상자가 되기까지</a:t>
            </a:r>
            <a:endParaRPr lang="en-US" sz="4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914400" y="41605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A8A8A"/>
                </a:solidFill>
              </a:rPr>
              <a:t>상상 → 브레인스토밍 → 스케치 → 최종 디자인</a:t>
            </a:r>
            <a:endParaRPr lang="en-US" sz="1800" dirty="0"/>
          </a:p>
        </p:txBody>
      </p:sp>
      <p:pic>
        <p:nvPicPr>
          <p:cNvPr id="4" name="sec-box" descr="/home/claude/src/assets/pinkb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7208" y="2194560"/>
            <a:ext cx="1097280" cy="77332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5105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822960" y="9144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사례 1  </a:t>
            </a:r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Mini 600D 카메라를 받고 싶은 마음</a:t>
            </a:r>
            <a:endParaRPr lang="en-US" sz="2800" dirty="0"/>
          </a:p>
        </p:txBody>
      </p:sp>
      <p:pic>
        <p:nvPicPr>
          <p:cNvPr id="3" name="img-207" descr="/home/claude/src/assets/img30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366325"/>
            <a:ext cx="3154680" cy="2491109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4" name="txt-208"/>
          <p:cNvSpPr txBox="1"/>
          <p:nvPr/>
        </p:nvSpPr>
        <p:spPr>
          <a:xfrm>
            <a:off x="822960" y="55321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브레인스토밍</a:t>
            </a:r>
            <a:endParaRPr lang="en-US" sz="1500" dirty="0"/>
          </a:p>
        </p:txBody>
      </p:sp>
      <p:sp>
        <p:nvSpPr>
          <p:cNvPr id="5" name="arrow-209"/>
          <p:cNvSpPr/>
          <p:nvPr/>
        </p:nvSpPr>
        <p:spPr>
          <a:xfrm>
            <a:off x="4133088" y="3429000"/>
            <a:ext cx="237744" cy="365760"/>
          </a:xfrm>
          <a:prstGeom prst="chevron">
            <a:avLst/>
          </a:prstGeom>
          <a:solidFill>
            <a:schemeClr val="accent1"/>
          </a:solidFill>
          <a:ln/>
        </p:spPr>
      </p:sp>
      <p:pic>
        <p:nvPicPr>
          <p:cNvPr id="6" name="img-210" descr="/home/claude/src/assets/img3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2744150"/>
            <a:ext cx="3154680" cy="173546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7" name="txt-211"/>
          <p:cNvSpPr txBox="1"/>
          <p:nvPr/>
        </p:nvSpPr>
        <p:spPr>
          <a:xfrm>
            <a:off x="4526280" y="55321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아이디어 스케치</a:t>
            </a:r>
            <a:endParaRPr lang="en-US" sz="1500" dirty="0"/>
          </a:p>
        </p:txBody>
      </p:sp>
      <p:sp>
        <p:nvSpPr>
          <p:cNvPr id="8" name="arrow-212"/>
          <p:cNvSpPr/>
          <p:nvPr/>
        </p:nvSpPr>
        <p:spPr>
          <a:xfrm>
            <a:off x="7836408" y="3429000"/>
            <a:ext cx="237744" cy="365760"/>
          </a:xfrm>
          <a:prstGeom prst="chevron">
            <a:avLst/>
          </a:prstGeom>
          <a:solidFill>
            <a:schemeClr val="accent1"/>
          </a:solidFill>
          <a:ln/>
        </p:spPr>
      </p:sp>
      <p:pic>
        <p:nvPicPr>
          <p:cNvPr id="9" name="img-213" descr="/home/claude/src/assets/img34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953541"/>
            <a:ext cx="3154680" cy="3316677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10" name="txt-214"/>
          <p:cNvSpPr txBox="1"/>
          <p:nvPr/>
        </p:nvSpPr>
        <p:spPr>
          <a:xfrm>
            <a:off x="8229600" y="55321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최종 디자인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5105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822960" y="9144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사례 2  </a:t>
            </a:r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화면 속 물건을 꺼낼 수 있는 TV</a:t>
            </a:r>
            <a:endParaRPr lang="en-US" sz="2800" dirty="0"/>
          </a:p>
        </p:txBody>
      </p:sp>
      <p:pic>
        <p:nvPicPr>
          <p:cNvPr id="3" name="img-215" descr="/home/claude/src/assets/img43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858700"/>
            <a:ext cx="3154680" cy="150636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4" name="txt-216"/>
          <p:cNvSpPr txBox="1"/>
          <p:nvPr/>
        </p:nvSpPr>
        <p:spPr>
          <a:xfrm>
            <a:off x="822960" y="55321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내가 꿈꾸는 것</a:t>
            </a:r>
            <a:endParaRPr lang="en-US" sz="1500" dirty="0"/>
          </a:p>
        </p:txBody>
      </p:sp>
      <p:sp>
        <p:nvSpPr>
          <p:cNvPr id="5" name="arrow-217"/>
          <p:cNvSpPr/>
          <p:nvPr/>
        </p:nvSpPr>
        <p:spPr>
          <a:xfrm>
            <a:off x="4133088" y="3429000"/>
            <a:ext cx="237744" cy="365760"/>
          </a:xfrm>
          <a:prstGeom prst="chevron">
            <a:avLst/>
          </a:prstGeom>
          <a:solidFill>
            <a:schemeClr val="accent1"/>
          </a:solidFill>
          <a:ln/>
        </p:spPr>
      </p:sp>
      <p:pic>
        <p:nvPicPr>
          <p:cNvPr id="6" name="img-218" descr="/home/claude/src/assets/img45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2704910"/>
            <a:ext cx="3154680" cy="1813941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7" name="txt-219"/>
          <p:cNvSpPr txBox="1"/>
          <p:nvPr/>
        </p:nvSpPr>
        <p:spPr>
          <a:xfrm>
            <a:off x="4526280" y="55321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브레인스토밍</a:t>
            </a:r>
            <a:endParaRPr lang="en-US" sz="1500" dirty="0"/>
          </a:p>
        </p:txBody>
      </p:sp>
      <p:sp>
        <p:nvSpPr>
          <p:cNvPr id="8" name="arrow-220"/>
          <p:cNvSpPr/>
          <p:nvPr/>
        </p:nvSpPr>
        <p:spPr>
          <a:xfrm>
            <a:off x="7836408" y="3429000"/>
            <a:ext cx="237744" cy="365760"/>
          </a:xfrm>
          <a:prstGeom prst="chevron">
            <a:avLst/>
          </a:prstGeom>
          <a:solidFill>
            <a:schemeClr val="accent1"/>
          </a:solidFill>
          <a:ln/>
        </p:spPr>
      </p:sp>
      <p:pic>
        <p:nvPicPr>
          <p:cNvPr id="9" name="img-221" descr="/home/claude/src/assets/img48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314518"/>
            <a:ext cx="3154680" cy="2594724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10" name="txt-222"/>
          <p:cNvSpPr txBox="1"/>
          <p:nvPr/>
        </p:nvSpPr>
        <p:spPr>
          <a:xfrm>
            <a:off x="8229600" y="55321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최종 디자인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5105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822960" y="9144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사례 3  </a:t>
            </a:r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초식남이 왔으면 좋겠다는 상상</a:t>
            </a:r>
            <a:endParaRPr lang="en-US" sz="2800" dirty="0"/>
          </a:p>
        </p:txBody>
      </p:sp>
      <p:pic>
        <p:nvPicPr>
          <p:cNvPr id="3" name="img-223" descr="/home/claude/src/assets/img50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898134"/>
            <a:ext cx="3154680" cy="1427493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4" name="txt-224"/>
          <p:cNvSpPr txBox="1"/>
          <p:nvPr/>
        </p:nvSpPr>
        <p:spPr>
          <a:xfrm>
            <a:off x="822960" y="55321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내가 꿈꾸는 것</a:t>
            </a:r>
            <a:endParaRPr lang="en-US" sz="1500" dirty="0"/>
          </a:p>
        </p:txBody>
      </p:sp>
      <p:sp>
        <p:nvSpPr>
          <p:cNvPr id="5" name="arrow-225"/>
          <p:cNvSpPr/>
          <p:nvPr/>
        </p:nvSpPr>
        <p:spPr>
          <a:xfrm>
            <a:off x="4133088" y="3429000"/>
            <a:ext cx="237744" cy="365760"/>
          </a:xfrm>
          <a:prstGeom prst="chevron">
            <a:avLst/>
          </a:prstGeom>
          <a:solidFill>
            <a:schemeClr val="accent1"/>
          </a:solidFill>
          <a:ln/>
        </p:spPr>
      </p:sp>
      <p:pic>
        <p:nvPicPr>
          <p:cNvPr id="6" name="img-226" descr="/home/claude/src/assets/img52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975390"/>
            <a:ext cx="3154680" cy="3272981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7" name="txt-227"/>
          <p:cNvSpPr txBox="1"/>
          <p:nvPr/>
        </p:nvSpPr>
        <p:spPr>
          <a:xfrm>
            <a:off x="4526280" y="55321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아이디어 스케치</a:t>
            </a:r>
            <a:endParaRPr lang="en-US" sz="1500" dirty="0"/>
          </a:p>
        </p:txBody>
      </p:sp>
      <p:sp>
        <p:nvSpPr>
          <p:cNvPr id="8" name="arrow-228"/>
          <p:cNvSpPr/>
          <p:nvPr/>
        </p:nvSpPr>
        <p:spPr>
          <a:xfrm>
            <a:off x="7836408" y="3429000"/>
            <a:ext cx="237744" cy="365760"/>
          </a:xfrm>
          <a:prstGeom prst="chevron">
            <a:avLst/>
          </a:prstGeom>
          <a:solidFill>
            <a:schemeClr val="accent1"/>
          </a:solidFill>
          <a:ln/>
        </p:spPr>
      </p:sp>
      <p:pic>
        <p:nvPicPr>
          <p:cNvPr id="9" name="img-229" descr="/home/claude/src/assets/img54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387470"/>
            <a:ext cx="3154680" cy="244882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10" name="txt-230"/>
          <p:cNvSpPr txBox="1"/>
          <p:nvPr/>
        </p:nvSpPr>
        <p:spPr>
          <a:xfrm>
            <a:off x="8229600" y="55321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최종 디자인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5105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822960" y="9144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사례 4  </a:t>
            </a:r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사랑이 가득 담긴 심장</a:t>
            </a:r>
            <a:endParaRPr lang="en-US" sz="2800" dirty="0"/>
          </a:p>
        </p:txBody>
      </p:sp>
      <p:pic>
        <p:nvPicPr>
          <p:cNvPr id="3" name="img-231" descr="/home/claude/src/assets/img56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850813"/>
            <a:ext cx="3154680" cy="1522133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4" name="txt-232"/>
          <p:cNvSpPr txBox="1"/>
          <p:nvPr/>
        </p:nvSpPr>
        <p:spPr>
          <a:xfrm>
            <a:off x="822960" y="55321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내가 꿈꾸는 것</a:t>
            </a:r>
            <a:endParaRPr lang="en-US" sz="1500" dirty="0"/>
          </a:p>
        </p:txBody>
      </p:sp>
      <p:sp>
        <p:nvSpPr>
          <p:cNvPr id="5" name="arrow-233"/>
          <p:cNvSpPr/>
          <p:nvPr/>
        </p:nvSpPr>
        <p:spPr>
          <a:xfrm>
            <a:off x="4133088" y="3429000"/>
            <a:ext cx="237744" cy="365760"/>
          </a:xfrm>
          <a:prstGeom prst="chevron">
            <a:avLst/>
          </a:prstGeom>
          <a:solidFill>
            <a:schemeClr val="accent1"/>
          </a:solidFill>
          <a:ln/>
        </p:spPr>
      </p:sp>
      <p:pic>
        <p:nvPicPr>
          <p:cNvPr id="6" name="img-234" descr="/home/claude/src/assets/img57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2400300"/>
            <a:ext cx="3154680" cy="242316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7" name="txt-235"/>
          <p:cNvSpPr txBox="1"/>
          <p:nvPr/>
        </p:nvSpPr>
        <p:spPr>
          <a:xfrm>
            <a:off x="4526280" y="55321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브레인스토밍</a:t>
            </a:r>
            <a:endParaRPr lang="en-US" sz="1500" dirty="0"/>
          </a:p>
        </p:txBody>
      </p:sp>
      <p:sp>
        <p:nvSpPr>
          <p:cNvPr id="8" name="arrow-236"/>
          <p:cNvSpPr/>
          <p:nvPr/>
        </p:nvSpPr>
        <p:spPr>
          <a:xfrm>
            <a:off x="7836408" y="3429000"/>
            <a:ext cx="237744" cy="365760"/>
          </a:xfrm>
          <a:prstGeom prst="chevron">
            <a:avLst/>
          </a:prstGeom>
          <a:solidFill>
            <a:schemeClr val="accent1"/>
          </a:solidFill>
          <a:ln/>
        </p:spPr>
      </p:sp>
      <p:pic>
        <p:nvPicPr>
          <p:cNvPr id="9" name="img-237" descr="/home/claude/src/assets/img60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215934"/>
            <a:ext cx="3154680" cy="2791892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10" name="txt-238"/>
          <p:cNvSpPr txBox="1"/>
          <p:nvPr/>
        </p:nvSpPr>
        <p:spPr>
          <a:xfrm>
            <a:off x="8229600" y="55321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최종 디자인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5105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914400" y="324612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아이디어 스케치 모음</a:t>
            </a:r>
            <a:endParaRPr lang="en-US" sz="4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914400" y="41605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A8A8A"/>
                </a:solidFill>
              </a:rPr>
              <a:t>상자의 여섯 면을 모두 무대로 써 보세요</a:t>
            </a:r>
            <a:endParaRPr lang="en-US" sz="1800" dirty="0"/>
          </a:p>
        </p:txBody>
      </p:sp>
      <p:pic>
        <p:nvPicPr>
          <p:cNvPr id="4" name="sec-box" descr="/home/claude/src/assets/pinkb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7208" y="2194560"/>
            <a:ext cx="1097280" cy="77332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5105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g-239" descr="/home/claude/src/assets/img6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236470"/>
            <a:ext cx="5120640" cy="284226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pic>
        <p:nvPicPr>
          <p:cNvPr id="3" name="img-240" descr="/home/claude/src/assets/img67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2077479"/>
            <a:ext cx="5120640" cy="3160241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5105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g-241" descr="/home/claude/src/assets/img68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301047"/>
            <a:ext cx="5120640" cy="2713106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pic>
        <p:nvPicPr>
          <p:cNvPr id="3" name="img-242" descr="/home/claude/src/assets/img69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2198218"/>
            <a:ext cx="5120640" cy="2918765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5105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g-243" descr="/home/claude/src/assets/img70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214015"/>
            <a:ext cx="5120640" cy="2887169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pic>
        <p:nvPicPr>
          <p:cNvPr id="3" name="img-244" descr="/home/claude/src/assets/img71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890979"/>
            <a:ext cx="5120640" cy="3533242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5105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g-245" descr="/home/claude/src/assets/img72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18146"/>
            <a:ext cx="5120640" cy="3078907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pic>
        <p:nvPicPr>
          <p:cNvPr id="3" name="img-246" descr="/home/claude/src/assets/img73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213658"/>
            <a:ext cx="5120640" cy="4887884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5105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822960" y="9144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Part 2 — 이제 직접 만들어 봅시다</a:t>
            </a:r>
            <a:endParaRPr lang="en-US" sz="2800" dirty="0"/>
          </a:p>
        </p:txBody>
      </p:sp>
      <p:sp>
        <p:nvSpPr>
          <p:cNvPr id="3" name="box-247"/>
          <p:cNvSpPr/>
          <p:nvPr/>
        </p:nvSpPr>
        <p:spPr>
          <a:xfrm>
            <a:off x="822960" y="1828800"/>
            <a:ext cx="3337560" cy="4069080"/>
          </a:xfrm>
          <a:prstGeom prst="roundRect">
            <a:avLst>
              <a:gd name="adj" fmla="val 3288"/>
            </a:avLst>
          </a:prstGeom>
          <a:solidFill>
            <a:schemeClr val="accent4"/>
          </a:solidFill>
          <a:ln/>
        </p:spPr>
      </p:sp>
      <p:sp>
        <p:nvSpPr>
          <p:cNvPr id="4" name="txt-248"/>
          <p:cNvSpPr txBox="1"/>
          <p:nvPr/>
        </p:nvSpPr>
        <p:spPr>
          <a:xfrm>
            <a:off x="1143000" y="205740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01</a:t>
            </a:r>
            <a:endParaRPr lang="en-US" sz="3200" dirty="0"/>
          </a:p>
        </p:txBody>
      </p:sp>
      <p:sp>
        <p:nvSpPr>
          <p:cNvPr id="5" name="txt-249"/>
          <p:cNvSpPr txBox="1"/>
          <p:nvPr/>
        </p:nvSpPr>
        <p:spPr>
          <a:xfrm>
            <a:off x="1143000" y="269748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2"/>
                </a:solidFill>
              </a:rPr>
              <a:t>재료 연구</a:t>
            </a:r>
            <a:endParaRPr lang="en-US" sz="2100" dirty="0"/>
          </a:p>
        </p:txBody>
      </p:sp>
      <p:sp>
        <p:nvSpPr>
          <p:cNvPr id="6" name="txt-250"/>
          <p:cNvSpPr txBox="1"/>
          <p:nvPr/>
        </p:nvSpPr>
        <p:spPr>
          <a:xfrm>
            <a:off x="1143000" y="3383280"/>
            <a:ext cx="2788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아크릴로 색칠하기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지점토로 붙이기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기존 물건으로 콜라주하기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나만의 다양한 방식으로 작품 구현하기</a:t>
            </a:r>
            <a:endParaRPr lang="en-US" sz="1500" dirty="0"/>
          </a:p>
        </p:txBody>
      </p:sp>
      <p:sp>
        <p:nvSpPr>
          <p:cNvPr id="7" name="box-251"/>
          <p:cNvSpPr/>
          <p:nvPr/>
        </p:nvSpPr>
        <p:spPr>
          <a:xfrm>
            <a:off x="4434840" y="1828800"/>
            <a:ext cx="3337560" cy="4069080"/>
          </a:xfrm>
          <a:prstGeom prst="roundRect">
            <a:avLst>
              <a:gd name="adj" fmla="val 3288"/>
            </a:avLst>
          </a:prstGeom>
          <a:solidFill>
            <a:schemeClr val="accent2"/>
          </a:solidFill>
          <a:ln/>
        </p:spPr>
      </p:sp>
      <p:sp>
        <p:nvSpPr>
          <p:cNvPr id="8" name="txt-252"/>
          <p:cNvSpPr txBox="1"/>
          <p:nvPr/>
        </p:nvSpPr>
        <p:spPr>
          <a:xfrm>
            <a:off x="4754880" y="205740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02</a:t>
            </a:r>
            <a:endParaRPr lang="en-US" sz="3200" dirty="0"/>
          </a:p>
        </p:txBody>
      </p:sp>
      <p:sp>
        <p:nvSpPr>
          <p:cNvPr id="9" name="txt-253"/>
          <p:cNvSpPr txBox="1"/>
          <p:nvPr/>
        </p:nvSpPr>
        <p:spPr>
          <a:xfrm>
            <a:off x="4754880" y="269748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실제 제작</a:t>
            </a:r>
            <a:endParaRPr lang="en-US" sz="2100" dirty="0"/>
          </a:p>
        </p:txBody>
      </p:sp>
      <p:sp>
        <p:nvSpPr>
          <p:cNvPr id="10" name="txt-254"/>
          <p:cNvSpPr txBox="1"/>
          <p:nvPr/>
        </p:nvSpPr>
        <p:spPr>
          <a:xfrm>
            <a:off x="4754880" y="3383280"/>
            <a:ext cx="2788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확정 스케치를 옆에 두고 만들기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여섯 면을 모두 완성하기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여는 방법과 안쪽 연출까지 생각하기</a:t>
            </a:r>
            <a:endParaRPr lang="en-US" sz="1500" dirty="0"/>
          </a:p>
        </p:txBody>
      </p:sp>
      <p:sp>
        <p:nvSpPr>
          <p:cNvPr id="11" name="box-255"/>
          <p:cNvSpPr/>
          <p:nvPr/>
        </p:nvSpPr>
        <p:spPr>
          <a:xfrm>
            <a:off x="8046720" y="1828800"/>
            <a:ext cx="3337560" cy="4069080"/>
          </a:xfrm>
          <a:prstGeom prst="roundRect">
            <a:avLst>
              <a:gd name="adj" fmla="val 3288"/>
            </a:avLst>
          </a:prstGeom>
          <a:solidFill>
            <a:schemeClr val="accent4"/>
          </a:solidFill>
          <a:ln/>
        </p:spPr>
      </p:sp>
      <p:sp>
        <p:nvSpPr>
          <p:cNvPr id="12" name="txt-256"/>
          <p:cNvSpPr txBox="1"/>
          <p:nvPr/>
        </p:nvSpPr>
        <p:spPr>
          <a:xfrm>
            <a:off x="8366760" y="205740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03</a:t>
            </a:r>
            <a:endParaRPr lang="en-US" sz="3200" dirty="0"/>
          </a:p>
        </p:txBody>
      </p:sp>
      <p:sp>
        <p:nvSpPr>
          <p:cNvPr id="13" name="txt-257"/>
          <p:cNvSpPr txBox="1"/>
          <p:nvPr/>
        </p:nvSpPr>
        <p:spPr>
          <a:xfrm>
            <a:off x="8366760" y="269748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2"/>
                </a:solidFill>
              </a:rPr>
              <a:t>감상문</a:t>
            </a:r>
            <a:endParaRPr lang="en-US" sz="2100" dirty="0"/>
          </a:p>
        </p:txBody>
      </p:sp>
      <p:sp>
        <p:nvSpPr>
          <p:cNvPr id="14" name="txt-258"/>
          <p:cNvSpPr txBox="1"/>
          <p:nvPr/>
        </p:nvSpPr>
        <p:spPr>
          <a:xfrm>
            <a:off x="8366760" y="3383280"/>
            <a:ext cx="2788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내 상자에 담긴 이야기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친구 작품 평가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내 작품 제작 과정 자기 평가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5105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822960" y="9144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우리 상자를 소개합니다</a:t>
            </a:r>
            <a:endParaRPr lang="en-US" sz="2800" dirty="0"/>
          </a:p>
        </p:txBody>
      </p:sp>
      <p:sp>
        <p:nvSpPr>
          <p:cNvPr id="3" name="dot-259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xt-260"/>
          <p:cNvSpPr txBox="1"/>
          <p:nvPr/>
        </p:nvSpPr>
        <p:spPr>
          <a:xfrm>
            <a:off x="82296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xt-261"/>
          <p:cNvSpPr txBox="1"/>
          <p:nvPr/>
        </p:nvSpPr>
        <p:spPr>
          <a:xfrm>
            <a:off x="1600200" y="182880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물건의 이름</a:t>
            </a:r>
            <a:endParaRPr lang="en-US" sz="1900" dirty="0"/>
          </a:p>
        </p:txBody>
      </p:sp>
      <p:sp>
        <p:nvSpPr>
          <p:cNvPr id="6" name="txt-262"/>
          <p:cNvSpPr txBox="1"/>
          <p:nvPr/>
        </p:nvSpPr>
        <p:spPr>
          <a:xfrm>
            <a:off x="1600200" y="222199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상자 안에 들어 있는 상상의 물건은?</a:t>
            </a:r>
            <a:endParaRPr lang="en-US" sz="1500" dirty="0"/>
          </a:p>
        </p:txBody>
      </p:sp>
      <p:sp>
        <p:nvSpPr>
          <p:cNvPr id="7" name="dot-263"/>
          <p:cNvSpPr/>
          <p:nvPr/>
        </p:nvSpPr>
        <p:spPr>
          <a:xfrm>
            <a:off x="822960" y="289864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xt-264"/>
          <p:cNvSpPr txBox="1"/>
          <p:nvPr/>
        </p:nvSpPr>
        <p:spPr>
          <a:xfrm>
            <a:off x="822960" y="28986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xt-265"/>
          <p:cNvSpPr txBox="1"/>
          <p:nvPr/>
        </p:nvSpPr>
        <p:spPr>
          <a:xfrm>
            <a:off x="1600200" y="285292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이야기</a:t>
            </a:r>
            <a:endParaRPr lang="en-US" sz="1900" dirty="0"/>
          </a:p>
        </p:txBody>
      </p:sp>
      <p:sp>
        <p:nvSpPr>
          <p:cNvPr id="10" name="txt-266"/>
          <p:cNvSpPr txBox="1"/>
          <p:nvPr/>
        </p:nvSpPr>
        <p:spPr>
          <a:xfrm>
            <a:off x="1600200" y="32461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누구에게, 왜 필요한 물건인가요?</a:t>
            </a:r>
            <a:endParaRPr lang="en-US" sz="1500" dirty="0"/>
          </a:p>
        </p:txBody>
      </p:sp>
      <p:sp>
        <p:nvSpPr>
          <p:cNvPr id="11" name="dot-267"/>
          <p:cNvSpPr/>
          <p:nvPr/>
        </p:nvSpPr>
        <p:spPr>
          <a:xfrm>
            <a:off x="822960" y="3922776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xt-268"/>
          <p:cNvSpPr txBox="1"/>
          <p:nvPr/>
        </p:nvSpPr>
        <p:spPr>
          <a:xfrm>
            <a:off x="822960" y="39227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xt-269"/>
          <p:cNvSpPr txBox="1"/>
          <p:nvPr/>
        </p:nvSpPr>
        <p:spPr>
          <a:xfrm>
            <a:off x="1600200" y="387705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디자인 포인트</a:t>
            </a:r>
            <a:endParaRPr lang="en-US" sz="1900" dirty="0"/>
          </a:p>
        </p:txBody>
      </p:sp>
      <p:sp>
        <p:nvSpPr>
          <p:cNvPr id="14" name="txt-270"/>
          <p:cNvSpPr txBox="1"/>
          <p:nvPr/>
        </p:nvSpPr>
        <p:spPr>
          <a:xfrm>
            <a:off x="1600200" y="427024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색, 형태, 여는 방식에 담은 의도</a:t>
            </a:r>
            <a:endParaRPr lang="en-US" sz="1500" dirty="0"/>
          </a:p>
        </p:txBody>
      </p:sp>
      <p:sp>
        <p:nvSpPr>
          <p:cNvPr id="15" name="dot-271"/>
          <p:cNvSpPr/>
          <p:nvPr/>
        </p:nvSpPr>
        <p:spPr>
          <a:xfrm>
            <a:off x="822960" y="4946904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xt-272"/>
          <p:cNvSpPr txBox="1"/>
          <p:nvPr/>
        </p:nvSpPr>
        <p:spPr>
          <a:xfrm>
            <a:off x="822960" y="49469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7" name="txt-273"/>
          <p:cNvSpPr txBox="1"/>
          <p:nvPr/>
        </p:nvSpPr>
        <p:spPr>
          <a:xfrm>
            <a:off x="1600200" y="490118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달라진 점</a:t>
            </a:r>
            <a:endParaRPr lang="en-US" sz="1900" dirty="0"/>
          </a:p>
        </p:txBody>
      </p:sp>
      <p:sp>
        <p:nvSpPr>
          <p:cNvPr id="18" name="txt-274"/>
          <p:cNvSpPr txBox="1"/>
          <p:nvPr/>
        </p:nvSpPr>
        <p:spPr>
          <a:xfrm>
            <a:off x="1600200" y="529437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스케치에서 완성까지 무엇이 바뀌었나요?</a:t>
            </a:r>
            <a:endParaRPr lang="en-US" sz="1500" dirty="0"/>
          </a:p>
        </p:txBody>
      </p:sp>
      <p:pic>
        <p:nvPicPr>
          <p:cNvPr id="19" name="img-275" descr="/home/claude/src/assets/img8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1965960"/>
            <a:ext cx="5120640" cy="384048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5105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g-276" descr="/home/claude/src/assets/smi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94460"/>
            <a:ext cx="6035040" cy="452628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3" name="txt-277"/>
          <p:cNvSpPr txBox="1"/>
          <p:nvPr/>
        </p:nvSpPr>
        <p:spPr>
          <a:xfrm>
            <a:off x="7269480" y="1600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8A8A"/>
                </a:solidFill>
              </a:rPr>
              <a:t>상자에 담긴 물건</a:t>
            </a:r>
            <a:endParaRPr lang="en-US" sz="1500" dirty="0"/>
          </a:p>
        </p:txBody>
      </p:sp>
      <p:sp>
        <p:nvSpPr>
          <p:cNvPr id="4" name="txt-278"/>
          <p:cNvSpPr txBox="1"/>
          <p:nvPr/>
        </p:nvSpPr>
        <p:spPr>
          <a:xfrm>
            <a:off x="7269480" y="196596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웃음</a:t>
            </a:r>
            <a:endParaRPr lang="en-US" sz="4400" dirty="0"/>
          </a:p>
        </p:txBody>
      </p:sp>
      <p:sp>
        <p:nvSpPr>
          <p:cNvPr id="5" name="txt-279"/>
          <p:cNvSpPr txBox="1"/>
          <p:nvPr/>
        </p:nvSpPr>
        <p:spPr>
          <a:xfrm>
            <a:off x="7269480" y="28346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웃음을 배달하는 상자</a:t>
            </a:r>
            <a:endParaRPr lang="en-US" sz="2200" dirty="0"/>
          </a:p>
        </p:txBody>
      </p:sp>
      <p:sp>
        <p:nvSpPr>
          <p:cNvPr id="6" name="txt-280"/>
          <p:cNvSpPr txBox="1"/>
          <p:nvPr/>
        </p:nvSpPr>
        <p:spPr>
          <a:xfrm>
            <a:off x="7269480" y="347472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chemeClr val="accent6"/>
                </a:solidFill>
              </a:rPr>
              <a:t>평소에 웃음을 선물하고, 또 선물 받고 싶어 하는 친구의 작품이에요.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chemeClr val="accent6"/>
                </a:solidFill>
              </a:rPr>
              <a:t>웃음을 배달하기에는 늘 잘 웃는 스폰지밥이 가장 잘 어울린다고 생각했대요.</a:t>
            </a:r>
            <a:endParaRPr lang="en-US" sz="1500" dirty="0"/>
          </a:p>
        </p:txBody>
      </p:sp>
      <p:sp>
        <p:nvSpPr>
          <p:cNvPr id="7" name="box-281"/>
          <p:cNvSpPr/>
          <p:nvPr/>
        </p:nvSpPr>
        <p:spPr>
          <a:xfrm>
            <a:off x="7269480" y="5120640"/>
            <a:ext cx="411480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8" name="txt-282"/>
          <p:cNvSpPr txBox="1"/>
          <p:nvPr/>
        </p:nvSpPr>
        <p:spPr>
          <a:xfrm>
            <a:off x="7498080" y="51206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보이지 않는 마음도 상자에 담을 수 있어요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5105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g-283" descr="/home/claude/src/assets/alic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94460"/>
            <a:ext cx="6035040" cy="452628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3" name="txt-284"/>
          <p:cNvSpPr txBox="1"/>
          <p:nvPr/>
        </p:nvSpPr>
        <p:spPr>
          <a:xfrm>
            <a:off x="7269480" y="1600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8A8A"/>
                </a:solidFill>
              </a:rPr>
              <a:t>상자에 담긴 물건</a:t>
            </a:r>
            <a:endParaRPr lang="en-US" sz="1500" dirty="0"/>
          </a:p>
        </p:txBody>
      </p:sp>
      <p:sp>
        <p:nvSpPr>
          <p:cNvPr id="4" name="txt-285"/>
          <p:cNvSpPr txBox="1"/>
          <p:nvPr/>
        </p:nvSpPr>
        <p:spPr>
          <a:xfrm>
            <a:off x="7269480" y="196596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쑥쑥쑥</a:t>
            </a:r>
            <a:endParaRPr lang="en-US" sz="3600" dirty="0"/>
          </a:p>
        </p:txBody>
      </p:sp>
      <p:sp>
        <p:nvSpPr>
          <p:cNvPr id="5" name="txt-286"/>
          <p:cNvSpPr txBox="1"/>
          <p:nvPr/>
        </p:nvSpPr>
        <p:spPr>
          <a:xfrm>
            <a:off x="7269480" y="28346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앨리스의 키가 커지는 약</a:t>
            </a:r>
            <a:endParaRPr lang="en-US" sz="2200" dirty="0"/>
          </a:p>
        </p:txBody>
      </p:sp>
      <p:sp>
        <p:nvSpPr>
          <p:cNvPr id="6" name="txt-287"/>
          <p:cNvSpPr txBox="1"/>
          <p:nvPr/>
        </p:nvSpPr>
        <p:spPr>
          <a:xfrm>
            <a:off x="7269480" y="347472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chemeClr val="accent6"/>
                </a:solidFill>
              </a:rPr>
              <a:t>《이상한 나라의 앨리스》에서 키가 커졌다 작아졌다 하는 약을 보고 떠올린 선물이에요.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chemeClr val="accent6"/>
                </a:solidFill>
              </a:rPr>
              <a:t>키가 작아서 속상했던 친구가 가장 받고 싶은 물건이었대요.</a:t>
            </a:r>
            <a:endParaRPr lang="en-US" sz="1500" dirty="0"/>
          </a:p>
        </p:txBody>
      </p:sp>
      <p:sp>
        <p:nvSpPr>
          <p:cNvPr id="7" name="box-288"/>
          <p:cNvSpPr/>
          <p:nvPr/>
        </p:nvSpPr>
        <p:spPr>
          <a:xfrm>
            <a:off x="7269480" y="5120640"/>
            <a:ext cx="411480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8" name="txt-289"/>
          <p:cNvSpPr txBox="1"/>
          <p:nvPr/>
        </p:nvSpPr>
        <p:spPr>
          <a:xfrm>
            <a:off x="7498080" y="51206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이야기 속 물건을 내 고민과 연결했어요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5105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g-290" descr="/home/claude/src/assets/port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94460"/>
            <a:ext cx="6035040" cy="452628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3" name="txt-291"/>
          <p:cNvSpPr txBox="1"/>
          <p:nvPr/>
        </p:nvSpPr>
        <p:spPr>
          <a:xfrm>
            <a:off x="7269480" y="1600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8A8A"/>
                </a:solidFill>
              </a:rPr>
              <a:t>상자에 담긴 물건</a:t>
            </a:r>
            <a:endParaRPr lang="en-US" sz="1500" dirty="0"/>
          </a:p>
        </p:txBody>
      </p:sp>
      <p:sp>
        <p:nvSpPr>
          <p:cNvPr id="4" name="txt-292"/>
          <p:cNvSpPr txBox="1"/>
          <p:nvPr/>
        </p:nvSpPr>
        <p:spPr>
          <a:xfrm>
            <a:off x="7269480" y="196596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책 속의 세계로</a:t>
            </a:r>
            <a:endParaRPr lang="en-US" sz="3600" dirty="0"/>
          </a:p>
        </p:txBody>
      </p:sp>
      <p:sp>
        <p:nvSpPr>
          <p:cNvPr id="5" name="txt-293"/>
          <p:cNvSpPr txBox="1"/>
          <p:nvPr/>
        </p:nvSpPr>
        <p:spPr>
          <a:xfrm>
            <a:off x="7269480" y="28346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소설 속으로 들어가는 포탈</a:t>
            </a:r>
            <a:endParaRPr lang="en-US" sz="2200" dirty="0"/>
          </a:p>
        </p:txBody>
      </p:sp>
      <p:sp>
        <p:nvSpPr>
          <p:cNvPr id="6" name="txt-294"/>
          <p:cNvSpPr txBox="1"/>
          <p:nvPr/>
        </p:nvSpPr>
        <p:spPr>
          <a:xfrm>
            <a:off x="7269480" y="347472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chemeClr val="accent6"/>
                </a:solidFill>
              </a:rPr>
              <a:t>책을 열면 좋아하는 소설 속으로 들어갈 수 있는 포탈이 담겨 있어요.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chemeClr val="accent6"/>
                </a:solidFill>
              </a:rPr>
              <a:t>판타지 소설 속으로 들어가고 싶었던 적이 있었던 친구의 상상이에요.</a:t>
            </a:r>
            <a:endParaRPr lang="en-US" sz="1500" dirty="0"/>
          </a:p>
        </p:txBody>
      </p:sp>
      <p:sp>
        <p:nvSpPr>
          <p:cNvPr id="7" name="box-295"/>
          <p:cNvSpPr/>
          <p:nvPr/>
        </p:nvSpPr>
        <p:spPr>
          <a:xfrm>
            <a:off x="7269480" y="5120640"/>
            <a:ext cx="411480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8" name="txt-296"/>
          <p:cNvSpPr txBox="1"/>
          <p:nvPr/>
        </p:nvSpPr>
        <p:spPr>
          <a:xfrm>
            <a:off x="7498080" y="51206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내가 좋아하는 것이 곧 아이디어가 돼요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5105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-297"/>
          <p:cNvSpPr txBox="1"/>
          <p:nvPr/>
        </p:nvSpPr>
        <p:spPr>
          <a:xfrm>
            <a:off x="914400" y="2834640"/>
            <a:ext cx="10360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수고하셨습니다.</a:t>
            </a:r>
            <a:endParaRPr lang="en-US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5105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ink Box">
  <a:themeElements>
    <a:clrScheme name="Pink Box">
      <a:dk1>
        <a:srgbClr val="222222"/>
      </a:dk1>
      <a:lt1>
        <a:srgbClr val="FFFFFF"/>
      </a:lt1>
      <a:dk2>
        <a:srgbClr val="186AA2"/>
      </a:dk2>
      <a:lt2>
        <a:srgbClr val="FDEAF2"/>
      </a:lt2>
      <a:accent1>
        <a:srgbClr val="EE5893"/>
      </a:accent1>
      <a:accent2>
        <a:srgbClr val="186AA2"/>
      </a:accent2>
      <a:accent3>
        <a:srgbClr val="823A60"/>
      </a:accent3>
      <a:accent4>
        <a:srgbClr val="C9DCEA"/>
      </a:accent4>
      <a:accent5>
        <a:srgbClr val="E063A5"/>
      </a:accent5>
      <a:accent6>
        <a:srgbClr val="3F3F3F"/>
      </a:accent6>
      <a:hlink>
        <a:srgbClr val="186AA2"/>
      </a:hlink>
      <a:folHlink>
        <a:srgbClr val="823A60"/>
      </a:folHlink>
    </a:clrScheme>
    <a:fontScheme name="Pink Box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핑크박스 프로젝트</dc:title>
  <dc:subject>PptxGenJS Presentation</dc:subject>
  <dc:creator>PptxGenJS</dc:creator>
  <cp:lastModifiedBy>PptxGenJS</cp:lastModifiedBy>
  <cp:revision>1</cp:revision>
  <dcterms:created xsi:type="dcterms:W3CDTF">2026-10-18T07:45:58Z</dcterms:created>
  <dcterms:modified xsi:type="dcterms:W3CDTF">2026-10-18T07:45:58Z</dcterms:modified>
</cp:coreProperties>
</file>